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7"/>
  </p:notesMasterIdLst>
  <p:sldIdLst>
    <p:sldId id="257" r:id="rId3"/>
    <p:sldId id="258" r:id="rId4"/>
    <p:sldId id="259" r:id="rId5"/>
    <p:sldId id="260" r:id="rId6"/>
    <p:sldId id="261" r:id="rId7"/>
    <p:sldId id="302" r:id="rId8"/>
    <p:sldId id="299" r:id="rId9"/>
    <p:sldId id="298" r:id="rId10"/>
    <p:sldId id="300" r:id="rId11"/>
    <p:sldId id="301" r:id="rId12"/>
    <p:sldId id="262" r:id="rId13"/>
    <p:sldId id="263" r:id="rId14"/>
    <p:sldId id="264" r:id="rId15"/>
    <p:sldId id="265" r:id="rId16"/>
    <p:sldId id="266" r:id="rId17"/>
    <p:sldId id="267" r:id="rId18"/>
    <p:sldId id="268" r:id="rId19"/>
    <p:sldId id="269" r:id="rId20"/>
    <p:sldId id="270" r:id="rId21"/>
    <p:sldId id="271" r:id="rId22"/>
    <p:sldId id="273" r:id="rId23"/>
    <p:sldId id="274" r:id="rId24"/>
    <p:sldId id="275" r:id="rId25"/>
    <p:sldId id="276" r:id="rId26"/>
    <p:sldId id="277" r:id="rId27"/>
    <p:sldId id="283" r:id="rId28"/>
    <p:sldId id="284" r:id="rId29"/>
    <p:sldId id="292" r:id="rId30"/>
    <p:sldId id="293" r:id="rId31"/>
    <p:sldId id="294" r:id="rId32"/>
    <p:sldId id="285" r:id="rId33"/>
    <p:sldId id="286" r:id="rId34"/>
    <p:sldId id="289" r:id="rId35"/>
    <p:sldId id="288" r:id="rId36"/>
    <p:sldId id="287" r:id="rId37"/>
    <p:sldId id="304" r:id="rId38"/>
    <p:sldId id="303" r:id="rId39"/>
    <p:sldId id="305" r:id="rId40"/>
    <p:sldId id="306" r:id="rId41"/>
    <p:sldId id="310" r:id="rId42"/>
    <p:sldId id="309" r:id="rId43"/>
    <p:sldId id="308" r:id="rId44"/>
    <p:sldId id="311" r:id="rId45"/>
    <p:sldId id="307" r:id="rId46"/>
    <p:sldId id="278" r:id="rId48"/>
    <p:sldId id="279" r:id="rId49"/>
    <p:sldId id="280" r:id="rId50"/>
    <p:sldId id="281" r:id="rId51"/>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7A77"/>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7A77"/>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7A77"/>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7A77"/>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7A77"/>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7A77"/>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7A77"/>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7A77"/>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7A77"/>
        </a:solidFill>
        <a:effectLst/>
        <a:uFillTx/>
        <a:latin typeface="+mn-lt"/>
        <a:ea typeface="+mn-ea"/>
        <a:cs typeface="+mn-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anjx" initials="f"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3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5" Type="http://schemas.openxmlformats.org/officeDocument/2006/relationships/commentAuthors" Target="commentAuthors.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notesMaster" Target="notesMasters/notesMaster1.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Shape 28"/>
          <p:cNvSpPr>
            <a:spLocks noGrp="1" noRot="1" noChangeAspect="1"/>
          </p:cNvSpPr>
          <p:nvPr>
            <p:ph type="sldImg"/>
          </p:nvPr>
        </p:nvSpPr>
        <p:spPr>
          <a:xfrm>
            <a:off x="1143000" y="685800"/>
            <a:ext cx="4572000" cy="3429000"/>
          </a:xfrm>
          <a:prstGeom prst="rect">
            <a:avLst/>
          </a:prstGeom>
        </p:spPr>
        <p:txBody>
          <a:bodyPr/>
          <a:lstStyle/>
          <a:p/>
        </p:txBody>
      </p:sp>
      <p:sp>
        <p:nvSpPr>
          <p:cNvPr id="29" name="Shape 29"/>
          <p:cNvSpPr>
            <a:spLocks noGrp="1"/>
          </p:cNvSpPr>
          <p:nvPr>
            <p:ph type="body" sz="quarter" idx="1"/>
          </p:nvPr>
        </p:nvSpPr>
        <p:spPr>
          <a:xfrm>
            <a:off x="914400" y="4343400"/>
            <a:ext cx="5029200" cy="41148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latinLnBrk="0">
      <a:defRPr>
        <a:latin typeface="+mj-lt"/>
        <a:ea typeface="+mj-ea"/>
        <a:cs typeface="+mj-cs"/>
        <a:sym typeface="Helvetica Neue" panose="02000503000000020004"/>
      </a:defRPr>
    </a:lvl1pPr>
    <a:lvl2pPr indent="228600" latinLnBrk="0">
      <a:defRPr>
        <a:latin typeface="+mj-lt"/>
        <a:ea typeface="+mj-ea"/>
        <a:cs typeface="+mj-cs"/>
        <a:sym typeface="Helvetica Neue" panose="02000503000000020004"/>
      </a:defRPr>
    </a:lvl2pPr>
    <a:lvl3pPr indent="457200" latinLnBrk="0">
      <a:defRPr>
        <a:latin typeface="+mj-lt"/>
        <a:ea typeface="+mj-ea"/>
        <a:cs typeface="+mj-cs"/>
        <a:sym typeface="Helvetica Neue" panose="02000503000000020004"/>
      </a:defRPr>
    </a:lvl3pPr>
    <a:lvl4pPr indent="685800" latinLnBrk="0">
      <a:defRPr>
        <a:latin typeface="+mj-lt"/>
        <a:ea typeface="+mj-ea"/>
        <a:cs typeface="+mj-cs"/>
        <a:sym typeface="Helvetica Neue" panose="02000503000000020004"/>
      </a:defRPr>
    </a:lvl4pPr>
    <a:lvl5pPr indent="914400" latinLnBrk="0">
      <a:defRPr>
        <a:latin typeface="+mj-lt"/>
        <a:ea typeface="+mj-ea"/>
        <a:cs typeface="+mj-cs"/>
        <a:sym typeface="Helvetica Neue" panose="02000503000000020004"/>
      </a:defRPr>
    </a:lvl5pPr>
    <a:lvl6pPr indent="1143000" latinLnBrk="0">
      <a:defRPr>
        <a:latin typeface="+mj-lt"/>
        <a:ea typeface="+mj-ea"/>
        <a:cs typeface="+mj-cs"/>
        <a:sym typeface="Helvetica Neue" panose="02000503000000020004"/>
      </a:defRPr>
    </a:lvl6pPr>
    <a:lvl7pPr indent="1371600" latinLnBrk="0">
      <a:defRPr>
        <a:latin typeface="+mj-lt"/>
        <a:ea typeface="+mj-ea"/>
        <a:cs typeface="+mj-cs"/>
        <a:sym typeface="Helvetica Neue" panose="02000503000000020004"/>
      </a:defRPr>
    </a:lvl7pPr>
    <a:lvl8pPr indent="1600200" latinLnBrk="0">
      <a:defRPr>
        <a:latin typeface="+mj-lt"/>
        <a:ea typeface="+mj-ea"/>
        <a:cs typeface="+mj-cs"/>
        <a:sym typeface="Helvetica Neue" panose="02000503000000020004"/>
      </a:defRPr>
    </a:lvl8pPr>
    <a:lvl9pPr indent="1828800" latinLnBrk="0">
      <a:defRPr>
        <a:latin typeface="+mj-lt"/>
        <a:ea typeface="+mj-ea"/>
        <a:cs typeface="+mj-cs"/>
        <a:sym typeface="Helvetica Neue" panose="020005030000000200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Defaul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1" name="Shape 11"/>
          <p:cNvSpPr>
            <a:spLocks noGrp="1"/>
          </p:cNvSpPr>
          <p:nvPr>
            <p:ph type="title" hasCustomPrompt="1"/>
          </p:nvPr>
        </p:nvSpPr>
        <p:spPr>
          <a:xfrm>
            <a:off x="685800" y="2286000"/>
            <a:ext cx="7772400" cy="1143000"/>
          </a:xfrm>
          <a:prstGeom prst="rect">
            <a:avLst/>
          </a:prstGeom>
        </p:spPr>
        <p:txBody>
          <a:bodyPr/>
          <a:lstStyle/>
          <a:p>
            <a:r>
              <a:t>标题文本</a:t>
            </a:r>
          </a:p>
        </p:txBody>
      </p:sp>
      <p:sp>
        <p:nvSpPr>
          <p:cNvPr id="12" name="Shape 12"/>
          <p:cNvSpPr>
            <a:spLocks noGrp="1"/>
          </p:cNvSpPr>
          <p:nvPr>
            <p:ph type="body" sz="quarter" idx="1" hasCustomPrompt="1"/>
          </p:nvPr>
        </p:nvSpPr>
        <p:spPr>
          <a:xfrm>
            <a:off x="1371600" y="3886200"/>
            <a:ext cx="6400800" cy="1752600"/>
          </a:xfrm>
          <a:prstGeom prst="rect">
            <a:avLst/>
          </a:prstGeom>
        </p:spPr>
        <p:txBody>
          <a:bodyPr/>
          <a:lstStyle>
            <a:lvl1pPr marL="0" indent="0" algn="ctr">
              <a:buClrTx/>
              <a:buSzTx/>
              <a:buFontTx/>
              <a:buNone/>
            </a:lvl1pPr>
            <a:lvl2pPr marL="0" indent="0" algn="ctr">
              <a:buClrTx/>
              <a:buSzTx/>
              <a:buFontTx/>
              <a:buNone/>
            </a:lvl2pPr>
            <a:lvl3pPr marL="0" indent="0" algn="ctr">
              <a:buClrTx/>
              <a:buSzTx/>
              <a:buFontTx/>
              <a:buNone/>
            </a:lvl3pPr>
            <a:lvl4pPr marL="0" indent="0" algn="ctr">
              <a:buClrTx/>
              <a:buSzTx/>
              <a:buFontTx/>
              <a:buNone/>
            </a:lvl4pPr>
            <a:lvl5pPr marL="0" indent="0" algn="ctr">
              <a:buClrTx/>
              <a:buSzTx/>
              <a:buFontTx/>
              <a:buNone/>
            </a:lvl5pPr>
          </a:lstStyle>
          <a:p>
            <a:r>
              <a:t>正文级别 1</a:t>
            </a:r>
          </a:p>
          <a:p>
            <a:pPr lvl="1"/>
            <a:r>
              <a:t>正文级别 2</a:t>
            </a:r>
          </a:p>
          <a:p>
            <a:pPr lvl="2"/>
            <a:r>
              <a:t>正文级别 3</a:t>
            </a:r>
          </a:p>
          <a:p>
            <a:pPr lvl="3"/>
            <a:r>
              <a:t>正文级别 4</a:t>
            </a:r>
          </a:p>
          <a:p>
            <a:pPr lvl="4"/>
            <a:r>
              <a:t>正文级别 5</a:t>
            </a:r>
          </a:p>
        </p:txBody>
      </p:sp>
      <p:sp>
        <p:nvSpPr>
          <p:cNvPr id="13" name="Shape 13"/>
          <p:cNvSpPr>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20" name="Shape 20"/>
          <p:cNvSpPr>
            <a:spLocks noGrp="1"/>
          </p:cNvSpPr>
          <p:nvPr>
            <p:ph type="title" hasCustomPrompt="1"/>
          </p:nvPr>
        </p:nvSpPr>
        <p:spPr>
          <a:prstGeom prst="rect">
            <a:avLst/>
          </a:prstGeom>
        </p:spPr>
        <p:txBody>
          <a:bodyPr/>
          <a:lstStyle/>
          <a:p>
            <a:r>
              <a:t>标题文本</a:t>
            </a:r>
          </a:p>
        </p:txBody>
      </p:sp>
      <p:sp>
        <p:nvSpPr>
          <p:cNvPr id="21" name="Shape 21"/>
          <p:cNvSpPr>
            <a:spLocks noGrp="1"/>
          </p:cNvSpPr>
          <p:nvPr>
            <p:ph type="body" idx="1" hasCustomPrompt="1"/>
          </p:nvPr>
        </p:nvSpPr>
        <p:spPr>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22" name="Shape 22"/>
          <p:cNvSpPr>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301625" y="609600"/>
            <a:ext cx="8540750" cy="1143000"/>
          </a:xfrm>
          <a:prstGeom prst="rect">
            <a:avLst/>
          </a:prstGeom>
          <a:ln w="12700">
            <a:miter lim="400000"/>
          </a:ln>
        </p:spPr>
        <p:txBody>
          <a:bodyPr lIns="45718" tIns="45718" rIns="45718" bIns="45718" anchor="ctr">
            <a:normAutofit/>
          </a:bodyPr>
          <a:lstStyle/>
          <a:p>
            <a:r>
              <a:t>标题文本</a:t>
            </a:r>
          </a:p>
        </p:txBody>
      </p:sp>
      <p:sp>
        <p:nvSpPr>
          <p:cNvPr id="3" name="Shape 3"/>
          <p:cNvSpPr>
            <a:spLocks noGrp="1"/>
          </p:cNvSpPr>
          <p:nvPr>
            <p:ph type="body" idx="1"/>
          </p:nvPr>
        </p:nvSpPr>
        <p:spPr>
          <a:xfrm>
            <a:off x="301625" y="1905000"/>
            <a:ext cx="8540750" cy="4194175"/>
          </a:xfrm>
          <a:prstGeom prst="rect">
            <a:avLst/>
          </a:prstGeom>
          <a:ln w="12700">
            <a:miter lim="400000"/>
          </a:ln>
        </p:spPr>
        <p:txBody>
          <a:bodyPr lIns="45718" tIns="45718" rIns="45718" bIns="45718">
            <a:normAutofit/>
          </a:bodyPr>
          <a:lstStyle/>
          <a:p>
            <a:r>
              <a:t>正文级别 1</a:t>
            </a:r>
          </a:p>
          <a:p>
            <a:pPr lvl="1"/>
            <a:r>
              <a:t>正文级别 2</a:t>
            </a:r>
          </a:p>
          <a:p>
            <a:pPr lvl="2"/>
            <a:r>
              <a:t>正文级别 3</a:t>
            </a:r>
          </a:p>
          <a:p>
            <a:pPr lvl="3"/>
            <a:r>
              <a:t>正文级别 4</a:t>
            </a:r>
          </a:p>
          <a:p>
            <a:pPr lvl="4"/>
            <a:r>
              <a:t>正文级别 5</a:t>
            </a:r>
          </a:p>
        </p:txBody>
      </p:sp>
      <p:sp>
        <p:nvSpPr>
          <p:cNvPr id="4" name="Shape 4"/>
          <p:cNvSpPr>
            <a:spLocks noGrp="1"/>
          </p:cNvSpPr>
          <p:nvPr>
            <p:ph type="sldNum" sz="quarter" idx="2"/>
          </p:nvPr>
        </p:nvSpPr>
        <p:spPr>
          <a:xfrm>
            <a:off x="8540470" y="6245225"/>
            <a:ext cx="301907" cy="288822"/>
          </a:xfrm>
          <a:prstGeom prst="rect">
            <a:avLst/>
          </a:prstGeom>
          <a:ln w="12700">
            <a:miter lim="400000"/>
          </a:ln>
        </p:spPr>
        <p:txBody>
          <a:bodyPr wrap="none" lIns="45718" tIns="45718" rIns="45718" bIns="45718">
            <a:spAutoFit/>
          </a:bodyPr>
          <a:lstStyle>
            <a:lvl1pPr algn="r">
              <a:defRPr sz="1400">
                <a:latin typeface="Arial" panose="020B0704020202020204"/>
                <a:ea typeface="Arial" panose="020B0704020202020204"/>
                <a:cs typeface="Arial" panose="020B0704020202020204"/>
                <a:sym typeface="Arial" panose="020B0704020202020204"/>
              </a:defRPr>
            </a:lvl1pPr>
          </a:lstStyle>
          <a:p>
            <a:fld id="{86CB4B4D-7CA3-9044-876B-883B54F8677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marL="0" marR="0" indent="0" algn="ctr" defTabSz="914400" rtl="0" latinLnBrk="0">
        <a:lnSpc>
          <a:spcPct val="100000"/>
        </a:lnSpc>
        <a:spcBef>
          <a:spcPts val="0"/>
        </a:spcBef>
        <a:spcAft>
          <a:spcPts val="0"/>
        </a:spcAft>
        <a:buClrTx/>
        <a:buSzTx/>
        <a:buFontTx/>
        <a:buNone/>
        <a:defRPr sz="4400" b="0" i="0" u="none" strike="noStrike" cap="none" spc="0" baseline="0">
          <a:ln>
            <a:noFill/>
          </a:ln>
          <a:solidFill>
            <a:srgbClr val="003399"/>
          </a:solidFill>
          <a:uFillTx/>
          <a:latin typeface="Arial" panose="020B0704020202020204"/>
          <a:ea typeface="Arial" panose="020B0704020202020204"/>
          <a:cs typeface="Arial" panose="020B0704020202020204"/>
          <a:sym typeface="Arial" panose="020B0704020202020204"/>
        </a:defRPr>
      </a:lvl1pPr>
      <a:lvl2pPr marL="0" marR="0" indent="0" algn="ctr" defTabSz="914400" rtl="0" latinLnBrk="0">
        <a:lnSpc>
          <a:spcPct val="100000"/>
        </a:lnSpc>
        <a:spcBef>
          <a:spcPts val="0"/>
        </a:spcBef>
        <a:spcAft>
          <a:spcPts val="0"/>
        </a:spcAft>
        <a:buClrTx/>
        <a:buSzTx/>
        <a:buFontTx/>
        <a:buNone/>
        <a:defRPr sz="4400" b="0" i="0" u="none" strike="noStrike" cap="none" spc="0" baseline="0">
          <a:ln>
            <a:noFill/>
          </a:ln>
          <a:solidFill>
            <a:srgbClr val="003399"/>
          </a:solidFill>
          <a:uFillTx/>
          <a:latin typeface="Arial" panose="020B0704020202020204"/>
          <a:ea typeface="Arial" panose="020B0704020202020204"/>
          <a:cs typeface="Arial" panose="020B0704020202020204"/>
          <a:sym typeface="Arial" panose="020B0704020202020204"/>
        </a:defRPr>
      </a:lvl2pPr>
      <a:lvl3pPr marL="0" marR="0" indent="0" algn="ctr" defTabSz="914400" rtl="0" latinLnBrk="0">
        <a:lnSpc>
          <a:spcPct val="100000"/>
        </a:lnSpc>
        <a:spcBef>
          <a:spcPts val="0"/>
        </a:spcBef>
        <a:spcAft>
          <a:spcPts val="0"/>
        </a:spcAft>
        <a:buClrTx/>
        <a:buSzTx/>
        <a:buFontTx/>
        <a:buNone/>
        <a:defRPr sz="4400" b="0" i="0" u="none" strike="noStrike" cap="none" spc="0" baseline="0">
          <a:ln>
            <a:noFill/>
          </a:ln>
          <a:solidFill>
            <a:srgbClr val="003399"/>
          </a:solidFill>
          <a:uFillTx/>
          <a:latin typeface="Arial" panose="020B0704020202020204"/>
          <a:ea typeface="Arial" panose="020B0704020202020204"/>
          <a:cs typeface="Arial" panose="020B0704020202020204"/>
          <a:sym typeface="Arial" panose="020B0704020202020204"/>
        </a:defRPr>
      </a:lvl3pPr>
      <a:lvl4pPr marL="0" marR="0" indent="0" algn="ctr" defTabSz="914400" rtl="0" latinLnBrk="0">
        <a:lnSpc>
          <a:spcPct val="100000"/>
        </a:lnSpc>
        <a:spcBef>
          <a:spcPts val="0"/>
        </a:spcBef>
        <a:spcAft>
          <a:spcPts val="0"/>
        </a:spcAft>
        <a:buClrTx/>
        <a:buSzTx/>
        <a:buFontTx/>
        <a:buNone/>
        <a:defRPr sz="4400" b="0" i="0" u="none" strike="noStrike" cap="none" spc="0" baseline="0">
          <a:ln>
            <a:noFill/>
          </a:ln>
          <a:solidFill>
            <a:srgbClr val="003399"/>
          </a:solidFill>
          <a:uFillTx/>
          <a:latin typeface="Arial" panose="020B0704020202020204"/>
          <a:ea typeface="Arial" panose="020B0704020202020204"/>
          <a:cs typeface="Arial" panose="020B0704020202020204"/>
          <a:sym typeface="Arial" panose="020B0704020202020204"/>
        </a:defRPr>
      </a:lvl4pPr>
      <a:lvl5pPr marL="0" marR="0" indent="0" algn="ctr" defTabSz="914400" rtl="0" latinLnBrk="0">
        <a:lnSpc>
          <a:spcPct val="100000"/>
        </a:lnSpc>
        <a:spcBef>
          <a:spcPts val="0"/>
        </a:spcBef>
        <a:spcAft>
          <a:spcPts val="0"/>
        </a:spcAft>
        <a:buClrTx/>
        <a:buSzTx/>
        <a:buFontTx/>
        <a:buNone/>
        <a:defRPr sz="4400" b="0" i="0" u="none" strike="noStrike" cap="none" spc="0" baseline="0">
          <a:ln>
            <a:noFill/>
          </a:ln>
          <a:solidFill>
            <a:srgbClr val="003399"/>
          </a:solidFill>
          <a:uFillTx/>
          <a:latin typeface="Arial" panose="020B0704020202020204"/>
          <a:ea typeface="Arial" panose="020B0704020202020204"/>
          <a:cs typeface="Arial" panose="020B0704020202020204"/>
          <a:sym typeface="Arial" panose="020B0704020202020204"/>
        </a:defRPr>
      </a:lvl5pPr>
      <a:lvl6pPr marL="0" marR="0" indent="0" algn="ctr" defTabSz="914400" rtl="0" latinLnBrk="0">
        <a:lnSpc>
          <a:spcPct val="100000"/>
        </a:lnSpc>
        <a:spcBef>
          <a:spcPts val="0"/>
        </a:spcBef>
        <a:spcAft>
          <a:spcPts val="0"/>
        </a:spcAft>
        <a:buClrTx/>
        <a:buSzTx/>
        <a:buFontTx/>
        <a:buNone/>
        <a:defRPr sz="4400" b="0" i="0" u="none" strike="noStrike" cap="none" spc="0" baseline="0">
          <a:ln>
            <a:noFill/>
          </a:ln>
          <a:solidFill>
            <a:srgbClr val="003399"/>
          </a:solidFill>
          <a:uFillTx/>
          <a:latin typeface="Arial" panose="020B0704020202020204"/>
          <a:ea typeface="Arial" panose="020B0704020202020204"/>
          <a:cs typeface="Arial" panose="020B0704020202020204"/>
          <a:sym typeface="Arial" panose="020B0704020202020204"/>
        </a:defRPr>
      </a:lvl6pPr>
      <a:lvl7pPr marL="0" marR="0" indent="0" algn="ctr" defTabSz="914400" rtl="0" latinLnBrk="0">
        <a:lnSpc>
          <a:spcPct val="100000"/>
        </a:lnSpc>
        <a:spcBef>
          <a:spcPts val="0"/>
        </a:spcBef>
        <a:spcAft>
          <a:spcPts val="0"/>
        </a:spcAft>
        <a:buClrTx/>
        <a:buSzTx/>
        <a:buFontTx/>
        <a:buNone/>
        <a:defRPr sz="4400" b="0" i="0" u="none" strike="noStrike" cap="none" spc="0" baseline="0">
          <a:ln>
            <a:noFill/>
          </a:ln>
          <a:solidFill>
            <a:srgbClr val="003399"/>
          </a:solidFill>
          <a:uFillTx/>
          <a:latin typeface="Arial" panose="020B0704020202020204"/>
          <a:ea typeface="Arial" panose="020B0704020202020204"/>
          <a:cs typeface="Arial" panose="020B0704020202020204"/>
          <a:sym typeface="Arial" panose="020B0704020202020204"/>
        </a:defRPr>
      </a:lvl7pPr>
      <a:lvl8pPr marL="0" marR="0" indent="0" algn="ctr" defTabSz="914400" rtl="0" latinLnBrk="0">
        <a:lnSpc>
          <a:spcPct val="100000"/>
        </a:lnSpc>
        <a:spcBef>
          <a:spcPts val="0"/>
        </a:spcBef>
        <a:spcAft>
          <a:spcPts val="0"/>
        </a:spcAft>
        <a:buClrTx/>
        <a:buSzTx/>
        <a:buFontTx/>
        <a:buNone/>
        <a:defRPr sz="4400" b="0" i="0" u="none" strike="noStrike" cap="none" spc="0" baseline="0">
          <a:ln>
            <a:noFill/>
          </a:ln>
          <a:solidFill>
            <a:srgbClr val="003399"/>
          </a:solidFill>
          <a:uFillTx/>
          <a:latin typeface="Arial" panose="020B0704020202020204"/>
          <a:ea typeface="Arial" panose="020B0704020202020204"/>
          <a:cs typeface="Arial" panose="020B0704020202020204"/>
          <a:sym typeface="Arial" panose="020B0704020202020204"/>
        </a:defRPr>
      </a:lvl8pPr>
      <a:lvl9pPr marL="0" marR="0" indent="0" algn="ctr" defTabSz="914400" rtl="0" latinLnBrk="0">
        <a:lnSpc>
          <a:spcPct val="100000"/>
        </a:lnSpc>
        <a:spcBef>
          <a:spcPts val="0"/>
        </a:spcBef>
        <a:spcAft>
          <a:spcPts val="0"/>
        </a:spcAft>
        <a:buClrTx/>
        <a:buSzTx/>
        <a:buFontTx/>
        <a:buNone/>
        <a:defRPr sz="4400" b="0" i="0" u="none" strike="noStrike" cap="none" spc="0" baseline="0">
          <a:ln>
            <a:noFill/>
          </a:ln>
          <a:solidFill>
            <a:srgbClr val="003399"/>
          </a:solidFill>
          <a:uFillTx/>
          <a:latin typeface="Arial" panose="020B0704020202020204"/>
          <a:ea typeface="Arial" panose="020B0704020202020204"/>
          <a:cs typeface="Arial" panose="020B0704020202020204"/>
          <a:sym typeface="Arial" panose="020B0704020202020204"/>
        </a:defRPr>
      </a:lvl9pPr>
    </p:titleStyle>
    <p:bodyStyle>
      <a:lvl1pPr marL="342900" marR="0" indent="-342900" algn="l" defTabSz="914400" rtl="0" latinLnBrk="0">
        <a:lnSpc>
          <a:spcPct val="100000"/>
        </a:lnSpc>
        <a:spcBef>
          <a:spcPts val="700"/>
        </a:spcBef>
        <a:spcAft>
          <a:spcPts val="0"/>
        </a:spcAft>
        <a:buClr>
          <a:srgbClr val="DC5900"/>
        </a:buClr>
        <a:buSzPct val="75000"/>
        <a:buFont typeface="Wingdings" panose="05000000000000000000"/>
        <a:buChar char="❖"/>
        <a:defRPr sz="3200" b="0" i="0" u="none" strike="noStrike" cap="none" spc="0" baseline="0">
          <a:ln>
            <a:noFill/>
          </a:ln>
          <a:solidFill>
            <a:srgbClr val="007A77"/>
          </a:solidFill>
          <a:uFillTx/>
          <a:latin typeface="Arial" panose="020B0704020202020204"/>
          <a:ea typeface="Arial" panose="020B0704020202020204"/>
          <a:cs typeface="Arial" panose="020B0704020202020204"/>
          <a:sym typeface="Arial" panose="020B0704020202020204"/>
        </a:defRPr>
      </a:lvl1pPr>
      <a:lvl2pPr marL="783590" marR="0" indent="-326390" algn="l" defTabSz="914400" rtl="0" latinLnBrk="0">
        <a:lnSpc>
          <a:spcPct val="100000"/>
        </a:lnSpc>
        <a:spcBef>
          <a:spcPts val="700"/>
        </a:spcBef>
        <a:spcAft>
          <a:spcPts val="0"/>
        </a:spcAft>
        <a:buClr>
          <a:srgbClr val="DC5900"/>
        </a:buClr>
        <a:buSzPct val="85000"/>
        <a:buFont typeface="Wingdings" panose="05000000000000000000"/>
        <a:buChar char=""/>
        <a:defRPr sz="3200" b="0" i="0" u="none" strike="noStrike" cap="none" spc="0" baseline="0">
          <a:ln>
            <a:noFill/>
          </a:ln>
          <a:solidFill>
            <a:srgbClr val="007A77"/>
          </a:solidFill>
          <a:uFillTx/>
          <a:latin typeface="Arial" panose="020B0704020202020204"/>
          <a:ea typeface="Arial" panose="020B0704020202020204"/>
          <a:cs typeface="Arial" panose="020B0704020202020204"/>
          <a:sym typeface="Arial" panose="020B0704020202020204"/>
        </a:defRPr>
      </a:lvl2pPr>
      <a:lvl3pPr marL="1219200" marR="0" indent="-304800" algn="l" defTabSz="914400" rtl="0" latinLnBrk="0">
        <a:lnSpc>
          <a:spcPct val="100000"/>
        </a:lnSpc>
        <a:spcBef>
          <a:spcPts val="700"/>
        </a:spcBef>
        <a:spcAft>
          <a:spcPts val="0"/>
        </a:spcAft>
        <a:buClr>
          <a:srgbClr val="DC5900"/>
        </a:buClr>
        <a:buSzPct val="85000"/>
        <a:buFont typeface="Wingdings" panose="05000000000000000000"/>
        <a:buChar char="❖"/>
        <a:defRPr sz="3200" b="0" i="0" u="none" strike="noStrike" cap="none" spc="0" baseline="0">
          <a:ln>
            <a:noFill/>
          </a:ln>
          <a:solidFill>
            <a:srgbClr val="007A77"/>
          </a:solidFill>
          <a:uFillTx/>
          <a:latin typeface="Arial" panose="020B0704020202020204"/>
          <a:ea typeface="Arial" panose="020B0704020202020204"/>
          <a:cs typeface="Arial" panose="020B0704020202020204"/>
          <a:sym typeface="Arial" panose="020B0704020202020204"/>
        </a:defRPr>
      </a:lvl3pPr>
      <a:lvl4pPr marL="1737360" marR="0" indent="-365760" algn="l" defTabSz="914400" rtl="0" latinLnBrk="0">
        <a:lnSpc>
          <a:spcPct val="100000"/>
        </a:lnSpc>
        <a:spcBef>
          <a:spcPts val="700"/>
        </a:spcBef>
        <a:spcAft>
          <a:spcPts val="0"/>
        </a:spcAft>
        <a:buClr>
          <a:srgbClr val="DC5900"/>
        </a:buClr>
        <a:buSzPct val="90000"/>
        <a:buFont typeface="Wingdings" panose="05000000000000000000"/>
        <a:buChar char=""/>
        <a:defRPr sz="3200" b="0" i="0" u="none" strike="noStrike" cap="none" spc="0" baseline="0">
          <a:ln>
            <a:noFill/>
          </a:ln>
          <a:solidFill>
            <a:srgbClr val="007A77"/>
          </a:solidFill>
          <a:uFillTx/>
          <a:latin typeface="Arial" panose="020B0704020202020204"/>
          <a:ea typeface="Arial" panose="020B0704020202020204"/>
          <a:cs typeface="Arial" panose="020B0704020202020204"/>
          <a:sym typeface="Arial" panose="020B0704020202020204"/>
        </a:defRPr>
      </a:lvl4pPr>
      <a:lvl5pPr marL="2235200" marR="0" indent="-406400" algn="l" defTabSz="914400" rtl="0" latinLnBrk="0">
        <a:lnSpc>
          <a:spcPct val="100000"/>
        </a:lnSpc>
        <a:spcBef>
          <a:spcPts val="700"/>
        </a:spcBef>
        <a:spcAft>
          <a:spcPts val="0"/>
        </a:spcAft>
        <a:buClr>
          <a:srgbClr val="DC5900"/>
        </a:buClr>
        <a:buSzPct val="85000"/>
        <a:buFont typeface="Wingdings" panose="05000000000000000000"/>
        <a:buChar char="❖"/>
        <a:defRPr sz="3200" b="0" i="0" u="none" strike="noStrike" cap="none" spc="0" baseline="0">
          <a:ln>
            <a:noFill/>
          </a:ln>
          <a:solidFill>
            <a:srgbClr val="007A77"/>
          </a:solidFill>
          <a:uFillTx/>
          <a:latin typeface="Arial" panose="020B0704020202020204"/>
          <a:ea typeface="Arial" panose="020B0704020202020204"/>
          <a:cs typeface="Arial" panose="020B0704020202020204"/>
          <a:sym typeface="Arial" panose="020B0704020202020204"/>
        </a:defRPr>
      </a:lvl5pPr>
      <a:lvl6pPr marL="2692400" marR="0" indent="-406400" algn="l" defTabSz="914400" rtl="0" latinLnBrk="0">
        <a:lnSpc>
          <a:spcPct val="100000"/>
        </a:lnSpc>
        <a:spcBef>
          <a:spcPts val="700"/>
        </a:spcBef>
        <a:spcAft>
          <a:spcPts val="0"/>
        </a:spcAft>
        <a:buClr>
          <a:srgbClr val="DC5900"/>
        </a:buClr>
        <a:buSzPct val="85000"/>
        <a:buFont typeface="Wingdings" panose="05000000000000000000"/>
        <a:buChar char="•"/>
        <a:defRPr sz="3200" b="0" i="0" u="none" strike="noStrike" cap="none" spc="0" baseline="0">
          <a:ln>
            <a:noFill/>
          </a:ln>
          <a:solidFill>
            <a:srgbClr val="007A77"/>
          </a:solidFill>
          <a:uFillTx/>
          <a:latin typeface="Arial" panose="020B0704020202020204"/>
          <a:ea typeface="Arial" panose="020B0704020202020204"/>
          <a:cs typeface="Arial" panose="020B0704020202020204"/>
          <a:sym typeface="Arial" panose="020B0704020202020204"/>
        </a:defRPr>
      </a:lvl6pPr>
      <a:lvl7pPr marL="3149600" marR="0" indent="-406400" algn="l" defTabSz="914400" rtl="0" latinLnBrk="0">
        <a:lnSpc>
          <a:spcPct val="100000"/>
        </a:lnSpc>
        <a:spcBef>
          <a:spcPts val="700"/>
        </a:spcBef>
        <a:spcAft>
          <a:spcPts val="0"/>
        </a:spcAft>
        <a:buClr>
          <a:srgbClr val="DC5900"/>
        </a:buClr>
        <a:buSzPct val="85000"/>
        <a:buFont typeface="Wingdings" panose="05000000000000000000"/>
        <a:buChar char="•"/>
        <a:defRPr sz="3200" b="0" i="0" u="none" strike="noStrike" cap="none" spc="0" baseline="0">
          <a:ln>
            <a:noFill/>
          </a:ln>
          <a:solidFill>
            <a:srgbClr val="007A77"/>
          </a:solidFill>
          <a:uFillTx/>
          <a:latin typeface="Arial" panose="020B0704020202020204"/>
          <a:ea typeface="Arial" panose="020B0704020202020204"/>
          <a:cs typeface="Arial" panose="020B0704020202020204"/>
          <a:sym typeface="Arial" panose="020B0704020202020204"/>
        </a:defRPr>
      </a:lvl7pPr>
      <a:lvl8pPr marL="3606800" marR="0" indent="-406400" algn="l" defTabSz="914400" rtl="0" latinLnBrk="0">
        <a:lnSpc>
          <a:spcPct val="100000"/>
        </a:lnSpc>
        <a:spcBef>
          <a:spcPts val="700"/>
        </a:spcBef>
        <a:spcAft>
          <a:spcPts val="0"/>
        </a:spcAft>
        <a:buClr>
          <a:srgbClr val="DC5900"/>
        </a:buClr>
        <a:buSzPct val="85000"/>
        <a:buFont typeface="Wingdings" panose="05000000000000000000"/>
        <a:buChar char="•"/>
        <a:defRPr sz="3200" b="0" i="0" u="none" strike="noStrike" cap="none" spc="0" baseline="0">
          <a:ln>
            <a:noFill/>
          </a:ln>
          <a:solidFill>
            <a:srgbClr val="007A77"/>
          </a:solidFill>
          <a:uFillTx/>
          <a:latin typeface="Arial" panose="020B0704020202020204"/>
          <a:ea typeface="Arial" panose="020B0704020202020204"/>
          <a:cs typeface="Arial" panose="020B0704020202020204"/>
          <a:sym typeface="Arial" panose="020B0704020202020204"/>
        </a:defRPr>
      </a:lvl8pPr>
      <a:lvl9pPr marL="4064000" marR="0" indent="-406400" algn="l" defTabSz="914400" rtl="0" latinLnBrk="0">
        <a:lnSpc>
          <a:spcPct val="100000"/>
        </a:lnSpc>
        <a:spcBef>
          <a:spcPts val="700"/>
        </a:spcBef>
        <a:spcAft>
          <a:spcPts val="0"/>
        </a:spcAft>
        <a:buClr>
          <a:srgbClr val="DC5900"/>
        </a:buClr>
        <a:buSzPct val="85000"/>
        <a:buFont typeface="Wingdings" panose="05000000000000000000"/>
        <a:buChar char="•"/>
        <a:defRPr sz="3200" b="0" i="0" u="none" strike="noStrike" cap="none" spc="0" baseline="0">
          <a:ln>
            <a:noFill/>
          </a:ln>
          <a:solidFill>
            <a:srgbClr val="007A77"/>
          </a:solidFill>
          <a:uFillTx/>
          <a:latin typeface="Arial" panose="020B0704020202020204"/>
          <a:ea typeface="Arial" panose="020B0704020202020204"/>
          <a:cs typeface="Arial" panose="020B0704020202020204"/>
          <a:sym typeface="Arial" panose="020B0704020202020204"/>
        </a:defRPr>
      </a:lvl9pPr>
    </p:bodyStyle>
    <p:otherStyle>
      <a:lvl1pPr marL="0" marR="0" indent="0" algn="r" defTabSz="914400" rtl="0" latinLnBrk="0">
        <a:lnSpc>
          <a:spcPct val="100000"/>
        </a:lnSpc>
        <a:spcBef>
          <a:spcPts val="0"/>
        </a:spcBef>
        <a:spcAft>
          <a:spcPts val="0"/>
        </a:spcAft>
        <a:buClrTx/>
        <a:buSzTx/>
        <a:buFontTx/>
        <a:buNone/>
        <a:defRPr sz="1400" b="0" i="0" u="none" strike="noStrike" cap="none" spc="0" baseline="0">
          <a:ln>
            <a:noFill/>
          </a:ln>
          <a:solidFill>
            <a:schemeClr val="tx1"/>
          </a:solidFill>
          <a:uFillTx/>
          <a:latin typeface="+mn-lt"/>
          <a:ea typeface="+mn-ea"/>
          <a:cs typeface="+mn-cs"/>
          <a:sym typeface="Arial" panose="020B0704020202020204"/>
        </a:defRPr>
      </a:lvl1pPr>
      <a:lvl2pPr marL="0" marR="0" indent="0" algn="r" defTabSz="914400" rtl="0" latinLnBrk="0">
        <a:lnSpc>
          <a:spcPct val="100000"/>
        </a:lnSpc>
        <a:spcBef>
          <a:spcPts val="0"/>
        </a:spcBef>
        <a:spcAft>
          <a:spcPts val="0"/>
        </a:spcAft>
        <a:buClrTx/>
        <a:buSzTx/>
        <a:buFontTx/>
        <a:buNone/>
        <a:defRPr sz="1400" b="0" i="0" u="none" strike="noStrike" cap="none" spc="0" baseline="0">
          <a:ln>
            <a:noFill/>
          </a:ln>
          <a:solidFill>
            <a:schemeClr val="tx1"/>
          </a:solidFill>
          <a:uFillTx/>
          <a:latin typeface="+mn-lt"/>
          <a:ea typeface="+mn-ea"/>
          <a:cs typeface="+mn-cs"/>
          <a:sym typeface="Arial" panose="020B0704020202020204"/>
        </a:defRPr>
      </a:lvl2pPr>
      <a:lvl3pPr marL="0" marR="0" indent="0" algn="r" defTabSz="914400" rtl="0" latinLnBrk="0">
        <a:lnSpc>
          <a:spcPct val="100000"/>
        </a:lnSpc>
        <a:spcBef>
          <a:spcPts val="0"/>
        </a:spcBef>
        <a:spcAft>
          <a:spcPts val="0"/>
        </a:spcAft>
        <a:buClrTx/>
        <a:buSzTx/>
        <a:buFontTx/>
        <a:buNone/>
        <a:defRPr sz="1400" b="0" i="0" u="none" strike="noStrike" cap="none" spc="0" baseline="0">
          <a:ln>
            <a:noFill/>
          </a:ln>
          <a:solidFill>
            <a:schemeClr val="tx1"/>
          </a:solidFill>
          <a:uFillTx/>
          <a:latin typeface="+mn-lt"/>
          <a:ea typeface="+mn-ea"/>
          <a:cs typeface="+mn-cs"/>
          <a:sym typeface="Arial" panose="020B0704020202020204"/>
        </a:defRPr>
      </a:lvl3pPr>
      <a:lvl4pPr marL="0" marR="0" indent="0" algn="r" defTabSz="914400" rtl="0" latinLnBrk="0">
        <a:lnSpc>
          <a:spcPct val="100000"/>
        </a:lnSpc>
        <a:spcBef>
          <a:spcPts val="0"/>
        </a:spcBef>
        <a:spcAft>
          <a:spcPts val="0"/>
        </a:spcAft>
        <a:buClrTx/>
        <a:buSzTx/>
        <a:buFontTx/>
        <a:buNone/>
        <a:defRPr sz="1400" b="0" i="0" u="none" strike="noStrike" cap="none" spc="0" baseline="0">
          <a:ln>
            <a:noFill/>
          </a:ln>
          <a:solidFill>
            <a:schemeClr val="tx1"/>
          </a:solidFill>
          <a:uFillTx/>
          <a:latin typeface="+mn-lt"/>
          <a:ea typeface="+mn-ea"/>
          <a:cs typeface="+mn-cs"/>
          <a:sym typeface="Arial" panose="020B0704020202020204"/>
        </a:defRPr>
      </a:lvl4pPr>
      <a:lvl5pPr marL="0" marR="0" indent="0" algn="r" defTabSz="914400" rtl="0" latinLnBrk="0">
        <a:lnSpc>
          <a:spcPct val="100000"/>
        </a:lnSpc>
        <a:spcBef>
          <a:spcPts val="0"/>
        </a:spcBef>
        <a:spcAft>
          <a:spcPts val="0"/>
        </a:spcAft>
        <a:buClrTx/>
        <a:buSzTx/>
        <a:buFontTx/>
        <a:buNone/>
        <a:defRPr sz="1400" b="0" i="0" u="none" strike="noStrike" cap="none" spc="0" baseline="0">
          <a:ln>
            <a:noFill/>
          </a:ln>
          <a:solidFill>
            <a:schemeClr val="tx1"/>
          </a:solidFill>
          <a:uFillTx/>
          <a:latin typeface="+mn-lt"/>
          <a:ea typeface="+mn-ea"/>
          <a:cs typeface="+mn-cs"/>
          <a:sym typeface="Arial" panose="020B0704020202020204"/>
        </a:defRPr>
      </a:lvl5pPr>
      <a:lvl6pPr marL="0" marR="0" indent="0" algn="r" defTabSz="914400" rtl="0" latinLnBrk="0">
        <a:lnSpc>
          <a:spcPct val="100000"/>
        </a:lnSpc>
        <a:spcBef>
          <a:spcPts val="0"/>
        </a:spcBef>
        <a:spcAft>
          <a:spcPts val="0"/>
        </a:spcAft>
        <a:buClrTx/>
        <a:buSzTx/>
        <a:buFontTx/>
        <a:buNone/>
        <a:defRPr sz="1400" b="0" i="0" u="none" strike="noStrike" cap="none" spc="0" baseline="0">
          <a:ln>
            <a:noFill/>
          </a:ln>
          <a:solidFill>
            <a:schemeClr val="tx1"/>
          </a:solidFill>
          <a:uFillTx/>
          <a:latin typeface="+mn-lt"/>
          <a:ea typeface="+mn-ea"/>
          <a:cs typeface="+mn-cs"/>
          <a:sym typeface="Arial" panose="020B0704020202020204"/>
        </a:defRPr>
      </a:lvl6pPr>
      <a:lvl7pPr marL="0" marR="0" indent="0" algn="r" defTabSz="914400" rtl="0" latinLnBrk="0">
        <a:lnSpc>
          <a:spcPct val="100000"/>
        </a:lnSpc>
        <a:spcBef>
          <a:spcPts val="0"/>
        </a:spcBef>
        <a:spcAft>
          <a:spcPts val="0"/>
        </a:spcAft>
        <a:buClrTx/>
        <a:buSzTx/>
        <a:buFontTx/>
        <a:buNone/>
        <a:defRPr sz="1400" b="0" i="0" u="none" strike="noStrike" cap="none" spc="0" baseline="0">
          <a:ln>
            <a:noFill/>
          </a:ln>
          <a:solidFill>
            <a:schemeClr val="tx1"/>
          </a:solidFill>
          <a:uFillTx/>
          <a:latin typeface="+mn-lt"/>
          <a:ea typeface="+mn-ea"/>
          <a:cs typeface="+mn-cs"/>
          <a:sym typeface="Arial" panose="020B0704020202020204"/>
        </a:defRPr>
      </a:lvl7pPr>
      <a:lvl8pPr marL="0" marR="0" indent="0" algn="r" defTabSz="914400" rtl="0" latinLnBrk="0">
        <a:lnSpc>
          <a:spcPct val="100000"/>
        </a:lnSpc>
        <a:spcBef>
          <a:spcPts val="0"/>
        </a:spcBef>
        <a:spcAft>
          <a:spcPts val="0"/>
        </a:spcAft>
        <a:buClrTx/>
        <a:buSzTx/>
        <a:buFontTx/>
        <a:buNone/>
        <a:defRPr sz="1400" b="0" i="0" u="none" strike="noStrike" cap="none" spc="0" baseline="0">
          <a:ln>
            <a:noFill/>
          </a:ln>
          <a:solidFill>
            <a:schemeClr val="tx1"/>
          </a:solidFill>
          <a:uFillTx/>
          <a:latin typeface="+mn-lt"/>
          <a:ea typeface="+mn-ea"/>
          <a:cs typeface="+mn-cs"/>
          <a:sym typeface="Arial" panose="020B0704020202020204"/>
        </a:defRPr>
      </a:lvl8pPr>
      <a:lvl9pPr marL="0" marR="0" indent="0" algn="r" defTabSz="914400" rtl="0" latinLnBrk="0">
        <a:lnSpc>
          <a:spcPct val="100000"/>
        </a:lnSpc>
        <a:spcBef>
          <a:spcPts val="0"/>
        </a:spcBef>
        <a:spcAft>
          <a:spcPts val="0"/>
        </a:spcAft>
        <a:buClrTx/>
        <a:buSzTx/>
        <a:buFontTx/>
        <a:buNone/>
        <a:defRPr sz="1400" b="0" i="0" u="none" strike="noStrike" cap="none" spc="0" baseline="0">
          <a:ln>
            <a:noFill/>
          </a:ln>
          <a:solidFill>
            <a:schemeClr val="tx1"/>
          </a:solidFill>
          <a:uFillTx/>
          <a:latin typeface="+mn-lt"/>
          <a:ea typeface="+mn-ea"/>
          <a:cs typeface="+mn-cs"/>
          <a:sym typeface="Arial" panose="020B07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hape 34"/>
          <p:cNvSpPr>
            <a:spLocks noGrp="1"/>
          </p:cNvSpPr>
          <p:nvPr>
            <p:ph type="title"/>
          </p:nvPr>
        </p:nvSpPr>
        <p:spPr>
          <a:xfrm>
            <a:off x="301625" y="575094"/>
            <a:ext cx="8540750" cy="644107"/>
          </a:xfrm>
          <a:prstGeom prst="rect">
            <a:avLst/>
          </a:prstGeom>
        </p:spPr>
        <p:txBody>
          <a:bodyPr>
            <a:normAutofit fontScale="90000"/>
          </a:bodyPr>
          <a:lstStyle/>
          <a:p>
            <a:pPr defTabSz="740410">
              <a:defRPr sz="3200">
                <a:latin typeface="宋体"/>
                <a:ea typeface="宋体"/>
                <a:cs typeface="宋体"/>
                <a:sym typeface="宋体"/>
              </a:defRPr>
            </a:pPr>
            <a:br>
              <a:rPr lang="en-US" dirty="0">
                <a:latin typeface="微软雅黑" panose="020B0503020204020204" pitchFamily="34" charset="-122"/>
                <a:ea typeface="微软雅黑" panose="020B0503020204020204" pitchFamily="34" charset="-122"/>
              </a:rPr>
            </a:br>
            <a:r>
              <a:rPr b="1" dirty="0" err="1">
                <a:latin typeface="微软雅黑" panose="020B0503020204020204" pitchFamily="34" charset="-122"/>
                <a:ea typeface="微软雅黑" panose="020B0503020204020204" pitchFamily="34" charset="-122"/>
              </a:rPr>
              <a:t>一、法律程序的概念</a:t>
            </a:r>
            <a:br>
              <a:rPr dirty="0"/>
            </a:br>
            <a:endParaRPr dirty="0"/>
          </a:p>
        </p:txBody>
      </p:sp>
      <p:sp>
        <p:nvSpPr>
          <p:cNvPr id="35" name="Shape 35"/>
          <p:cNvSpPr>
            <a:spLocks noGrp="1"/>
          </p:cNvSpPr>
          <p:nvPr>
            <p:ph type="body" idx="1"/>
          </p:nvPr>
        </p:nvSpPr>
        <p:spPr>
          <a:xfrm>
            <a:off x="301625" y="1276710"/>
            <a:ext cx="8540750" cy="4888302"/>
          </a:xfrm>
          <a:prstGeom prst="rect">
            <a:avLst/>
          </a:prstGeom>
        </p:spPr>
        <p:txBody>
          <a:bodyPr>
            <a:normAutofit/>
          </a:bodyPr>
          <a:lstStyle/>
          <a:p>
            <a:pPr marL="305435" indent="-305435" defTabSz="814070">
              <a:lnSpc>
                <a:spcPct val="80000"/>
              </a:lnSpc>
              <a:spcBef>
                <a:spcPts val="500"/>
              </a:spcBef>
              <a:defRPr sz="2400">
                <a:solidFill>
                  <a:srgbClr val="FF2600"/>
                </a:solidFill>
                <a:latin typeface="宋体"/>
                <a:ea typeface="宋体"/>
                <a:cs typeface="宋体"/>
                <a:sym typeface="宋体"/>
              </a:defRPr>
            </a:pPr>
            <a:r>
              <a:rPr sz="2000" b="1" dirty="0" err="1">
                <a:latin typeface="微软雅黑" panose="020B0503020204020204" pitchFamily="34" charset="-122"/>
                <a:ea typeface="微软雅黑" panose="020B0503020204020204" pitchFamily="34" charset="-122"/>
              </a:rPr>
              <a:t>正义不仅应当实现，而且应当让人们眼看着实现</a:t>
            </a:r>
            <a:r>
              <a:rPr sz="2000" b="1" dirty="0">
                <a:latin typeface="微软雅黑" panose="020B0503020204020204" pitchFamily="34" charset="-122"/>
                <a:ea typeface="微软雅黑" panose="020B0503020204020204" pitchFamily="34" charset="-122"/>
              </a:rPr>
              <a:t>。</a:t>
            </a:r>
            <a:endParaRPr lang="en-US" sz="2000" b="1" dirty="0">
              <a:latin typeface="微软雅黑" panose="020B0503020204020204" pitchFamily="34" charset="-122"/>
              <a:ea typeface="微软雅黑" panose="020B0503020204020204" pitchFamily="34" charset="-122"/>
            </a:endParaRPr>
          </a:p>
          <a:p>
            <a:pPr marL="305435" indent="-305435" defTabSz="814070">
              <a:lnSpc>
                <a:spcPct val="80000"/>
              </a:lnSpc>
              <a:spcBef>
                <a:spcPts val="500"/>
              </a:spcBef>
              <a:defRPr sz="2400">
                <a:solidFill>
                  <a:srgbClr val="FF2600"/>
                </a:solidFill>
                <a:latin typeface="宋体"/>
                <a:ea typeface="宋体"/>
                <a:cs typeface="宋体"/>
                <a:sym typeface="宋体"/>
              </a:defRPr>
            </a:pPr>
            <a:r>
              <a:rPr sz="2000" b="1" dirty="0">
                <a:solidFill>
                  <a:srgbClr val="007A77"/>
                </a:solidFill>
                <a:latin typeface="微软雅黑" panose="020B0503020204020204" pitchFamily="34" charset="-122"/>
                <a:ea typeface="微软雅黑" panose="020B0503020204020204" pitchFamily="34" charset="-122"/>
              </a:rPr>
              <a:t>程序就是保障正义实现的方式，判断一项法律行为是否合乎公平正义，很重要的一个标准是形式上的要求，即公平正义实现的程序是否是正当合法的。</a:t>
            </a:r>
            <a:endParaRPr sz="2000" b="1" dirty="0">
              <a:solidFill>
                <a:srgbClr val="007A77"/>
              </a:solidFill>
              <a:latin typeface="微软雅黑" panose="020B0503020204020204" pitchFamily="34" charset="-122"/>
              <a:ea typeface="微软雅黑" panose="020B0503020204020204" pitchFamily="34" charset="-122"/>
            </a:endParaRPr>
          </a:p>
          <a:p>
            <a:pPr marL="305435" indent="-305435" defTabSz="814070">
              <a:lnSpc>
                <a:spcPct val="80000"/>
              </a:lnSpc>
              <a:spcBef>
                <a:spcPts val="500"/>
              </a:spcBef>
              <a:defRPr sz="2400">
                <a:latin typeface="宋体"/>
                <a:ea typeface="宋体"/>
                <a:cs typeface="宋体"/>
                <a:sym typeface="宋体"/>
              </a:defRPr>
            </a:pPr>
            <a:r>
              <a:rPr sz="2000" b="1" dirty="0" err="1">
                <a:solidFill>
                  <a:srgbClr val="FF0000"/>
                </a:solidFill>
                <a:latin typeface="微软雅黑" panose="020B0503020204020204" pitchFamily="34" charset="-122"/>
                <a:ea typeface="微软雅黑" panose="020B0503020204020204" pitchFamily="34" charset="-122"/>
              </a:rPr>
              <a:t>程序，</a:t>
            </a:r>
            <a:r>
              <a:rPr sz="2000" b="1" dirty="0" err="1">
                <a:latin typeface="微软雅黑" panose="020B0503020204020204" pitchFamily="34" charset="-122"/>
                <a:ea typeface="微软雅黑" panose="020B0503020204020204" pitchFamily="34" charset="-122"/>
              </a:rPr>
              <a:t>是指事情进行的方式、步骤或次序</a:t>
            </a:r>
            <a:r>
              <a:rPr lang="zh-CN" altLang="en-US" sz="2000" b="1" dirty="0">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a:p>
            <a:pPr marL="305435" indent="-305435" defTabSz="814070">
              <a:lnSpc>
                <a:spcPct val="80000"/>
              </a:lnSpc>
              <a:spcBef>
                <a:spcPts val="500"/>
              </a:spcBef>
              <a:defRPr sz="2400">
                <a:latin typeface="宋体"/>
                <a:ea typeface="宋体"/>
                <a:cs typeface="宋体"/>
                <a:sym typeface="宋体"/>
              </a:defRPr>
            </a:pPr>
            <a:r>
              <a:rPr sz="2000" b="1" dirty="0" err="1">
                <a:solidFill>
                  <a:srgbClr val="FF0000"/>
                </a:solidFill>
                <a:latin typeface="微软雅黑" panose="020B0503020204020204" pitchFamily="34" charset="-122"/>
                <a:ea typeface="微软雅黑" panose="020B0503020204020204" pitchFamily="34" charset="-122"/>
              </a:rPr>
              <a:t>法律程序</a:t>
            </a:r>
            <a:r>
              <a:rPr sz="2000" b="1" dirty="0" err="1">
                <a:latin typeface="微软雅黑" panose="020B0503020204020204" pitchFamily="34" charset="-122"/>
                <a:ea typeface="微软雅黑" panose="020B0503020204020204" pitchFamily="34" charset="-122"/>
              </a:rPr>
              <a:t>指的是各种法律行为所遵循的法律规定的方式、步骤或程式</a:t>
            </a:r>
            <a:r>
              <a:rPr lang="zh-CN" altLang="en-US" sz="2000" b="1" dirty="0">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a:p>
            <a:pPr marL="305435" indent="-305435" defTabSz="814070">
              <a:lnSpc>
                <a:spcPct val="80000"/>
              </a:lnSpc>
              <a:spcBef>
                <a:spcPts val="500"/>
              </a:spcBef>
              <a:defRPr sz="2400">
                <a:latin typeface="宋体"/>
                <a:ea typeface="宋体"/>
                <a:cs typeface="宋体"/>
                <a:sym typeface="宋体"/>
              </a:defRPr>
            </a:pPr>
            <a:r>
              <a:rPr lang="zh-CN" altLang="en-US" sz="2000" b="1" dirty="0">
                <a:latin typeface="微软雅黑" panose="020B0503020204020204" pitchFamily="34" charset="-122"/>
                <a:ea typeface="微软雅黑" panose="020B0503020204020204" pitchFamily="34" charset="-122"/>
              </a:rPr>
              <a:t>英文的程序是</a:t>
            </a:r>
            <a:r>
              <a:rPr lang="en-US" sz="2000" b="1" dirty="0">
                <a:latin typeface="微软雅黑" panose="020B0503020204020204" pitchFamily="34" charset="-122"/>
                <a:ea typeface="微软雅黑" panose="020B0503020204020204" pitchFamily="34" charset="-122"/>
              </a:rPr>
              <a:t>procedure,</a:t>
            </a:r>
            <a:r>
              <a:rPr lang="zh-CN" altLang="en-US" sz="2000" b="1" dirty="0">
                <a:latin typeface="微软雅黑" panose="020B0503020204020204" pitchFamily="34" charset="-122"/>
                <a:ea typeface="微软雅黑" panose="020B0503020204020204" pitchFamily="34" charset="-122"/>
              </a:rPr>
              <a:t>根据英文的构词法</a:t>
            </a:r>
            <a:r>
              <a:rPr lang="en-US" altLang="zh-CN" sz="2000" b="1" dirty="0">
                <a:latin typeface="微软雅黑" panose="020B0503020204020204" pitchFamily="34" charset="-122"/>
                <a:ea typeface="微软雅黑" panose="020B0503020204020204" pitchFamily="34" charset="-122"/>
              </a:rPr>
              <a:t>,</a:t>
            </a:r>
            <a:r>
              <a:rPr lang="en-US" sz="2000" b="1" dirty="0">
                <a:latin typeface="微软雅黑" panose="020B0503020204020204" pitchFamily="34" charset="-122"/>
                <a:ea typeface="微软雅黑" panose="020B0503020204020204" pitchFamily="34" charset="-122"/>
              </a:rPr>
              <a:t>pro</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的意思是“在前” </a:t>
            </a:r>
            <a:r>
              <a:rPr lang="en-US" altLang="zh-CN" sz="2000" b="1" dirty="0">
                <a:latin typeface="微软雅黑" panose="020B0503020204020204" pitchFamily="34" charset="-122"/>
                <a:ea typeface="微软雅黑" panose="020B0503020204020204" pitchFamily="34" charset="-122"/>
              </a:rPr>
              <a:t>,</a:t>
            </a:r>
            <a:r>
              <a:rPr lang="en-US" sz="2000" b="1" dirty="0" err="1">
                <a:latin typeface="微软雅黑" panose="020B0503020204020204" pitchFamily="34" charset="-122"/>
                <a:ea typeface="微软雅黑" panose="020B0503020204020204" pitchFamily="34" charset="-122"/>
              </a:rPr>
              <a:t>ced</a:t>
            </a:r>
            <a:r>
              <a:rPr lang="en-US"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的意思是“走” </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二者合起来即是“走在前面”，亦即“事先安排的”意思。</a:t>
            </a:r>
            <a:endParaRPr lang="en-US" altLang="zh-CN" sz="2000" b="1" dirty="0">
              <a:latin typeface="微软雅黑" panose="020B0503020204020204" pitchFamily="34" charset="-122"/>
              <a:ea typeface="微软雅黑" panose="020B0503020204020204" pitchFamily="34" charset="-122"/>
            </a:endParaRPr>
          </a:p>
          <a:p>
            <a:pPr marL="305435" indent="-305435" defTabSz="814070">
              <a:lnSpc>
                <a:spcPct val="80000"/>
              </a:lnSpc>
              <a:spcBef>
                <a:spcPts val="500"/>
              </a:spcBef>
              <a:defRPr sz="2400">
                <a:latin typeface="宋体"/>
                <a:ea typeface="宋体"/>
                <a:cs typeface="宋体"/>
                <a:sym typeface="宋体"/>
              </a:defRPr>
            </a:pP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牛津法律大词典</a:t>
            </a:r>
            <a:r>
              <a:rPr lang="en-US" altLang="zh-CN" sz="2000" b="1" dirty="0">
                <a:latin typeface="微软雅黑" panose="020B0503020204020204" pitchFamily="34" charset="-122"/>
                <a:ea typeface="微软雅黑" panose="020B0503020204020204" pitchFamily="34" charset="-122"/>
              </a:rPr>
              <a:t>》procedure </a:t>
            </a:r>
            <a:r>
              <a:rPr lang="zh-CN" altLang="en-US" sz="2000" b="1" dirty="0">
                <a:latin typeface="微软雅黑" panose="020B0503020204020204" pitchFamily="34" charset="-122"/>
                <a:ea typeface="微软雅黑" panose="020B0503020204020204" pitchFamily="34" charset="-122"/>
              </a:rPr>
              <a:t>词条的解释：</a:t>
            </a:r>
            <a:endParaRPr lang="en-US" altLang="zh-CN" sz="2000" b="1" dirty="0">
              <a:latin typeface="微软雅黑" panose="020B0503020204020204" pitchFamily="34" charset="-122"/>
              <a:ea typeface="微软雅黑" panose="020B0503020204020204" pitchFamily="34" charset="-122"/>
            </a:endParaRPr>
          </a:p>
          <a:p>
            <a:pPr marL="0" indent="0" defTabSz="814070">
              <a:lnSpc>
                <a:spcPct val="80000"/>
              </a:lnSpc>
              <a:spcBef>
                <a:spcPts val="500"/>
              </a:spcBef>
              <a:buNone/>
              <a:defRPr sz="2400">
                <a:latin typeface="宋体"/>
                <a:ea typeface="宋体"/>
                <a:cs typeface="宋体"/>
                <a:sym typeface="宋体"/>
              </a:defRPr>
            </a:pPr>
            <a:r>
              <a:rPr lang="zh-CN" altLang="en-US" sz="2000" b="1" dirty="0">
                <a:latin typeface="微软雅黑" panose="020B0503020204020204" pitchFamily="34" charset="-122"/>
                <a:ea typeface="微软雅黑" panose="020B0503020204020204" pitchFamily="34" charset="-122"/>
              </a:rPr>
              <a:t>      广义的“程序法” 是指“同实体法相对</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包括使实体法对当事人授予的权利及设定的义务得以主张和执行的全部法律机制” 。</a:t>
            </a:r>
            <a:endParaRPr lang="en-US" altLang="zh-CN" sz="2000" b="1" dirty="0">
              <a:latin typeface="微软雅黑" panose="020B0503020204020204" pitchFamily="34" charset="-122"/>
              <a:ea typeface="微软雅黑" panose="020B0503020204020204" pitchFamily="34" charset="-122"/>
            </a:endParaRPr>
          </a:p>
          <a:p>
            <a:pPr marL="0" indent="0" defTabSz="814070">
              <a:lnSpc>
                <a:spcPct val="80000"/>
              </a:lnSpc>
              <a:spcBef>
                <a:spcPts val="500"/>
              </a:spcBef>
              <a:buNone/>
              <a:defRPr sz="2400">
                <a:latin typeface="宋体"/>
                <a:ea typeface="宋体"/>
                <a:cs typeface="宋体"/>
                <a:sym typeface="宋体"/>
              </a:defRPr>
            </a:pP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狭义的在司法意义上的“程序法”被定义为“使法律权利得以强制执行的程序形式</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而不同于授予和规定权利的法律 </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它是法院通过程序来管理诉讼的法律 </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它是机器而不是产品” 。</a:t>
            </a:r>
            <a:endParaRPr sz="2000" b="1" dirty="0">
              <a:latin typeface="微软雅黑" panose="020B0503020204020204" pitchFamily="34" charset="-122"/>
              <a:ea typeface="微软雅黑" panose="020B0503020204020204" pitchFamily="34" charset="-122"/>
              <a:sym typeface="Arial" panose="020B0704020202020204"/>
            </a:endParaRPr>
          </a:p>
          <a:p>
            <a:pPr marL="305435" indent="-305435" defTabSz="814070">
              <a:lnSpc>
                <a:spcPct val="80000"/>
              </a:lnSpc>
              <a:spcBef>
                <a:spcPts val="500"/>
              </a:spcBef>
              <a:defRPr sz="2400">
                <a:latin typeface="宋体"/>
                <a:ea typeface="宋体"/>
                <a:cs typeface="宋体"/>
                <a:sym typeface="宋体"/>
              </a:defRPr>
            </a:pPr>
            <a:r>
              <a:rPr sz="2000" b="1" dirty="0" err="1">
                <a:solidFill>
                  <a:srgbClr val="FF0000"/>
                </a:solidFill>
                <a:latin typeface="微软雅黑" panose="020B0503020204020204" pitchFamily="34" charset="-122"/>
                <a:ea typeface="微软雅黑" panose="020B0503020204020204" pitchFamily="34" charset="-122"/>
              </a:rPr>
              <a:t>法律程序是</a:t>
            </a:r>
            <a:r>
              <a:rPr sz="2000" b="1" dirty="0" err="1">
                <a:solidFill>
                  <a:srgbClr val="FF0000"/>
                </a:solidFill>
                <a:latin typeface="微软雅黑" panose="020B0503020204020204" pitchFamily="34" charset="-122"/>
                <a:ea typeface="微软雅黑" panose="020B0503020204020204" pitchFamily="34" charset="-122"/>
                <a:sym typeface="Arial" panose="020B0704020202020204"/>
              </a:rPr>
              <a:t>从事</a:t>
            </a:r>
            <a:r>
              <a:rPr sz="2000" b="1" dirty="0" err="1">
                <a:solidFill>
                  <a:srgbClr val="FF0000"/>
                </a:solidFill>
                <a:latin typeface="微软雅黑" panose="020B0503020204020204" pitchFamily="34" charset="-122"/>
                <a:ea typeface="微软雅黑" panose="020B0503020204020204" pitchFamily="34" charset="-122"/>
              </a:rPr>
              <a:t>法律行为作出某种决定的过程、方式和步骤</a:t>
            </a:r>
            <a:r>
              <a:rPr lang="zh-CN" altLang="en-US" sz="2000" b="1" dirty="0">
                <a:solidFill>
                  <a:srgbClr val="FF0000"/>
                </a:solidFill>
                <a:latin typeface="微软雅黑" panose="020B0503020204020204" pitchFamily="34" charset="-122"/>
                <a:ea typeface="微软雅黑" panose="020B0503020204020204" pitchFamily="34" charset="-122"/>
              </a:rPr>
              <a:t>。</a:t>
            </a:r>
            <a:endParaRPr lang="en-US" altLang="zh-CN" sz="2000"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Shape 37"/>
          <p:cNvSpPr>
            <a:spLocks noGrp="1"/>
          </p:cNvSpPr>
          <p:nvPr>
            <p:ph type="title"/>
          </p:nvPr>
        </p:nvSpPr>
        <p:spPr>
          <a:xfrm>
            <a:off x="301625" y="609599"/>
            <a:ext cx="8540750" cy="149226"/>
          </a:xfrm>
          <a:prstGeom prst="rect">
            <a:avLst/>
          </a:prstGeom>
        </p:spPr>
        <p:txBody>
          <a:bodyPr>
            <a:normAutofit fontScale="90000"/>
          </a:bodyPr>
          <a:lstStyle/>
          <a:p>
            <a:endParaRPr dirty="0"/>
          </a:p>
        </p:txBody>
      </p:sp>
      <p:sp>
        <p:nvSpPr>
          <p:cNvPr id="38" name="Shape 38"/>
          <p:cNvSpPr>
            <a:spLocks noGrp="1"/>
          </p:cNvSpPr>
          <p:nvPr>
            <p:ph type="body" idx="1"/>
          </p:nvPr>
        </p:nvSpPr>
        <p:spPr>
          <a:xfrm>
            <a:off x="63260" y="879894"/>
            <a:ext cx="8954219" cy="5219282"/>
          </a:xfrm>
          <a:prstGeom prst="rect">
            <a:avLst/>
          </a:prstGeom>
        </p:spPr>
        <p:txBody>
          <a:bodyPr>
            <a:noAutofit/>
          </a:bodyPr>
          <a:lstStyle/>
          <a:p>
            <a:pPr marL="274320" indent="-274320" defTabSz="731520">
              <a:lnSpc>
                <a:spcPct val="80000"/>
              </a:lnSpc>
              <a:spcBef>
                <a:spcPts val="400"/>
              </a:spcBef>
              <a:defRPr sz="1900"/>
            </a:pPr>
            <a:r>
              <a:rPr sz="2400" b="1" dirty="0" err="1">
                <a:latin typeface="微软雅黑" panose="020B0503020204020204" pitchFamily="34" charset="-122"/>
                <a:ea typeface="微软雅黑" panose="020B0503020204020204" pitchFamily="34" charset="-122"/>
              </a:rPr>
              <a:t>法律程序的特征</a:t>
            </a:r>
            <a:r>
              <a:rPr sz="2400" b="1" dirty="0">
                <a:latin typeface="微软雅黑" panose="020B0503020204020204" pitchFamily="34" charset="-122"/>
                <a:ea typeface="微软雅黑" panose="020B0503020204020204" pitchFamily="34" charset="-122"/>
                <a:cs typeface="宋体"/>
                <a:sym typeface="宋体"/>
              </a:rPr>
              <a:t>：</a:t>
            </a:r>
            <a:endParaRPr sz="2400" b="1" dirty="0">
              <a:latin typeface="微软雅黑" panose="020B0503020204020204" pitchFamily="34" charset="-122"/>
              <a:ea typeface="微软雅黑" panose="020B0503020204020204" pitchFamily="34" charset="-122"/>
              <a:cs typeface="宋体"/>
              <a:sym typeface="宋体"/>
            </a:endParaRPr>
          </a:p>
          <a:p>
            <a:pPr marL="274320" indent="-274320" defTabSz="731520">
              <a:lnSpc>
                <a:spcPct val="80000"/>
              </a:lnSpc>
              <a:spcBef>
                <a:spcPts val="400"/>
              </a:spcBef>
              <a:defRPr sz="1900"/>
            </a:pPr>
            <a:r>
              <a:rPr sz="2400" b="1" dirty="0">
                <a:solidFill>
                  <a:srgbClr val="0070C0"/>
                </a:solidFill>
                <a:latin typeface="微软雅黑" panose="020B0503020204020204" pitchFamily="34" charset="-122"/>
                <a:ea typeface="微软雅黑" panose="020B0503020204020204" pitchFamily="34" charset="-122"/>
              </a:rPr>
              <a:t>1</a:t>
            </a:r>
            <a:r>
              <a:rPr sz="2400" b="1" dirty="0">
                <a:solidFill>
                  <a:srgbClr val="0070C0"/>
                </a:solidFill>
                <a:latin typeface="微软雅黑" panose="020B0503020204020204" pitchFamily="34" charset="-122"/>
                <a:ea typeface="微软雅黑" panose="020B0503020204020204" pitchFamily="34" charset="-122"/>
                <a:cs typeface="宋体"/>
                <a:sym typeface="宋体"/>
              </a:rPr>
              <a:t>、针对特定行为而要求。</a:t>
            </a:r>
            <a:r>
              <a:rPr sz="2400" b="1" dirty="0">
                <a:latin typeface="微软雅黑" panose="020B0503020204020204" pitchFamily="34" charset="-122"/>
                <a:ea typeface="微软雅黑" panose="020B0503020204020204" pitchFamily="34" charset="-122"/>
                <a:cs typeface="宋体"/>
                <a:sym typeface="宋体"/>
              </a:rPr>
              <a:t>如立法程序、行政程序、审判程序、调解程序、仲裁程序。</a:t>
            </a:r>
            <a:endParaRPr sz="2400" b="1" dirty="0">
              <a:latin typeface="微软雅黑" panose="020B0503020204020204" pitchFamily="34" charset="-122"/>
              <a:ea typeface="微软雅黑" panose="020B0503020204020204" pitchFamily="34" charset="-122"/>
              <a:cs typeface="宋体"/>
              <a:sym typeface="宋体"/>
            </a:endParaRPr>
          </a:p>
          <a:p>
            <a:pPr marL="274320" indent="-274320" defTabSz="731520">
              <a:lnSpc>
                <a:spcPct val="80000"/>
              </a:lnSpc>
              <a:spcBef>
                <a:spcPts val="400"/>
              </a:spcBef>
              <a:defRPr sz="1900"/>
            </a:pPr>
            <a:r>
              <a:rPr sz="2400" b="1" dirty="0">
                <a:solidFill>
                  <a:srgbClr val="0070C0"/>
                </a:solidFill>
                <a:latin typeface="微软雅黑" panose="020B0503020204020204" pitchFamily="34" charset="-122"/>
                <a:ea typeface="微软雅黑" panose="020B0503020204020204" pitchFamily="34" charset="-122"/>
              </a:rPr>
              <a:t>2</a:t>
            </a:r>
            <a:r>
              <a:rPr sz="2400" b="1" dirty="0">
                <a:solidFill>
                  <a:srgbClr val="0070C0"/>
                </a:solidFill>
                <a:latin typeface="微软雅黑" panose="020B0503020204020204" pitchFamily="34" charset="-122"/>
                <a:ea typeface="微软雅黑" panose="020B0503020204020204" pitchFamily="34" charset="-122"/>
                <a:cs typeface="宋体"/>
                <a:sym typeface="宋体"/>
              </a:rPr>
              <a:t>、具有时序性与时限性</a:t>
            </a:r>
            <a:r>
              <a:rPr sz="2400" b="1" dirty="0">
                <a:latin typeface="微软雅黑" panose="020B0503020204020204" pitchFamily="34" charset="-122"/>
                <a:ea typeface="微软雅黑" panose="020B0503020204020204" pitchFamily="34" charset="-122"/>
                <a:cs typeface="宋体"/>
                <a:sym typeface="宋体"/>
              </a:rPr>
              <a:t>。时序是指行为在时间上的先后顺序；时限是指时间的限制。</a:t>
            </a:r>
            <a:endParaRPr lang="en-US" sz="2400" b="1" dirty="0">
              <a:latin typeface="微软雅黑" panose="020B0503020204020204" pitchFamily="34" charset="-122"/>
              <a:ea typeface="微软雅黑" panose="020B0503020204020204" pitchFamily="34" charset="-122"/>
              <a:cs typeface="宋体"/>
              <a:sym typeface="宋体"/>
            </a:endParaRPr>
          </a:p>
          <a:p>
            <a:pPr marL="274320" indent="-274320" defTabSz="731520">
              <a:lnSpc>
                <a:spcPct val="80000"/>
              </a:lnSpc>
              <a:spcBef>
                <a:spcPts val="400"/>
              </a:spcBef>
              <a:defRPr sz="1900"/>
            </a:pPr>
            <a:r>
              <a:rPr lang="en-US" altLang="zh-CN" sz="2000" b="1" dirty="0">
                <a:latin typeface="微软雅黑" panose="020B0503020204020204" pitchFamily="34" charset="-122"/>
                <a:ea typeface="微软雅黑" panose="020B0503020204020204" pitchFamily="34" charset="-122"/>
                <a:cs typeface="宋体"/>
                <a:sym typeface="宋体"/>
              </a:rPr>
              <a:t>《</a:t>
            </a:r>
            <a:r>
              <a:rPr lang="zh-CN" altLang="en-US" sz="2000" b="1" dirty="0">
                <a:latin typeface="微软雅黑" panose="020B0503020204020204" pitchFamily="34" charset="-122"/>
                <a:ea typeface="微软雅黑" panose="020B0503020204020204" pitchFamily="34" charset="-122"/>
                <a:cs typeface="宋体"/>
                <a:sym typeface="宋体"/>
              </a:rPr>
              <a:t>行政处罚法</a:t>
            </a:r>
            <a:r>
              <a:rPr lang="en-US" altLang="zh-CN" sz="2000" b="1" dirty="0">
                <a:latin typeface="微软雅黑" panose="020B0503020204020204" pitchFamily="34" charset="-122"/>
                <a:ea typeface="微软雅黑" panose="020B0503020204020204" pitchFamily="34" charset="-122"/>
                <a:cs typeface="宋体"/>
                <a:sym typeface="宋体"/>
              </a:rPr>
              <a:t>》</a:t>
            </a:r>
            <a:r>
              <a:rPr lang="zh-CN" altLang="en-US" sz="2000" b="1" dirty="0">
                <a:latin typeface="微软雅黑" panose="020B0503020204020204" pitchFamily="34" charset="-122"/>
                <a:ea typeface="微软雅黑" panose="020B0503020204020204" pitchFamily="34" charset="-122"/>
                <a:cs typeface="宋体"/>
                <a:sym typeface="宋体"/>
              </a:rPr>
              <a:t>第</a:t>
            </a:r>
            <a:r>
              <a:rPr lang="en-US" altLang="zh-CN" sz="2000" b="1" dirty="0">
                <a:latin typeface="微软雅黑" panose="020B0503020204020204" pitchFamily="34" charset="-122"/>
                <a:ea typeface="微软雅黑" panose="020B0503020204020204" pitchFamily="34" charset="-122"/>
                <a:cs typeface="宋体"/>
                <a:sym typeface="宋体"/>
              </a:rPr>
              <a:t>44</a:t>
            </a:r>
            <a:r>
              <a:rPr lang="zh-CN" altLang="en-US" sz="2000" b="1" dirty="0">
                <a:latin typeface="微软雅黑" panose="020B0503020204020204" pitchFamily="34" charset="-122"/>
                <a:ea typeface="微软雅黑" panose="020B0503020204020204" pitchFamily="34" charset="-122"/>
                <a:cs typeface="宋体"/>
                <a:sym typeface="宋体"/>
              </a:rPr>
              <a:t>条　</a:t>
            </a:r>
            <a:r>
              <a:rPr lang="zh-CN" altLang="en-US" sz="2000" b="1" dirty="0">
                <a:solidFill>
                  <a:srgbClr val="002060"/>
                </a:solidFill>
                <a:latin typeface="微软雅黑" panose="020B0503020204020204" pitchFamily="34" charset="-122"/>
                <a:ea typeface="微软雅黑" panose="020B0503020204020204" pitchFamily="34" charset="-122"/>
                <a:cs typeface="宋体"/>
                <a:sym typeface="宋体"/>
              </a:rPr>
              <a:t>行政机关在作出行政处罚决定之前，应当告知当事人拟作出的行政处罚内容及事实、理由、依据，并告知当事人依法享有的陈述、申辩、要求听证等权利。</a:t>
            </a:r>
            <a:endParaRPr lang="zh-CN" altLang="en-US" sz="2000" b="1" dirty="0">
              <a:solidFill>
                <a:srgbClr val="002060"/>
              </a:solidFill>
              <a:latin typeface="微软雅黑" panose="020B0503020204020204" pitchFamily="34" charset="-122"/>
              <a:ea typeface="微软雅黑" panose="020B0503020204020204" pitchFamily="34" charset="-122"/>
              <a:cs typeface="宋体"/>
              <a:sym typeface="宋体"/>
            </a:endParaRPr>
          </a:p>
          <a:p>
            <a:pPr marL="274320" indent="-274320" defTabSz="731520">
              <a:lnSpc>
                <a:spcPct val="80000"/>
              </a:lnSpc>
              <a:spcBef>
                <a:spcPts val="400"/>
              </a:spcBef>
              <a:defRPr sz="1900"/>
            </a:pPr>
            <a:r>
              <a:rPr lang="zh-CN" altLang="en-US" sz="2000" b="1" dirty="0">
                <a:latin typeface="微软雅黑" panose="020B0503020204020204" pitchFamily="34" charset="-122"/>
                <a:ea typeface="微软雅黑" panose="020B0503020204020204" pitchFamily="34" charset="-122"/>
                <a:cs typeface="宋体"/>
                <a:sym typeface="宋体"/>
              </a:rPr>
              <a:t>第</a:t>
            </a:r>
            <a:r>
              <a:rPr lang="en-US" altLang="zh-CN" sz="2000" b="1" dirty="0">
                <a:latin typeface="微软雅黑" panose="020B0503020204020204" pitchFamily="34" charset="-122"/>
                <a:ea typeface="微软雅黑" panose="020B0503020204020204" pitchFamily="34" charset="-122"/>
                <a:cs typeface="宋体"/>
                <a:sym typeface="宋体"/>
              </a:rPr>
              <a:t>45</a:t>
            </a:r>
            <a:r>
              <a:rPr lang="zh-CN" altLang="en-US" sz="2000" b="1" dirty="0">
                <a:latin typeface="微软雅黑" panose="020B0503020204020204" pitchFamily="34" charset="-122"/>
                <a:ea typeface="微软雅黑" panose="020B0503020204020204" pitchFamily="34" charset="-122"/>
                <a:cs typeface="宋体"/>
                <a:sym typeface="宋体"/>
              </a:rPr>
              <a:t>条　</a:t>
            </a:r>
            <a:r>
              <a:rPr lang="zh-CN" altLang="en-US" sz="2000" b="1" dirty="0">
                <a:solidFill>
                  <a:srgbClr val="00B0F0"/>
                </a:solidFill>
                <a:latin typeface="微软雅黑" panose="020B0503020204020204" pitchFamily="34" charset="-122"/>
                <a:ea typeface="微软雅黑" panose="020B0503020204020204" pitchFamily="34" charset="-122"/>
                <a:cs typeface="宋体"/>
                <a:sym typeface="宋体"/>
              </a:rPr>
              <a:t>当事人有权进行陈述和申辩。行政机关必须充分听取当事人的意见，对当事人提出的事实、理由和证据，应当进行复核；当事人提出的事实、理由或者证据成立的，行政机关应当采纳。</a:t>
            </a:r>
            <a:endParaRPr lang="zh-CN" altLang="en-US" sz="2000" b="1" dirty="0">
              <a:solidFill>
                <a:srgbClr val="00B0F0"/>
              </a:solidFill>
              <a:latin typeface="微软雅黑" panose="020B0503020204020204" pitchFamily="34" charset="-122"/>
              <a:ea typeface="微软雅黑" panose="020B0503020204020204" pitchFamily="34" charset="-122"/>
              <a:cs typeface="宋体"/>
              <a:sym typeface="宋体"/>
            </a:endParaRPr>
          </a:p>
          <a:p>
            <a:pPr marL="0" indent="0" defTabSz="731520">
              <a:lnSpc>
                <a:spcPct val="80000"/>
              </a:lnSpc>
              <a:spcBef>
                <a:spcPts val="400"/>
              </a:spcBef>
              <a:buNone/>
              <a:defRPr sz="1900"/>
            </a:pPr>
            <a:r>
              <a:rPr lang="zh-CN" altLang="en-US" sz="2000" b="1" dirty="0">
                <a:solidFill>
                  <a:srgbClr val="00B0F0"/>
                </a:solidFill>
                <a:latin typeface="微软雅黑" panose="020B0503020204020204" pitchFamily="34" charset="-122"/>
                <a:ea typeface="微软雅黑" panose="020B0503020204020204" pitchFamily="34" charset="-122"/>
                <a:cs typeface="宋体"/>
                <a:sym typeface="宋体"/>
              </a:rPr>
              <a:t>    行政机关不得因当事人陈述、申辩而给予更重的处罚。</a:t>
            </a:r>
            <a:endParaRPr sz="2000" b="1" dirty="0">
              <a:solidFill>
                <a:srgbClr val="00B0F0"/>
              </a:solidFill>
              <a:latin typeface="微软雅黑" panose="020B0503020204020204" pitchFamily="34" charset="-122"/>
              <a:ea typeface="微软雅黑" panose="020B0503020204020204" pitchFamily="34" charset="-122"/>
              <a:cs typeface="宋体"/>
              <a:sym typeface="宋体"/>
            </a:endParaRPr>
          </a:p>
          <a:p>
            <a:pPr marL="274320" indent="-274320" defTabSz="731520">
              <a:lnSpc>
                <a:spcPct val="80000"/>
              </a:lnSpc>
              <a:spcBef>
                <a:spcPts val="400"/>
              </a:spcBef>
              <a:defRPr sz="1900">
                <a:latin typeface="宋体"/>
                <a:ea typeface="宋体"/>
                <a:cs typeface="宋体"/>
                <a:sym typeface="宋体"/>
              </a:defRPr>
            </a:pPr>
            <a:r>
              <a:rPr lang="zh-CN" altLang="en-US" sz="2000" b="1" dirty="0">
                <a:latin typeface="微软雅黑" panose="020B0503020204020204" pitchFamily="34" charset="-122"/>
                <a:ea typeface="微软雅黑" panose="020B0503020204020204" pitchFamily="34" charset="-122"/>
              </a:rPr>
              <a:t>第</a:t>
            </a:r>
            <a:r>
              <a:rPr lang="en-US" altLang="zh-CN" sz="2000" b="1" dirty="0">
                <a:latin typeface="微软雅黑" panose="020B0503020204020204" pitchFamily="34" charset="-122"/>
                <a:ea typeface="微软雅黑" panose="020B0503020204020204" pitchFamily="34" charset="-122"/>
              </a:rPr>
              <a:t>52</a:t>
            </a:r>
            <a:r>
              <a:rPr lang="zh-CN" altLang="en-US" sz="2000" b="1" dirty="0">
                <a:latin typeface="微软雅黑" panose="020B0503020204020204" pitchFamily="34" charset="-122"/>
                <a:ea typeface="微软雅黑" panose="020B0503020204020204" pitchFamily="34" charset="-122"/>
              </a:rPr>
              <a:t>条　</a:t>
            </a:r>
            <a:r>
              <a:rPr lang="zh-CN" altLang="en-US" sz="2000" b="1" dirty="0">
                <a:solidFill>
                  <a:srgbClr val="0070C0"/>
                </a:solidFill>
                <a:latin typeface="微软雅黑" panose="020B0503020204020204" pitchFamily="34" charset="-122"/>
                <a:ea typeface="微软雅黑" panose="020B0503020204020204" pitchFamily="34" charset="-122"/>
              </a:rPr>
              <a:t>执法人员当场作出行政处罚决定的，应当向当事人出示执法证件，填写预定格式、编有号码的行政处罚决定书，并当场交付当事人。当事人拒绝签收的，应当在行政处罚决定书上注明。</a:t>
            </a:r>
            <a:endParaRPr lang="en-US" altLang="zh-CN" sz="2000" b="1" dirty="0">
              <a:solidFill>
                <a:srgbClr val="0070C0"/>
              </a:solidFill>
              <a:latin typeface="微软雅黑" panose="020B0503020204020204" pitchFamily="34" charset="-122"/>
              <a:ea typeface="微软雅黑" panose="020B0503020204020204" pitchFamily="34" charset="-122"/>
            </a:endParaRPr>
          </a:p>
          <a:p>
            <a:pPr marL="274320" indent="-274320" defTabSz="731520">
              <a:lnSpc>
                <a:spcPct val="80000"/>
              </a:lnSpc>
              <a:spcBef>
                <a:spcPts val="400"/>
              </a:spcBef>
              <a:defRPr sz="1900">
                <a:latin typeface="宋体"/>
                <a:ea typeface="宋体"/>
                <a:cs typeface="宋体"/>
                <a:sym typeface="宋体"/>
              </a:defRPr>
            </a:pPr>
            <a:r>
              <a:rPr lang="zh-CN" altLang="en-US" sz="2000" b="1" dirty="0">
                <a:latin typeface="微软雅黑" panose="020B0503020204020204" pitchFamily="34" charset="-122"/>
                <a:ea typeface="微软雅黑" panose="020B0503020204020204" pitchFamily="34" charset="-122"/>
              </a:rPr>
              <a:t>第</a:t>
            </a:r>
            <a:r>
              <a:rPr lang="en-US" altLang="zh-CN" sz="2000" b="1" dirty="0">
                <a:latin typeface="微软雅黑" panose="020B0503020204020204" pitchFamily="34" charset="-122"/>
                <a:ea typeface="微软雅黑" panose="020B0503020204020204" pitchFamily="34" charset="-122"/>
              </a:rPr>
              <a:t>55</a:t>
            </a:r>
            <a:r>
              <a:rPr lang="zh-CN" altLang="en-US" sz="2000" b="1" dirty="0">
                <a:latin typeface="微软雅黑" panose="020B0503020204020204" pitchFamily="34" charset="-122"/>
                <a:ea typeface="微软雅黑" panose="020B0503020204020204" pitchFamily="34" charset="-122"/>
              </a:rPr>
              <a:t>条　</a:t>
            </a:r>
            <a:r>
              <a:rPr lang="zh-CN" altLang="en-US" sz="2000" b="1" dirty="0">
                <a:solidFill>
                  <a:srgbClr val="002060"/>
                </a:solidFill>
                <a:latin typeface="微软雅黑" panose="020B0503020204020204" pitchFamily="34" charset="-122"/>
                <a:ea typeface="微软雅黑" panose="020B0503020204020204" pitchFamily="34" charset="-122"/>
              </a:rPr>
              <a:t>执法人员在调查或者进行检查时，应当主动向当事人或者有关人员出示执法证件。当事人或者有关人员有权要求执法人员出示执法证件。执法人员不出示执法证件的，当事人或者有关人员有权拒绝接受调查或者检查。</a:t>
            </a:r>
            <a:endParaRPr lang="en-US" altLang="zh-CN" sz="2000" b="1"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Shape 40"/>
          <p:cNvSpPr>
            <a:spLocks noGrp="1"/>
          </p:cNvSpPr>
          <p:nvPr>
            <p:ph type="title"/>
          </p:nvPr>
        </p:nvSpPr>
        <p:spPr>
          <a:xfrm>
            <a:off x="301625" y="609599"/>
            <a:ext cx="8540750" cy="557844"/>
          </a:xfrm>
          <a:prstGeom prst="rect">
            <a:avLst/>
          </a:prstGeom>
        </p:spPr>
        <p:txBody>
          <a:bodyPr>
            <a:normAutofit fontScale="90000"/>
          </a:bodyPr>
          <a:lstStyle/>
          <a:p>
            <a:endParaRPr dirty="0"/>
          </a:p>
        </p:txBody>
      </p:sp>
      <p:sp>
        <p:nvSpPr>
          <p:cNvPr id="41" name="Shape 41"/>
          <p:cNvSpPr>
            <a:spLocks noGrp="1"/>
          </p:cNvSpPr>
          <p:nvPr>
            <p:ph type="body" idx="1"/>
          </p:nvPr>
        </p:nvSpPr>
        <p:spPr>
          <a:xfrm>
            <a:off x="189780" y="1167442"/>
            <a:ext cx="8735683" cy="5170097"/>
          </a:xfrm>
          <a:prstGeom prst="rect">
            <a:avLst/>
          </a:prstGeom>
        </p:spPr>
        <p:txBody>
          <a:bodyPr>
            <a:noAutofit/>
          </a:bodyPr>
          <a:lstStyle/>
          <a:p>
            <a:pPr marL="339725" indent="-339725" defTabSz="905510">
              <a:lnSpc>
                <a:spcPct val="80000"/>
              </a:lnSpc>
              <a:spcBef>
                <a:spcPts val="400"/>
              </a:spcBef>
              <a:defRPr sz="1900">
                <a:latin typeface="宋体"/>
                <a:ea typeface="宋体"/>
                <a:cs typeface="宋体"/>
                <a:sym typeface="宋体"/>
              </a:defRPr>
            </a:pPr>
            <a:r>
              <a:rPr sz="2000" b="1" dirty="0" err="1">
                <a:latin typeface="微软雅黑" panose="020B0503020204020204" pitchFamily="34" charset="-122"/>
                <a:ea typeface="微软雅黑" panose="020B0503020204020204" pitchFamily="34" charset="-122"/>
              </a:rPr>
              <a:t>再比如：</a:t>
            </a:r>
            <a:r>
              <a:rPr sz="2000" b="1" dirty="0" err="1">
                <a:solidFill>
                  <a:srgbClr val="FF0000"/>
                </a:solidFill>
                <a:latin typeface="微软雅黑" panose="020B0503020204020204" pitchFamily="34" charset="-122"/>
                <a:ea typeface="微软雅黑" panose="020B0503020204020204" pitchFamily="34" charset="-122"/>
              </a:rPr>
              <a:t>公安部颁布的《公安机关办理刑事案件程序规定</a:t>
            </a:r>
            <a:r>
              <a:rPr sz="2000" b="1" dirty="0">
                <a:solidFill>
                  <a:srgbClr val="FF0000"/>
                </a:solidFill>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第</a:t>
            </a:r>
            <a:r>
              <a:rPr lang="en-US" altLang="zh-CN" sz="2000" b="1" dirty="0">
                <a:solidFill>
                  <a:srgbClr val="FF0000"/>
                </a:solidFill>
                <a:latin typeface="微软雅黑" panose="020B0503020204020204" pitchFamily="34" charset="-122"/>
                <a:ea typeface="微软雅黑" panose="020B0503020204020204" pitchFamily="34" charset="-122"/>
              </a:rPr>
              <a:t>79</a:t>
            </a:r>
            <a:r>
              <a:rPr lang="zh-CN" altLang="en-US" sz="2000" b="1" dirty="0">
                <a:solidFill>
                  <a:srgbClr val="FF0000"/>
                </a:solidFill>
                <a:latin typeface="微软雅黑" panose="020B0503020204020204" pitchFamily="34" charset="-122"/>
                <a:ea typeface="微软雅黑" panose="020B0503020204020204" pitchFamily="34" charset="-122"/>
              </a:rPr>
              <a:t>条  </a:t>
            </a:r>
            <a:r>
              <a:rPr lang="zh-CN" altLang="en-US" sz="2000" b="1" dirty="0">
                <a:solidFill>
                  <a:srgbClr val="0070C0"/>
                </a:solidFill>
                <a:latin typeface="微软雅黑" panose="020B0503020204020204" pitchFamily="34" charset="-122"/>
                <a:ea typeface="微软雅黑" panose="020B0503020204020204" pitchFamily="34" charset="-122"/>
              </a:rPr>
              <a:t>公安机关拘传犯罪嫌疑人应当出示拘传证，并责令其在拘传证上签名、捺指印。</a:t>
            </a:r>
            <a:endParaRPr lang="zh-CN" altLang="en-US" sz="2000" b="1" dirty="0">
              <a:solidFill>
                <a:srgbClr val="0070C0"/>
              </a:solidFill>
              <a:latin typeface="微软雅黑" panose="020B0503020204020204" pitchFamily="34" charset="-122"/>
              <a:ea typeface="微软雅黑" panose="020B0503020204020204" pitchFamily="34" charset="-122"/>
            </a:endParaRPr>
          </a:p>
          <a:p>
            <a:pPr marL="0" indent="0" defTabSz="905510">
              <a:lnSpc>
                <a:spcPct val="80000"/>
              </a:lnSpc>
              <a:spcBef>
                <a:spcPts val="400"/>
              </a:spcBef>
              <a:buNone/>
              <a:defRPr sz="1900">
                <a:latin typeface="宋体"/>
                <a:ea typeface="宋体"/>
                <a:cs typeface="宋体"/>
                <a:sym typeface="宋体"/>
              </a:defRPr>
            </a:pPr>
            <a:r>
              <a:rPr lang="zh-CN" altLang="en-US" sz="2000" b="1" dirty="0">
                <a:solidFill>
                  <a:srgbClr val="0070C0"/>
                </a:solidFill>
                <a:latin typeface="微软雅黑" panose="020B0503020204020204" pitchFamily="34" charset="-122"/>
                <a:ea typeface="微软雅黑" panose="020B0503020204020204" pitchFamily="34" charset="-122"/>
              </a:rPr>
              <a:t>   犯罪嫌疑人到案后，应当责令其在拘传证上填写到案时间；拘传结束后，应当由其在拘传证上填写拘传结束时间。犯罪嫌疑人拒绝填写的，侦查人员应当在拘传证上注明。</a:t>
            </a:r>
            <a:endParaRPr lang="zh-CN" altLang="en-US" sz="2000" b="1" dirty="0">
              <a:solidFill>
                <a:srgbClr val="0070C0"/>
              </a:solidFill>
              <a:latin typeface="微软雅黑" panose="020B0503020204020204" pitchFamily="34" charset="-122"/>
              <a:ea typeface="微软雅黑" panose="020B0503020204020204" pitchFamily="34" charset="-122"/>
            </a:endParaRPr>
          </a:p>
          <a:p>
            <a:pPr marL="339725" indent="-339725" defTabSz="905510">
              <a:lnSpc>
                <a:spcPct val="80000"/>
              </a:lnSpc>
              <a:spcBef>
                <a:spcPts val="400"/>
              </a:spcBef>
              <a:defRPr sz="1900">
                <a:latin typeface="宋体"/>
                <a:ea typeface="宋体"/>
                <a:cs typeface="宋体"/>
                <a:sym typeface="宋体"/>
              </a:defRPr>
            </a:pPr>
            <a:r>
              <a:rPr lang="zh-CN" altLang="en-US" sz="2000" b="1" dirty="0">
                <a:solidFill>
                  <a:srgbClr val="FF0000"/>
                </a:solidFill>
                <a:latin typeface="微软雅黑" panose="020B0503020204020204" pitchFamily="34" charset="-122"/>
                <a:ea typeface="微软雅黑" panose="020B0503020204020204" pitchFamily="34" charset="-122"/>
              </a:rPr>
              <a:t>第</a:t>
            </a:r>
            <a:r>
              <a:rPr lang="en-US" altLang="zh-CN" sz="2000" b="1" dirty="0">
                <a:solidFill>
                  <a:srgbClr val="FF0000"/>
                </a:solidFill>
                <a:latin typeface="微软雅黑" panose="020B0503020204020204" pitchFamily="34" charset="-122"/>
                <a:ea typeface="微软雅黑" panose="020B0503020204020204" pitchFamily="34" charset="-122"/>
              </a:rPr>
              <a:t>80</a:t>
            </a:r>
            <a:r>
              <a:rPr lang="zh-CN" altLang="en-US" sz="2000" b="1" dirty="0">
                <a:solidFill>
                  <a:srgbClr val="FF0000"/>
                </a:solidFill>
                <a:latin typeface="微软雅黑" panose="020B0503020204020204" pitchFamily="34" charset="-122"/>
                <a:ea typeface="微软雅黑" panose="020B0503020204020204" pitchFamily="34" charset="-122"/>
              </a:rPr>
              <a:t>条  </a:t>
            </a:r>
            <a:r>
              <a:rPr lang="zh-CN" altLang="en-US" sz="2000" b="1" dirty="0">
                <a:solidFill>
                  <a:srgbClr val="00B0F0"/>
                </a:solidFill>
                <a:latin typeface="微软雅黑" panose="020B0503020204020204" pitchFamily="34" charset="-122"/>
                <a:ea typeface="微软雅黑" panose="020B0503020204020204" pitchFamily="34" charset="-122"/>
              </a:rPr>
              <a:t>拘传持续的时间不得超过十二小时；案情特别重大、复杂，需要采取拘留、逮捕措施的，经县级以上公安机关负责人批准，拘传持续的时间不得超过二十四小时。不得以连续拘传的形式变相拘禁犯罪嫌疑人。</a:t>
            </a:r>
            <a:endParaRPr lang="en-US" altLang="zh-CN" sz="2000" b="1" dirty="0">
              <a:solidFill>
                <a:srgbClr val="00B0F0"/>
              </a:solidFill>
              <a:latin typeface="微软雅黑" panose="020B0503020204020204" pitchFamily="34" charset="-122"/>
              <a:ea typeface="微软雅黑" panose="020B0503020204020204" pitchFamily="34" charset="-122"/>
            </a:endParaRPr>
          </a:p>
          <a:p>
            <a:pPr marL="0" indent="0" defTabSz="905510">
              <a:lnSpc>
                <a:spcPct val="80000"/>
              </a:lnSpc>
              <a:spcBef>
                <a:spcPts val="400"/>
              </a:spcBef>
              <a:buNone/>
              <a:defRPr sz="1900">
                <a:latin typeface="宋体"/>
                <a:ea typeface="宋体"/>
                <a:cs typeface="宋体"/>
                <a:sym typeface="宋体"/>
              </a:defRPr>
            </a:pPr>
            <a:r>
              <a:rPr lang="en-US" altLang="zh-CN" sz="2000" b="1" dirty="0">
                <a:solidFill>
                  <a:srgbClr val="00B0F0"/>
                </a:solidFill>
                <a:latin typeface="微软雅黑" panose="020B0503020204020204" pitchFamily="34" charset="-122"/>
                <a:ea typeface="微软雅黑" panose="020B0503020204020204" pitchFamily="34" charset="-122"/>
              </a:rPr>
              <a:t>    </a:t>
            </a:r>
            <a:r>
              <a:rPr lang="zh-CN" altLang="en-US" sz="2000" b="1" dirty="0">
                <a:solidFill>
                  <a:srgbClr val="00B0F0"/>
                </a:solidFill>
                <a:latin typeface="微软雅黑" panose="020B0503020204020204" pitchFamily="34" charset="-122"/>
                <a:ea typeface="微软雅黑" panose="020B0503020204020204" pitchFamily="34" charset="-122"/>
              </a:rPr>
              <a:t>拘传期限届满，未作出采取其他强制措施决定的，应当立即结束拘传。</a:t>
            </a:r>
            <a:endParaRPr lang="en-US" altLang="zh-CN" sz="2000" b="1" dirty="0">
              <a:solidFill>
                <a:srgbClr val="00B0F0"/>
              </a:solidFill>
              <a:latin typeface="微软雅黑" panose="020B0503020204020204" pitchFamily="34" charset="-122"/>
              <a:ea typeface="微软雅黑" panose="020B0503020204020204" pitchFamily="34" charset="-122"/>
            </a:endParaRPr>
          </a:p>
          <a:p>
            <a:pPr marL="339725" indent="-339725" defTabSz="905510">
              <a:lnSpc>
                <a:spcPct val="80000"/>
              </a:lnSpc>
              <a:spcBef>
                <a:spcPts val="400"/>
              </a:spcBef>
              <a:defRPr sz="1900">
                <a:latin typeface="宋体"/>
                <a:ea typeface="宋体"/>
                <a:cs typeface="宋体"/>
                <a:sym typeface="宋体"/>
              </a:defRPr>
            </a:pPr>
            <a:r>
              <a:rPr lang="zh-CN" altLang="en-US" sz="2000" b="1" dirty="0">
                <a:solidFill>
                  <a:srgbClr val="FF0000"/>
                </a:solidFill>
                <a:latin typeface="微软雅黑" panose="020B0503020204020204" pitchFamily="34" charset="-122"/>
                <a:ea typeface="微软雅黑" panose="020B0503020204020204" pitchFamily="34" charset="-122"/>
              </a:rPr>
              <a:t>第</a:t>
            </a:r>
            <a:r>
              <a:rPr lang="en-US" altLang="zh-CN" sz="2000" b="1" dirty="0">
                <a:solidFill>
                  <a:srgbClr val="FF0000"/>
                </a:solidFill>
                <a:latin typeface="微软雅黑" panose="020B0503020204020204" pitchFamily="34" charset="-122"/>
                <a:ea typeface="微软雅黑" panose="020B0503020204020204" pitchFamily="34" charset="-122"/>
              </a:rPr>
              <a:t>125</a:t>
            </a:r>
            <a:r>
              <a:rPr lang="zh-CN" altLang="en-US" sz="2000" b="1" dirty="0">
                <a:solidFill>
                  <a:srgbClr val="FF0000"/>
                </a:solidFill>
                <a:latin typeface="微软雅黑" panose="020B0503020204020204" pitchFamily="34" charset="-122"/>
                <a:ea typeface="微软雅黑" panose="020B0503020204020204" pitchFamily="34" charset="-122"/>
              </a:rPr>
              <a:t>条  </a:t>
            </a:r>
            <a:r>
              <a:rPr lang="zh-CN" altLang="en-US" sz="2000" b="1" dirty="0">
                <a:solidFill>
                  <a:srgbClr val="002060"/>
                </a:solidFill>
                <a:latin typeface="微软雅黑" panose="020B0503020204020204" pitchFamily="34" charset="-122"/>
                <a:ea typeface="微软雅黑" panose="020B0503020204020204" pitchFamily="34" charset="-122"/>
              </a:rPr>
              <a:t>拘留犯罪嫌疑人，应当填写呈请拘留报告书，经县级以上公安机关负责人批准，制作拘留证。执行拘留时，必须出示拘留证，并责令被拘留人在拘留证上签名、捺指印，拒绝签名、捺指印的，侦查人员应当注明。</a:t>
            </a:r>
            <a:endParaRPr lang="zh-CN" altLang="en-US" sz="2000" b="1" dirty="0">
              <a:solidFill>
                <a:srgbClr val="002060"/>
              </a:solidFill>
              <a:latin typeface="微软雅黑" panose="020B0503020204020204" pitchFamily="34" charset="-122"/>
              <a:ea typeface="微软雅黑" panose="020B0503020204020204" pitchFamily="34" charset="-122"/>
            </a:endParaRPr>
          </a:p>
          <a:p>
            <a:pPr marL="339725" indent="-339725" defTabSz="905510">
              <a:lnSpc>
                <a:spcPct val="80000"/>
              </a:lnSpc>
              <a:spcBef>
                <a:spcPts val="400"/>
              </a:spcBef>
              <a:defRPr sz="1900">
                <a:latin typeface="宋体"/>
                <a:ea typeface="宋体"/>
                <a:cs typeface="宋体"/>
                <a:sym typeface="宋体"/>
              </a:defRPr>
            </a:pPr>
            <a:r>
              <a:rPr lang="zh-CN" altLang="en-US" sz="2000" b="1" dirty="0">
                <a:solidFill>
                  <a:srgbClr val="002060"/>
                </a:solidFill>
                <a:latin typeface="微软雅黑" panose="020B0503020204020204" pitchFamily="34" charset="-122"/>
                <a:ea typeface="微软雅黑" panose="020B0503020204020204" pitchFamily="34" charset="-122"/>
              </a:rPr>
              <a:t>紧急情况下，对于符合本规定第一百二十四条所列情形之一的，经出示人民警察证，可以将犯罪嫌疑人口头传唤至公安机关后立即审查，办理法律手续。</a:t>
            </a:r>
            <a:endParaRPr lang="zh-CN" altLang="en-US" sz="2000" b="1" dirty="0">
              <a:solidFill>
                <a:srgbClr val="002060"/>
              </a:solidFill>
              <a:latin typeface="微软雅黑" panose="020B0503020204020204" pitchFamily="34" charset="-122"/>
              <a:ea typeface="微软雅黑" panose="020B0503020204020204" pitchFamily="34" charset="-122"/>
            </a:endParaRPr>
          </a:p>
          <a:p>
            <a:pPr marL="339725" indent="-339725" defTabSz="905510">
              <a:lnSpc>
                <a:spcPct val="80000"/>
              </a:lnSpc>
              <a:spcBef>
                <a:spcPts val="400"/>
              </a:spcBef>
              <a:defRPr sz="1900">
                <a:latin typeface="宋体"/>
                <a:ea typeface="宋体"/>
                <a:cs typeface="宋体"/>
                <a:sym typeface="宋体"/>
              </a:defRPr>
            </a:pPr>
            <a:r>
              <a:rPr lang="zh-CN" altLang="en-US" sz="2000" b="1" dirty="0">
                <a:solidFill>
                  <a:srgbClr val="FF0000"/>
                </a:solidFill>
                <a:latin typeface="微软雅黑" panose="020B0503020204020204" pitchFamily="34" charset="-122"/>
                <a:ea typeface="微软雅黑" panose="020B0503020204020204" pitchFamily="34" charset="-122"/>
              </a:rPr>
              <a:t>第</a:t>
            </a:r>
            <a:r>
              <a:rPr lang="en-US" altLang="zh-CN" sz="2000" b="1" dirty="0">
                <a:solidFill>
                  <a:srgbClr val="FF0000"/>
                </a:solidFill>
                <a:latin typeface="微软雅黑" panose="020B0503020204020204" pitchFamily="34" charset="-122"/>
                <a:ea typeface="微软雅黑" panose="020B0503020204020204" pitchFamily="34" charset="-122"/>
              </a:rPr>
              <a:t>126</a:t>
            </a:r>
            <a:r>
              <a:rPr lang="zh-CN" altLang="en-US" sz="2000" b="1" dirty="0">
                <a:solidFill>
                  <a:srgbClr val="FF0000"/>
                </a:solidFill>
                <a:latin typeface="微软雅黑" panose="020B0503020204020204" pitchFamily="34" charset="-122"/>
                <a:ea typeface="微软雅黑" panose="020B0503020204020204" pitchFamily="34" charset="-122"/>
              </a:rPr>
              <a:t>条  </a:t>
            </a:r>
            <a:r>
              <a:rPr lang="zh-CN" altLang="en-US" sz="2000" b="1" dirty="0">
                <a:solidFill>
                  <a:srgbClr val="00B050"/>
                </a:solidFill>
                <a:latin typeface="微软雅黑" panose="020B0503020204020204" pitchFamily="34" charset="-122"/>
                <a:ea typeface="微软雅黑" panose="020B0503020204020204" pitchFamily="34" charset="-122"/>
              </a:rPr>
              <a:t>拘留后，应当立即将被拘留人送看守所羁押，至迟不得超过二十四小时。</a:t>
            </a:r>
            <a:endParaRPr sz="2000" b="1" dirty="0">
              <a:solidFill>
                <a:srgbClr val="00B050"/>
              </a:solidFill>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hape 43"/>
          <p:cNvSpPr>
            <a:spLocks noGrp="1"/>
          </p:cNvSpPr>
          <p:nvPr>
            <p:ph type="title"/>
          </p:nvPr>
        </p:nvSpPr>
        <p:spPr>
          <a:xfrm>
            <a:off x="301625" y="609598"/>
            <a:ext cx="8540750" cy="494583"/>
          </a:xfrm>
          <a:prstGeom prst="rect">
            <a:avLst/>
          </a:prstGeom>
        </p:spPr>
        <p:txBody>
          <a:bodyPr>
            <a:normAutofit fontScale="90000"/>
          </a:bodyPr>
          <a:lstStyle/>
          <a:p>
            <a:endParaRPr dirty="0"/>
          </a:p>
        </p:txBody>
      </p:sp>
      <p:sp>
        <p:nvSpPr>
          <p:cNvPr id="44" name="Shape 44"/>
          <p:cNvSpPr>
            <a:spLocks noGrp="1"/>
          </p:cNvSpPr>
          <p:nvPr>
            <p:ph type="body" idx="1"/>
          </p:nvPr>
        </p:nvSpPr>
        <p:spPr>
          <a:xfrm>
            <a:off x="301625" y="1276710"/>
            <a:ext cx="8540750" cy="4822466"/>
          </a:xfrm>
          <a:prstGeom prst="rect">
            <a:avLst/>
          </a:prstGeom>
        </p:spPr>
        <p:txBody>
          <a:bodyPr>
            <a:normAutofit/>
          </a:bodyPr>
          <a:lstStyle/>
          <a:p>
            <a:pPr marL="311785" indent="-311785" defTabSz="831850">
              <a:lnSpc>
                <a:spcPct val="90000"/>
              </a:lnSpc>
              <a:spcBef>
                <a:spcPts val="500"/>
              </a:spcBef>
              <a:defRPr sz="2100"/>
            </a:pPr>
            <a:r>
              <a:rPr sz="2400" b="1" dirty="0">
                <a:solidFill>
                  <a:srgbClr val="00B0F0"/>
                </a:solidFill>
                <a:latin typeface="微软雅黑" panose="020B0503020204020204" pitchFamily="34" charset="-122"/>
                <a:ea typeface="微软雅黑" panose="020B0503020204020204" pitchFamily="34" charset="-122"/>
              </a:rPr>
              <a:t>3</a:t>
            </a:r>
            <a:r>
              <a:rPr sz="2400" b="1" dirty="0">
                <a:solidFill>
                  <a:srgbClr val="00B0F0"/>
                </a:solidFill>
                <a:latin typeface="微软雅黑" panose="020B0503020204020204" pitchFamily="34" charset="-122"/>
                <a:ea typeface="微软雅黑" panose="020B0503020204020204" pitchFamily="34" charset="-122"/>
                <a:cs typeface="宋体"/>
                <a:sym typeface="宋体"/>
              </a:rPr>
              <a:t>、具有相对独立的价值。</a:t>
            </a:r>
            <a:endParaRPr sz="2400" b="1" dirty="0">
              <a:solidFill>
                <a:srgbClr val="00B0F0"/>
              </a:solidFill>
              <a:latin typeface="微软雅黑" panose="020B0503020204020204" pitchFamily="34" charset="-122"/>
              <a:ea typeface="微软雅黑" panose="020B0503020204020204" pitchFamily="34" charset="-122"/>
              <a:cs typeface="宋体"/>
              <a:sym typeface="宋体"/>
            </a:endParaRPr>
          </a:p>
          <a:p>
            <a:pPr marL="311785" indent="-311785" defTabSz="831850">
              <a:lnSpc>
                <a:spcPct val="90000"/>
              </a:lnSpc>
              <a:spcBef>
                <a:spcPts val="500"/>
              </a:spcBef>
              <a:defRPr sz="2100"/>
            </a:pPr>
            <a:r>
              <a:rPr sz="2400" b="1" dirty="0">
                <a:latin typeface="微软雅黑" panose="020B0503020204020204" pitchFamily="34" charset="-122"/>
                <a:ea typeface="微软雅黑" panose="020B0503020204020204" pitchFamily="34" charset="-122"/>
              </a:rPr>
              <a:t>2010</a:t>
            </a:r>
            <a:r>
              <a:rPr sz="2400" b="1" dirty="0">
                <a:latin typeface="微软雅黑" panose="020B0503020204020204" pitchFamily="34" charset="-122"/>
                <a:ea typeface="微软雅黑" panose="020B0503020204020204" pitchFamily="34" charset="-122"/>
                <a:cs typeface="宋体"/>
                <a:sym typeface="宋体"/>
              </a:rPr>
              <a:t>年</a:t>
            </a:r>
            <a:r>
              <a:rPr sz="2400" b="1" dirty="0">
                <a:latin typeface="微软雅黑" panose="020B0503020204020204" pitchFamily="34" charset="-122"/>
                <a:ea typeface="微软雅黑" panose="020B0503020204020204" pitchFamily="34" charset="-122"/>
              </a:rPr>
              <a:t>8</a:t>
            </a:r>
            <a:r>
              <a:rPr sz="2400" b="1" dirty="0">
                <a:latin typeface="微软雅黑" panose="020B0503020204020204" pitchFamily="34" charset="-122"/>
                <a:ea typeface="微软雅黑" panose="020B0503020204020204" pitchFamily="34" charset="-122"/>
                <a:cs typeface="宋体"/>
                <a:sym typeface="宋体"/>
              </a:rPr>
              <a:t>月</a:t>
            </a:r>
            <a:r>
              <a:rPr sz="2400" b="1" dirty="0">
                <a:latin typeface="微软雅黑" panose="020B0503020204020204" pitchFamily="34" charset="-122"/>
                <a:ea typeface="微软雅黑" panose="020B0503020204020204" pitchFamily="34" charset="-122"/>
              </a:rPr>
              <a:t>27</a:t>
            </a:r>
            <a:r>
              <a:rPr sz="2400" b="1" dirty="0">
                <a:latin typeface="微软雅黑" panose="020B0503020204020204" pitchFamily="34" charset="-122"/>
                <a:ea typeface="微软雅黑" panose="020B0503020204020204" pitchFamily="34" charset="-122"/>
                <a:cs typeface="宋体"/>
                <a:sym typeface="宋体"/>
              </a:rPr>
              <a:t>日，</a:t>
            </a:r>
            <a:r>
              <a:rPr lang="zh-CN" altLang="en-US" sz="2400" b="1" dirty="0">
                <a:latin typeface="微软雅黑" panose="020B0503020204020204" pitchFamily="34" charset="-122"/>
                <a:ea typeface="微软雅黑" panose="020B0503020204020204" pitchFamily="34" charset="-122"/>
                <a:cs typeface="宋体"/>
                <a:sym typeface="宋体"/>
              </a:rPr>
              <a:t>时任</a:t>
            </a:r>
            <a:r>
              <a:rPr sz="2400" b="1" dirty="0" err="1">
                <a:latin typeface="微软雅黑" panose="020B0503020204020204" pitchFamily="34" charset="-122"/>
                <a:ea typeface="微软雅黑" panose="020B0503020204020204" pitchFamily="34" charset="-122"/>
                <a:cs typeface="宋体"/>
                <a:sym typeface="宋体"/>
              </a:rPr>
              <a:t>国务院总理</a:t>
            </a:r>
            <a:r>
              <a:rPr lang="zh-CN" altLang="en-US" sz="2400" b="1" dirty="0">
                <a:latin typeface="微软雅黑" panose="020B0503020204020204" pitchFamily="34" charset="-122"/>
                <a:ea typeface="微软雅黑" panose="020B0503020204020204" pitchFamily="34" charset="-122"/>
                <a:cs typeface="宋体"/>
                <a:sym typeface="宋体"/>
              </a:rPr>
              <a:t>的</a:t>
            </a:r>
            <a:r>
              <a:rPr sz="2400" b="1" dirty="0" err="1">
                <a:latin typeface="微软雅黑" panose="020B0503020204020204" pitchFamily="34" charset="-122"/>
                <a:ea typeface="微软雅黑" panose="020B0503020204020204" pitchFamily="34" charset="-122"/>
                <a:cs typeface="宋体"/>
                <a:sym typeface="宋体"/>
              </a:rPr>
              <a:t>温家宝</a:t>
            </a:r>
            <a:r>
              <a:rPr sz="2400" b="1" dirty="0" err="1">
                <a:latin typeface="微软雅黑" panose="020B0503020204020204" pitchFamily="34" charset="-122"/>
                <a:ea typeface="微软雅黑" panose="020B0503020204020204" pitchFamily="34" charset="-122"/>
              </a:rPr>
              <a:t>“</a:t>
            </a:r>
            <a:r>
              <a:rPr sz="2400" b="1" dirty="0" err="1">
                <a:latin typeface="微软雅黑" panose="020B0503020204020204" pitchFamily="34" charset="-122"/>
                <a:ea typeface="微软雅黑" panose="020B0503020204020204" pitchFamily="34" charset="-122"/>
                <a:cs typeface="宋体"/>
                <a:sym typeface="宋体"/>
              </a:rPr>
              <a:t>在全国依法行政工作会议上的讲话</a:t>
            </a:r>
            <a:r>
              <a:rPr sz="2400" b="1" dirty="0" err="1">
                <a:latin typeface="微软雅黑" panose="020B0503020204020204" pitchFamily="34" charset="-122"/>
                <a:ea typeface="微软雅黑" panose="020B0503020204020204" pitchFamily="34" charset="-122"/>
              </a:rPr>
              <a:t>”</a:t>
            </a:r>
            <a:r>
              <a:rPr sz="2400" b="1" dirty="0" err="1">
                <a:latin typeface="微软雅黑" panose="020B0503020204020204" pitchFamily="34" charset="-122"/>
                <a:ea typeface="微软雅黑" panose="020B0503020204020204" pitchFamily="34" charset="-122"/>
                <a:cs typeface="宋体"/>
                <a:sym typeface="宋体"/>
              </a:rPr>
              <a:t>中要求</a:t>
            </a:r>
            <a:r>
              <a:rPr sz="2400" b="1" dirty="0">
                <a:latin typeface="微软雅黑" panose="020B0503020204020204" pitchFamily="34" charset="-122"/>
                <a:ea typeface="微软雅黑" panose="020B0503020204020204" pitchFamily="34" charset="-122"/>
                <a:cs typeface="宋体"/>
                <a:sym typeface="宋体"/>
              </a:rPr>
              <a:t>：</a:t>
            </a:r>
            <a:endParaRPr lang="en-US" sz="2400" b="1" dirty="0">
              <a:latin typeface="微软雅黑" panose="020B0503020204020204" pitchFamily="34" charset="-122"/>
              <a:ea typeface="微软雅黑" panose="020B0503020204020204" pitchFamily="34" charset="-122"/>
              <a:cs typeface="宋体"/>
              <a:sym typeface="宋体"/>
            </a:endParaRPr>
          </a:p>
          <a:p>
            <a:pPr marL="311785" indent="-311785" defTabSz="831850">
              <a:lnSpc>
                <a:spcPct val="90000"/>
              </a:lnSpc>
              <a:spcBef>
                <a:spcPts val="500"/>
              </a:spcBef>
              <a:defRPr sz="2100"/>
            </a:pPr>
            <a:r>
              <a:rPr sz="2400" b="1" dirty="0">
                <a:solidFill>
                  <a:srgbClr val="7030A0"/>
                </a:solidFill>
                <a:latin typeface="微软雅黑" panose="020B0503020204020204" pitchFamily="34" charset="-122"/>
                <a:ea typeface="微软雅黑" panose="020B0503020204020204" pitchFamily="34" charset="-122"/>
                <a:cs typeface="宋体"/>
                <a:sym typeface="宋体"/>
              </a:rPr>
              <a:t>没有程序的民主，就没有实质的民主；没有程序的公正，就很难保证实体公正和结果公正。</a:t>
            </a:r>
            <a:r>
              <a:rPr sz="2400" b="1" dirty="0">
                <a:solidFill>
                  <a:srgbClr val="7030A0"/>
                </a:solidFill>
                <a:latin typeface="微软雅黑" panose="020B0503020204020204" pitchFamily="34" charset="-122"/>
                <a:ea typeface="微软雅黑" panose="020B0503020204020204" pitchFamily="34" charset="-122"/>
              </a:rPr>
              <a:t>程序正当既是保证公平正义的前提，也是公平正义本身的体现，实体公正或结果公正最终使依靠程序正当做保障的。 </a:t>
            </a:r>
            <a:endParaRPr lang="en-US" altLang="zh-CN" sz="2400" b="1" dirty="0">
              <a:solidFill>
                <a:srgbClr val="7030A0"/>
              </a:solidFill>
              <a:latin typeface="微软雅黑" panose="020B0503020204020204" pitchFamily="34" charset="-122"/>
              <a:ea typeface="微软雅黑" panose="020B0503020204020204" pitchFamily="34" charset="-122"/>
            </a:endParaRPr>
          </a:p>
          <a:p>
            <a:pPr marL="311785" indent="-311785" defTabSz="831850">
              <a:lnSpc>
                <a:spcPct val="90000"/>
              </a:lnSpc>
              <a:spcBef>
                <a:spcPts val="500"/>
              </a:spcBef>
              <a:defRPr sz="2100">
                <a:latin typeface="宋体"/>
                <a:ea typeface="宋体"/>
                <a:cs typeface="宋体"/>
                <a:sym typeface="宋体"/>
              </a:defRPr>
            </a:pPr>
            <a:r>
              <a:rPr lang="zh-CN" altLang="en-US" sz="2400" b="1" dirty="0">
                <a:latin typeface="微软雅黑" panose="020B0503020204020204" pitchFamily="34" charset="-122"/>
                <a:ea typeface="微软雅黑" panose="020B0503020204020204" pitchFamily="34" charset="-122"/>
              </a:rPr>
              <a:t>程序关心的是作出决定时所采取的过程或步骤；</a:t>
            </a:r>
            <a:endParaRPr lang="en-US" altLang="zh-CN" sz="2400" b="1" dirty="0">
              <a:latin typeface="微软雅黑" panose="020B0503020204020204" pitchFamily="34" charset="-122"/>
              <a:ea typeface="微软雅黑" panose="020B0503020204020204" pitchFamily="34" charset="-122"/>
            </a:endParaRPr>
          </a:p>
          <a:p>
            <a:pPr marL="311785" indent="-311785" defTabSz="831850">
              <a:lnSpc>
                <a:spcPct val="90000"/>
              </a:lnSpc>
              <a:spcBef>
                <a:spcPts val="500"/>
              </a:spcBef>
              <a:defRPr sz="2100">
                <a:latin typeface="宋体"/>
                <a:ea typeface="宋体"/>
                <a:cs typeface="宋体"/>
                <a:sym typeface="宋体"/>
              </a:defRPr>
            </a:pPr>
            <a:r>
              <a:rPr lang="zh-CN" altLang="en-US" sz="2400" b="1" dirty="0">
                <a:latin typeface="微软雅黑" panose="020B0503020204020204" pitchFamily="34" charset="-122"/>
                <a:ea typeface="微软雅黑" panose="020B0503020204020204" pitchFamily="34" charset="-122"/>
              </a:rPr>
              <a:t>实体关心的是决定的内容。</a:t>
            </a:r>
            <a:endParaRPr sz="2400"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Shape 46"/>
          <p:cNvSpPr>
            <a:spLocks noGrp="1"/>
          </p:cNvSpPr>
          <p:nvPr>
            <p:ph type="title"/>
          </p:nvPr>
        </p:nvSpPr>
        <p:spPr>
          <a:xfrm>
            <a:off x="301625" y="609600"/>
            <a:ext cx="8540750" cy="598098"/>
          </a:xfrm>
          <a:prstGeom prst="rect">
            <a:avLst/>
          </a:prstGeom>
        </p:spPr>
        <p:txBody>
          <a:bodyPr>
            <a:normAutofit fontScale="90000"/>
          </a:bodyPr>
          <a:lstStyle/>
          <a:p>
            <a:endParaRPr dirty="0"/>
          </a:p>
        </p:txBody>
      </p:sp>
      <p:sp>
        <p:nvSpPr>
          <p:cNvPr id="47" name="Shape 47"/>
          <p:cNvSpPr>
            <a:spLocks noGrp="1"/>
          </p:cNvSpPr>
          <p:nvPr>
            <p:ph type="body" idx="1"/>
          </p:nvPr>
        </p:nvSpPr>
        <p:spPr>
          <a:xfrm>
            <a:off x="301625" y="1598762"/>
            <a:ext cx="8540750" cy="4500413"/>
          </a:xfrm>
          <a:prstGeom prst="rect">
            <a:avLst/>
          </a:prstGeom>
        </p:spPr>
        <p:txBody>
          <a:bodyPr>
            <a:normAutofit/>
          </a:bodyPr>
          <a:lstStyle/>
          <a:p>
            <a:r>
              <a:rPr lang="zh-CN" altLang="en-US" sz="2400" b="1" dirty="0">
                <a:latin typeface="微软雅黑" panose="020B0503020204020204" pitchFamily="34" charset="-122"/>
                <a:ea typeface="微软雅黑" panose="020B0503020204020204" pitchFamily="34" charset="-122"/>
              </a:rPr>
              <a:t>日本学者</a:t>
            </a:r>
            <a:r>
              <a:rPr sz="2400" b="1" dirty="0" err="1">
                <a:latin typeface="微软雅黑" panose="020B0503020204020204" pitchFamily="34" charset="-122"/>
                <a:ea typeface="微软雅黑" panose="020B0503020204020204" pitchFamily="34" charset="-122"/>
              </a:rPr>
              <a:t>谷口安平</a:t>
            </a:r>
            <a:r>
              <a:rPr lang="en-US" altLang="zh-CN" sz="2400" b="1" dirty="0">
                <a:latin typeface="微软雅黑" panose="020B0503020204020204" pitchFamily="34" charset="-122"/>
                <a:ea typeface="微软雅黑" panose="020B0503020204020204" pitchFamily="34" charset="-122"/>
              </a:rPr>
              <a:t>——</a:t>
            </a:r>
            <a:endParaRPr lang="en-US" altLang="zh-CN" sz="2400" b="1" dirty="0">
              <a:latin typeface="微软雅黑" panose="020B0503020204020204" pitchFamily="34" charset="-122"/>
              <a:ea typeface="微软雅黑" panose="020B0503020204020204" pitchFamily="34" charset="-122"/>
            </a:endParaRPr>
          </a:p>
          <a:p>
            <a:pPr marL="0" indent="0">
              <a:buNone/>
            </a:pPr>
            <a:r>
              <a:rPr lang="en-US" altLang="zh-CN" sz="2400" b="1" dirty="0">
                <a:latin typeface="微软雅黑" panose="020B0503020204020204" pitchFamily="34" charset="-122"/>
                <a:ea typeface="微软雅黑" panose="020B0503020204020204" pitchFamily="34" charset="-122"/>
              </a:rPr>
              <a:t>   </a:t>
            </a:r>
            <a:r>
              <a:rPr sz="2400" b="1" dirty="0" err="1">
                <a:latin typeface="微软雅黑" panose="020B0503020204020204" pitchFamily="34" charset="-122"/>
                <a:ea typeface="微软雅黑" panose="020B0503020204020204" pitchFamily="34" charset="-122"/>
              </a:rPr>
              <a:t>我们的世界已变得越来越错综复杂，价值体系五花八门，常常很难就实体上某一点达成一致</a:t>
            </a:r>
            <a:r>
              <a:rPr sz="2400" b="1" dirty="0">
                <a:latin typeface="微软雅黑" panose="020B0503020204020204" pitchFamily="34" charset="-122"/>
                <a:ea typeface="微软雅黑" panose="020B0503020204020204" pitchFamily="34" charset="-122"/>
              </a:rPr>
              <a:t>……程序是他们唯一能达成一致的地方，而且一旦同意了程序，则无论是何结果，都必须接受所同意的程序带来的结果。正因为如此，程序公正必须被视为独立的价值。</a:t>
            </a:r>
            <a:endParaRPr lang="en-US" altLang="zh-CN" sz="2400" b="1" dirty="0">
              <a:latin typeface="微软雅黑" panose="020B0503020204020204" pitchFamily="34" charset="-122"/>
              <a:ea typeface="微软雅黑" panose="020B0503020204020204" pitchFamily="34" charset="-122"/>
            </a:endParaRPr>
          </a:p>
          <a:p>
            <a:pPr marL="0" indent="0">
              <a:buNone/>
            </a:pPr>
            <a:r>
              <a:rPr lang="zh-CN" altLang="en-US" sz="2400" b="1" dirty="0">
                <a:latin typeface="微软雅黑" panose="020B0503020204020204" pitchFamily="34" charset="-122"/>
                <a:ea typeface="微软雅黑" panose="020B0503020204020204" pitchFamily="34" charset="-122"/>
              </a:rPr>
              <a:t>法兰克福特：</a:t>
            </a:r>
            <a:r>
              <a:rPr lang="zh-CN" altLang="en-US" sz="2400" b="1" dirty="0">
                <a:solidFill>
                  <a:srgbClr val="FF0000"/>
                </a:solidFill>
                <a:latin typeface="微软雅黑" panose="020B0503020204020204" pitchFamily="34" charset="-122"/>
                <a:ea typeface="微软雅黑" panose="020B0503020204020204" pitchFamily="34" charset="-122"/>
              </a:rPr>
              <a:t>自由的历史，在很大程度上就是程序保障的历史。</a:t>
            </a:r>
            <a:endParaRPr lang="en-US" altLang="zh-CN" sz="2400" b="1" dirty="0">
              <a:solidFill>
                <a:srgbClr val="FF0000"/>
              </a:solidFill>
              <a:latin typeface="微软雅黑" panose="020B0503020204020204" pitchFamily="34" charset="-122"/>
              <a:ea typeface="微软雅黑" panose="020B0503020204020204" pitchFamily="34" charset="-122"/>
            </a:endParaRPr>
          </a:p>
          <a:p>
            <a:pPr marL="0" indent="0">
              <a:buNone/>
            </a:pPr>
            <a:r>
              <a:rPr lang="zh-CN" altLang="en-US" sz="2400" b="1" dirty="0">
                <a:latin typeface="微软雅黑" panose="020B0503020204020204" pitchFamily="34" charset="-122"/>
                <a:ea typeface="微软雅黑" panose="020B0503020204020204" pitchFamily="34" charset="-122"/>
              </a:rPr>
              <a:t>道格拉斯：</a:t>
            </a:r>
            <a:r>
              <a:rPr lang="en-US" altLang="zh-CN" sz="2400" b="1" dirty="0">
                <a:latin typeface="微软雅黑" panose="020B0503020204020204" pitchFamily="34" charset="-122"/>
                <a:ea typeface="微软雅黑" panose="020B0503020204020204" pitchFamily="34" charset="-122"/>
              </a:rPr>
              <a:t>《</a:t>
            </a:r>
            <a:r>
              <a:rPr lang="zh-CN" altLang="en-US" sz="2400" b="1" dirty="0">
                <a:solidFill>
                  <a:srgbClr val="FF0000"/>
                </a:solidFill>
                <a:latin typeface="微软雅黑" panose="020B0503020204020204" pitchFamily="34" charset="-122"/>
                <a:ea typeface="微软雅黑" panose="020B0503020204020204" pitchFamily="34" charset="-122"/>
              </a:rPr>
              <a:t>权利法案</a:t>
            </a:r>
            <a:r>
              <a:rPr lang="en-US" altLang="zh-CN" sz="2400" b="1" dirty="0">
                <a:solidFill>
                  <a:srgbClr val="FF0000"/>
                </a:solidFill>
                <a:latin typeface="微软雅黑" panose="020B0503020204020204" pitchFamily="34" charset="-122"/>
                <a:ea typeface="微软雅黑" panose="020B0503020204020204" pitchFamily="34" charset="-122"/>
              </a:rPr>
              <a:t>》</a:t>
            </a:r>
            <a:r>
              <a:rPr lang="zh-CN" altLang="en-US" sz="2400" b="1" dirty="0">
                <a:solidFill>
                  <a:srgbClr val="FF0000"/>
                </a:solidFill>
                <a:latin typeface="微软雅黑" panose="020B0503020204020204" pitchFamily="34" charset="-122"/>
                <a:ea typeface="微软雅黑" panose="020B0503020204020204" pitchFamily="34" charset="-122"/>
              </a:rPr>
              <a:t>的大部分条文都是程序的，这并非没有重要意义。正是程序决定了法治与任意之治的分野。</a:t>
            </a:r>
            <a:endParaRPr sz="2400"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b="1" dirty="0"/>
              <a:t>程序正义之源起</a:t>
            </a:r>
            <a:endParaRPr lang="zh-CN" altLang="en-US" sz="3200" b="1" dirty="0"/>
          </a:p>
        </p:txBody>
      </p:sp>
      <p:sp>
        <p:nvSpPr>
          <p:cNvPr id="3" name="文本占位符 2"/>
          <p:cNvSpPr>
            <a:spLocks noGrp="1"/>
          </p:cNvSpPr>
          <p:nvPr>
            <p:ph type="body" idx="1"/>
          </p:nvPr>
        </p:nvSpPr>
        <p:spPr>
          <a:xfrm>
            <a:off x="301625" y="1552756"/>
            <a:ext cx="8540750" cy="4546420"/>
          </a:xfrm>
        </p:spPr>
        <p:txBody>
          <a:bodyPr>
            <a:normAutofit/>
          </a:bodyPr>
          <a:lstStyle/>
          <a:p>
            <a:r>
              <a:rPr lang="zh-CN" altLang="en-US" sz="2400" b="1" dirty="0">
                <a:latin typeface="微软雅黑" panose="020B0503020204020204" pitchFamily="34" charset="-122"/>
                <a:ea typeface="微软雅黑" panose="020B0503020204020204" pitchFamily="34" charset="-122"/>
              </a:rPr>
              <a:t>正义女神的蒙眼布</a:t>
            </a:r>
            <a:endParaRPr lang="en-US" altLang="zh-CN" sz="2400" b="1" dirty="0">
              <a:latin typeface="微软雅黑" panose="020B0503020204020204" pitchFamily="34" charset="-122"/>
              <a:ea typeface="微软雅黑" panose="020B0503020204020204" pitchFamily="34" charset="-122"/>
            </a:endParaRPr>
          </a:p>
          <a:p>
            <a:r>
              <a:rPr lang="zh-CN" altLang="en-US" sz="2400" b="1" dirty="0">
                <a:latin typeface="微软雅黑" panose="020B0503020204020204" pitchFamily="34" charset="-122"/>
                <a:ea typeface="微软雅黑" panose="020B0503020204020204" pitchFamily="34" charset="-122"/>
              </a:rPr>
              <a:t>正义蒙眼布遮住裁判者的视线，与外界在空间上和思想上形成保护距离，阻断了外界的联系和干扰，在相对超脱的姿态下，根据法律精神和原则独立地思考，独立地作出判断。</a:t>
            </a:r>
            <a:endParaRPr lang="en-US" altLang="zh-CN" sz="2400" b="1" dirty="0">
              <a:latin typeface="微软雅黑" panose="020B0503020204020204" pitchFamily="34" charset="-122"/>
              <a:ea typeface="微软雅黑" panose="020B0503020204020204" pitchFamily="34" charset="-122"/>
            </a:endParaRPr>
          </a:p>
          <a:p>
            <a:r>
              <a:rPr lang="zh-CN" altLang="en-US" sz="2400" b="1" dirty="0">
                <a:latin typeface="微软雅黑" panose="020B0503020204020204" pitchFamily="34" charset="-122"/>
                <a:ea typeface="微软雅黑" panose="020B0503020204020204" pitchFamily="34" charset="-122"/>
              </a:rPr>
              <a:t>正义女神蒙住双眼折射出的是司法中立。中立是一种公平运行方式，能给予当事人以公平待遇，也能更好地促进争议有效解决。</a:t>
            </a:r>
            <a:endParaRPr lang="en-US" altLang="zh-CN" sz="2400" b="1" dirty="0">
              <a:latin typeface="微软雅黑" panose="020B0503020204020204" pitchFamily="34" charset="-122"/>
              <a:ea typeface="微软雅黑" panose="020B0503020204020204" pitchFamily="34" charset="-122"/>
            </a:endParaRPr>
          </a:p>
          <a:p>
            <a:r>
              <a:rPr lang="zh-CN" altLang="en-US" sz="2400" b="1" dirty="0">
                <a:solidFill>
                  <a:srgbClr val="FF0000"/>
                </a:solidFill>
                <a:latin typeface="微软雅黑" panose="020B0503020204020204" pitchFamily="34" charset="-122"/>
                <a:ea typeface="微软雅黑" panose="020B0503020204020204" pitchFamily="34" charset="-122"/>
              </a:rPr>
              <a:t>程序，就是正义女神的蒙眼布。</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1625" y="609600"/>
            <a:ext cx="8540750" cy="598098"/>
          </a:xfrm>
        </p:spPr>
        <p:txBody>
          <a:bodyPr>
            <a:normAutofit/>
          </a:bodyPr>
          <a:lstStyle/>
          <a:p>
            <a:endParaRPr lang="zh-CN" altLang="en-US" sz="2800" dirty="0">
              <a:latin typeface="宋体" pitchFamily="2" charset="-122"/>
              <a:ea typeface="宋体" pitchFamily="2" charset="-122"/>
            </a:endParaRPr>
          </a:p>
        </p:txBody>
      </p:sp>
      <p:sp>
        <p:nvSpPr>
          <p:cNvPr id="3" name="文本占位符 2"/>
          <p:cNvSpPr>
            <a:spLocks noGrp="1"/>
          </p:cNvSpPr>
          <p:nvPr>
            <p:ph type="body" idx="1"/>
          </p:nvPr>
        </p:nvSpPr>
        <p:spPr>
          <a:xfrm>
            <a:off x="301625" y="1345722"/>
            <a:ext cx="8540750" cy="4753454"/>
          </a:xfrm>
        </p:spPr>
        <p:txBody>
          <a:bodyPr>
            <a:normAutofit/>
          </a:bodyPr>
          <a:lstStyle/>
          <a:p>
            <a:r>
              <a:rPr lang="zh-CN" altLang="en-US" sz="2000" b="1" dirty="0">
                <a:solidFill>
                  <a:srgbClr val="7030A0"/>
                </a:solidFill>
                <a:latin typeface="微软雅黑" panose="020B0503020204020204" pitchFamily="34" charset="-122"/>
                <a:ea typeface="微软雅黑" panose="020B0503020204020204" pitchFamily="34" charset="-122"/>
              </a:rPr>
              <a:t>程序正义的观念滥觞于英国</a:t>
            </a:r>
            <a:r>
              <a:rPr lang="en-US" altLang="zh-CN" sz="2000" b="1" dirty="0">
                <a:solidFill>
                  <a:srgbClr val="7030A0"/>
                </a:solidFill>
                <a:latin typeface="微软雅黑" panose="020B0503020204020204" pitchFamily="34" charset="-122"/>
                <a:ea typeface="微软雅黑" panose="020B0503020204020204" pitchFamily="34" charset="-122"/>
              </a:rPr>
              <a:t>,</a:t>
            </a:r>
            <a:r>
              <a:rPr lang="zh-CN" altLang="en-US" sz="2000" b="1" dirty="0">
                <a:solidFill>
                  <a:srgbClr val="7030A0"/>
                </a:solidFill>
                <a:latin typeface="微软雅黑" panose="020B0503020204020204" pitchFamily="34" charset="-122"/>
                <a:ea typeface="微软雅黑" panose="020B0503020204020204" pitchFamily="34" charset="-122"/>
              </a:rPr>
              <a:t>在英国 </a:t>
            </a:r>
            <a:r>
              <a:rPr lang="en-US" altLang="zh-CN" sz="2000" b="1" dirty="0">
                <a:solidFill>
                  <a:srgbClr val="7030A0"/>
                </a:solidFill>
                <a:latin typeface="微软雅黑" panose="020B0503020204020204" pitchFamily="34" charset="-122"/>
                <a:ea typeface="微软雅黑" panose="020B0503020204020204" pitchFamily="34" charset="-122"/>
              </a:rPr>
              <a:t>,</a:t>
            </a:r>
            <a:r>
              <a:rPr lang="zh-CN" altLang="en-US" sz="2000" b="1" dirty="0">
                <a:solidFill>
                  <a:srgbClr val="7030A0"/>
                </a:solidFill>
                <a:latin typeface="微软雅黑" panose="020B0503020204020204" pitchFamily="34" charset="-122"/>
                <a:ea typeface="微软雅黑" panose="020B0503020204020204" pitchFamily="34" charset="-122"/>
              </a:rPr>
              <a:t>人们称程序正义为“自然正义”</a:t>
            </a:r>
            <a:r>
              <a:rPr lang="en-US" altLang="zh-CN" sz="2000" b="1" dirty="0">
                <a:solidFill>
                  <a:srgbClr val="7030A0"/>
                </a:solidFill>
                <a:latin typeface="微软雅黑" panose="020B0503020204020204" pitchFamily="34" charset="-122"/>
                <a:ea typeface="微软雅黑" panose="020B0503020204020204" pitchFamily="34" charset="-122"/>
              </a:rPr>
              <a:t>(natural justice)</a:t>
            </a:r>
            <a:r>
              <a:rPr lang="zh-CN" altLang="en-US" sz="2000" b="1" dirty="0">
                <a:solidFill>
                  <a:srgbClr val="7030A0"/>
                </a:solidFill>
                <a:latin typeface="微软雅黑" panose="020B0503020204020204" pitchFamily="34" charset="-122"/>
                <a:ea typeface="微软雅黑" panose="020B0503020204020204" pitchFamily="34" charset="-122"/>
              </a:rPr>
              <a:t>。</a:t>
            </a:r>
            <a:endParaRPr lang="zh-CN" altLang="en-US" sz="2000" b="1" dirty="0">
              <a:solidFill>
                <a:srgbClr val="7030A0"/>
              </a:solidFill>
              <a:latin typeface="微软雅黑" panose="020B0503020204020204" pitchFamily="34" charset="-122"/>
              <a:ea typeface="微软雅黑" panose="020B0503020204020204" pitchFamily="34" charset="-122"/>
            </a:endParaRPr>
          </a:p>
          <a:p>
            <a:r>
              <a:rPr lang="zh-CN" altLang="en-US" sz="2000" b="1" dirty="0">
                <a:solidFill>
                  <a:srgbClr val="FF0000"/>
                </a:solidFill>
                <a:latin typeface="微软雅黑" panose="020B0503020204020204" pitchFamily="34" charset="-122"/>
                <a:ea typeface="微软雅黑" panose="020B0503020204020204" pitchFamily="34" charset="-122"/>
              </a:rPr>
              <a:t>“自然正义”原则的具体内容是：</a:t>
            </a:r>
            <a:endParaRPr lang="en-US" altLang="zh-CN" sz="2000" b="1" dirty="0">
              <a:solidFill>
                <a:srgbClr val="FF0000"/>
              </a:solidFill>
              <a:latin typeface="微软雅黑" panose="020B0503020204020204" pitchFamily="34" charset="-122"/>
              <a:ea typeface="微软雅黑" panose="020B0503020204020204" pitchFamily="34" charset="-122"/>
            </a:endParaRPr>
          </a:p>
          <a:p>
            <a:r>
              <a:rPr lang="en-US" altLang="zh-CN" sz="2000" b="1" dirty="0">
                <a:solidFill>
                  <a:srgbClr val="00B050"/>
                </a:solidFill>
                <a:latin typeface="微软雅黑" panose="020B0503020204020204" pitchFamily="34" charset="-122"/>
                <a:ea typeface="微软雅黑" panose="020B0503020204020204" pitchFamily="34" charset="-122"/>
              </a:rPr>
              <a:t>(1)</a:t>
            </a:r>
            <a:r>
              <a:rPr lang="zh-CN" altLang="en-US" sz="2000" b="1" dirty="0">
                <a:solidFill>
                  <a:srgbClr val="00B050"/>
                </a:solidFill>
                <a:latin typeface="微软雅黑" panose="020B0503020204020204" pitchFamily="34" charset="-122"/>
                <a:ea typeface="微软雅黑" panose="020B0503020204020204" pitchFamily="34" charset="-122"/>
              </a:rPr>
              <a:t>任何人不得自己审理自己或与自己有利害关系的人的案件；</a:t>
            </a:r>
            <a:endParaRPr lang="en-US" altLang="zh-CN" sz="2000" b="1" dirty="0">
              <a:solidFill>
                <a:srgbClr val="00B050"/>
              </a:solidFill>
              <a:latin typeface="微软雅黑" panose="020B0503020204020204" pitchFamily="34" charset="-122"/>
              <a:ea typeface="微软雅黑" panose="020B0503020204020204" pitchFamily="34" charset="-122"/>
            </a:endParaRPr>
          </a:p>
          <a:p>
            <a:r>
              <a:rPr lang="en-US" altLang="zh-CN" sz="2000" b="1" dirty="0">
                <a:solidFill>
                  <a:srgbClr val="00B050"/>
                </a:solidFill>
                <a:latin typeface="微软雅黑" panose="020B0503020204020204" pitchFamily="34" charset="-122"/>
                <a:ea typeface="微软雅黑" panose="020B0503020204020204" pitchFamily="34" charset="-122"/>
              </a:rPr>
              <a:t>(2)</a:t>
            </a:r>
            <a:r>
              <a:rPr lang="zh-CN" altLang="en-US" sz="2000" b="1" dirty="0">
                <a:solidFill>
                  <a:srgbClr val="00B050"/>
                </a:solidFill>
                <a:latin typeface="微软雅黑" panose="020B0503020204020204" pitchFamily="34" charset="-122"/>
                <a:ea typeface="微软雅黑" panose="020B0503020204020204" pitchFamily="34" charset="-122"/>
              </a:rPr>
              <a:t>任何一方的诉词都要被听取 。</a:t>
            </a:r>
            <a:endParaRPr lang="en-US" altLang="zh-CN" sz="2000" b="1" dirty="0">
              <a:solidFill>
                <a:srgbClr val="00B050"/>
              </a:solidFill>
              <a:latin typeface="微软雅黑" panose="020B0503020204020204" pitchFamily="34" charset="-122"/>
              <a:ea typeface="微软雅黑" panose="020B0503020204020204" pitchFamily="34" charset="-122"/>
            </a:endParaRPr>
          </a:p>
          <a:p>
            <a:r>
              <a:rPr lang="zh-CN" altLang="en-US" sz="2000" b="1" dirty="0">
                <a:latin typeface="微软雅黑" panose="020B0503020204020204" pitchFamily="34" charset="-122"/>
                <a:ea typeface="微软雅黑" panose="020B0503020204020204" pitchFamily="34" charset="-122"/>
              </a:rPr>
              <a:t>自然正义原则是司法审判活动中的最低条件 </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任何人如果违反了这一原则 </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则该司法审判活动无效 。这一原则现在是英国法院采取的最基本的宪法原则 </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不仅是英国的司法程序</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就是一些非司法程序如行政程序中 </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它也是一条最基本的准则。</a:t>
            </a:r>
            <a:endParaRPr lang="en-US" altLang="zh-CN" sz="2000" b="1" dirty="0">
              <a:latin typeface="微软雅黑" panose="020B0503020204020204" pitchFamily="34" charset="-122"/>
              <a:ea typeface="微软雅黑" panose="020B0503020204020204" pitchFamily="34" charset="-122"/>
            </a:endParaRPr>
          </a:p>
          <a:p>
            <a:r>
              <a:rPr lang="zh-CN" altLang="en-US" sz="2000" b="1" dirty="0">
                <a:latin typeface="微软雅黑" panose="020B0503020204020204" pitchFamily="34" charset="-122"/>
                <a:ea typeface="微软雅黑" panose="020B0503020204020204" pitchFamily="34" charset="-122"/>
              </a:rPr>
              <a:t>“自然正义”原本是自然法上的概念 </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它在大陆法中是一个实体法的概念，指的是“杀人偿命，欠债还钱”这些不证自明的公理。</a:t>
            </a:r>
            <a:endParaRPr lang="en-US" altLang="zh-CN" sz="2000" b="1" dirty="0">
              <a:latin typeface="微软雅黑" panose="020B0503020204020204" pitchFamily="34" charset="-122"/>
              <a:ea typeface="微软雅黑" panose="020B0503020204020204" pitchFamily="34" charset="-122"/>
            </a:endParaRPr>
          </a:p>
          <a:p>
            <a:r>
              <a:rPr lang="zh-CN" altLang="en-US" sz="2000" b="1" dirty="0">
                <a:latin typeface="微软雅黑" panose="020B0503020204020204" pitchFamily="34" charset="-122"/>
                <a:ea typeface="微软雅黑" panose="020B0503020204020204" pitchFamily="34" charset="-122"/>
              </a:rPr>
              <a:t>在英国</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自然正义是一个程序概念。</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1625" y="609600"/>
            <a:ext cx="8540750" cy="540589"/>
          </a:xfrm>
        </p:spPr>
        <p:txBody>
          <a:bodyPr>
            <a:normAutofit fontScale="90000"/>
          </a:bodyPr>
          <a:lstStyle/>
          <a:p>
            <a:r>
              <a:rPr lang="zh-CN" altLang="en-US" b="1" dirty="0"/>
              <a:t>英国：国王诉剑桥大学案</a:t>
            </a:r>
            <a:endParaRPr lang="zh-CN" altLang="en-US" b="1" dirty="0"/>
          </a:p>
        </p:txBody>
      </p:sp>
      <p:sp>
        <p:nvSpPr>
          <p:cNvPr id="3" name="文本占位符 2"/>
          <p:cNvSpPr>
            <a:spLocks noGrp="1"/>
          </p:cNvSpPr>
          <p:nvPr>
            <p:ph type="body" idx="1"/>
          </p:nvPr>
        </p:nvSpPr>
        <p:spPr>
          <a:xfrm>
            <a:off x="301625" y="1259458"/>
            <a:ext cx="8540750" cy="4839718"/>
          </a:xfrm>
        </p:spPr>
        <p:txBody>
          <a:bodyPr>
            <a:normAutofit/>
          </a:bodyPr>
          <a:lstStyle/>
          <a:p>
            <a:r>
              <a:rPr lang="zh-CN" altLang="en-US" sz="2000" b="1" dirty="0">
                <a:latin typeface="微软雅黑" panose="020B0503020204020204" pitchFamily="34" charset="-122"/>
                <a:ea typeface="微软雅黑" panose="020B0503020204020204" pitchFamily="34" charset="-122"/>
              </a:rPr>
              <a:t>在司法程序中</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最早使用“自然正义”一词的是英国</a:t>
            </a:r>
            <a:r>
              <a:rPr lang="en-US" altLang="zh-CN" sz="2000" b="1" dirty="0">
                <a:latin typeface="微软雅黑" panose="020B0503020204020204" pitchFamily="34" charset="-122"/>
                <a:ea typeface="微软雅黑" panose="020B0503020204020204" pitchFamily="34" charset="-122"/>
              </a:rPr>
              <a:t>1723 </a:t>
            </a:r>
            <a:r>
              <a:rPr lang="zh-CN" altLang="en-US" sz="2000" b="1" dirty="0">
                <a:latin typeface="微软雅黑" panose="020B0503020204020204" pitchFamily="34" charset="-122"/>
                <a:ea typeface="微软雅黑" panose="020B0503020204020204" pitchFamily="34" charset="-122"/>
              </a:rPr>
              <a:t>年的一宗“国王诉剑桥大学案”。</a:t>
            </a:r>
            <a:endParaRPr lang="en-US" altLang="zh-CN" sz="2000" b="1" dirty="0">
              <a:latin typeface="微软雅黑" panose="020B0503020204020204" pitchFamily="34" charset="-122"/>
              <a:ea typeface="微软雅黑" panose="020B0503020204020204" pitchFamily="34" charset="-122"/>
            </a:endParaRPr>
          </a:p>
          <a:p>
            <a:r>
              <a:rPr lang="zh-CN" altLang="en-US" sz="2000" b="1" dirty="0">
                <a:latin typeface="微软雅黑" panose="020B0503020204020204" pitchFamily="34" charset="-122"/>
                <a:ea typeface="微软雅黑" panose="020B0503020204020204" pitchFamily="34" charset="-122"/>
              </a:rPr>
              <a:t>在该案中，被告剑桥大学取消了神学博士本特利的博士学位。而在作出这项决定的过程中，本特利没有获得任何申辩的机会。英国王座法院因此以颁发强制令的形式，为本特利恢复了学位。担任该案首席法官的普拉特评论道：“（剑桥大学）在对（本特利）进行与之不利的指控、降低其资格的时候，</a:t>
            </a:r>
            <a:r>
              <a:rPr lang="zh-CN" altLang="en-US" sz="2000" b="1" dirty="0">
                <a:solidFill>
                  <a:srgbClr val="FF0000"/>
                </a:solidFill>
                <a:latin typeface="微软雅黑" panose="020B0503020204020204" pitchFamily="34" charset="-122"/>
                <a:ea typeface="微软雅黑" panose="020B0503020204020204" pitchFamily="34" charset="-122"/>
              </a:rPr>
              <a:t>拒绝听取他的申辩，这与自然公正是不相容的”</a:t>
            </a:r>
            <a:r>
              <a:rPr lang="zh-CN" altLang="en-US" sz="2000" b="1" dirty="0">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a:p>
            <a:r>
              <a:rPr lang="zh-CN" altLang="en-US" sz="2000" b="1" dirty="0">
                <a:latin typeface="微软雅黑" panose="020B0503020204020204" pitchFamily="34" charset="-122"/>
                <a:ea typeface="微软雅黑" panose="020B0503020204020204" pitchFamily="34" charset="-122"/>
              </a:rPr>
              <a:t>在中世纪</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程序正义的原则就被看成是“事物不可移易的一部分 。因此在理论上即便是立法机关的权力也不能改变之” 。</a:t>
            </a:r>
            <a:endParaRPr lang="zh-CN" altLang="en-US" sz="2000" b="1" dirty="0">
              <a:latin typeface="微软雅黑" panose="020B0503020204020204" pitchFamily="34" charset="-122"/>
              <a:ea typeface="微软雅黑" panose="020B0503020204020204" pitchFamily="34" charset="-122"/>
            </a:endParaRPr>
          </a:p>
          <a:p>
            <a:r>
              <a:rPr lang="zh-CN" altLang="en-US" sz="2000" b="1" dirty="0">
                <a:latin typeface="微软雅黑" panose="020B0503020204020204" pitchFamily="34" charset="-122"/>
                <a:ea typeface="微软雅黑" panose="020B0503020204020204" pitchFamily="34" charset="-122"/>
              </a:rPr>
              <a:t>近现代</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自然正义作为程序正义也是凌驾于实体正义之上的。在 </a:t>
            </a:r>
            <a:r>
              <a:rPr lang="en-US" altLang="zh-CN" sz="2000" b="1" dirty="0">
                <a:latin typeface="微软雅黑" panose="020B0503020204020204" pitchFamily="34" charset="-122"/>
                <a:ea typeface="微软雅黑" panose="020B0503020204020204" pitchFamily="34" charset="-122"/>
              </a:rPr>
              <a:t>1610 </a:t>
            </a:r>
            <a:r>
              <a:rPr lang="zh-CN" altLang="en-US" sz="2000" b="1" dirty="0">
                <a:latin typeface="微软雅黑" panose="020B0503020204020204" pitchFamily="34" charset="-122"/>
                <a:ea typeface="微软雅黑" panose="020B0503020204020204" pitchFamily="34" charset="-122"/>
              </a:rPr>
              <a:t>年的一个案件中</a:t>
            </a:r>
            <a:r>
              <a:rPr lang="en-US" altLang="zh-CN" sz="2000" b="1" dirty="0">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首席法官柯克</a:t>
            </a:r>
            <a:r>
              <a:rPr lang="zh-CN" altLang="en-US" sz="2000" b="1" dirty="0">
                <a:latin typeface="微软雅黑" panose="020B0503020204020204" pitchFamily="34" charset="-122"/>
                <a:ea typeface="微软雅黑" panose="020B0503020204020204" pitchFamily="34" charset="-122"/>
              </a:rPr>
              <a:t>：</a:t>
            </a:r>
            <a:r>
              <a:rPr lang="zh-CN" altLang="en-US" sz="2000" b="1" dirty="0">
                <a:solidFill>
                  <a:srgbClr val="00B050"/>
                </a:solidFill>
                <a:latin typeface="微软雅黑" panose="020B0503020204020204" pitchFamily="34" charset="-122"/>
                <a:ea typeface="微软雅黑" panose="020B0503020204020204" pitchFamily="34" charset="-122"/>
              </a:rPr>
              <a:t>议会的法律若与自然正义相悖，就可以认定其无效 。</a:t>
            </a:r>
            <a:endParaRPr lang="en-US" altLang="zh-CN" sz="2000" b="1" dirty="0">
              <a:solidFill>
                <a:srgbClr val="00B050"/>
              </a:solidFill>
              <a:latin typeface="微软雅黑" panose="020B0503020204020204" pitchFamily="34" charset="-122"/>
              <a:ea typeface="微软雅黑" panose="020B0503020204020204" pitchFamily="34" charset="-122"/>
            </a:endParaRPr>
          </a:p>
          <a:p>
            <a:r>
              <a:rPr lang="zh-CN" altLang="en-US" sz="2000" b="1" dirty="0">
                <a:latin typeface="微软雅黑" panose="020B0503020204020204" pitchFamily="34" charset="-122"/>
                <a:ea typeface="微软雅黑" panose="020B0503020204020204" pitchFamily="34" charset="-122"/>
              </a:rPr>
              <a:t>法官</a:t>
            </a:r>
            <a:r>
              <a:rPr lang="zh-CN" altLang="en-US" sz="2000" b="1" dirty="0">
                <a:solidFill>
                  <a:srgbClr val="C00000"/>
                </a:solidFill>
                <a:latin typeface="微软雅黑" panose="020B0503020204020204" pitchFamily="34" charset="-122"/>
                <a:ea typeface="微软雅黑" panose="020B0503020204020204" pitchFamily="34" charset="-122"/>
              </a:rPr>
              <a:t>丹宁</a:t>
            </a:r>
            <a:r>
              <a:rPr lang="zh-CN" altLang="en-US" sz="2000" b="1" dirty="0">
                <a:latin typeface="微软雅黑" panose="020B0503020204020204" pitchFamily="34" charset="-122"/>
                <a:ea typeface="微软雅黑" panose="020B0503020204020204" pitchFamily="34" charset="-122"/>
              </a:rPr>
              <a:t>勋爵说：</a:t>
            </a:r>
            <a:r>
              <a:rPr lang="zh-CN" altLang="en-US" sz="2000" b="1" dirty="0">
                <a:solidFill>
                  <a:srgbClr val="0070C0"/>
                </a:solidFill>
                <a:latin typeface="微软雅黑" panose="020B0503020204020204" pitchFamily="34" charset="-122"/>
                <a:ea typeface="微软雅黑" panose="020B0503020204020204" pitchFamily="34" charset="-122"/>
              </a:rPr>
              <a:t>必须遵守正义的基本规则。它们不得不经审讯 </a:t>
            </a:r>
            <a:r>
              <a:rPr lang="en-US" altLang="zh-CN" sz="2000" b="1" dirty="0">
                <a:solidFill>
                  <a:srgbClr val="0070C0"/>
                </a:solidFill>
                <a:latin typeface="微软雅黑" panose="020B0503020204020204" pitchFamily="34" charset="-122"/>
                <a:ea typeface="微软雅黑" panose="020B0503020204020204" pitchFamily="34" charset="-122"/>
              </a:rPr>
              <a:t>,</a:t>
            </a:r>
            <a:r>
              <a:rPr lang="zh-CN" altLang="en-US" sz="2000" b="1" dirty="0">
                <a:solidFill>
                  <a:srgbClr val="0070C0"/>
                </a:solidFill>
                <a:latin typeface="微软雅黑" panose="020B0503020204020204" pitchFamily="34" charset="-122"/>
                <a:ea typeface="微软雅黑" panose="020B0503020204020204" pitchFamily="34" charset="-122"/>
              </a:rPr>
              <a:t>不给他人以辩护机会就惩罚他人 。任何与此原则相悖的合同或做法都是无效的。</a:t>
            </a:r>
            <a:endParaRPr lang="zh-CN" altLang="en-US" sz="2000" b="1" dirty="0">
              <a:solidFill>
                <a:srgbClr val="0070C0"/>
              </a:solidFill>
              <a:latin typeface="微软雅黑" panose="020B0503020204020204" pitchFamily="34" charset="-122"/>
              <a:ea typeface="微软雅黑" panose="020B0503020204020204" pitchFamily="34" charset="-122"/>
            </a:endParaRPr>
          </a:p>
          <a:p>
            <a:endParaRPr lang="zh-CN" altLang="en-US" sz="2000" dirty="0">
              <a:latin typeface="宋体" pitchFamily="2" charset="-122"/>
              <a:ea typeface="宋体" pitchFamily="2" charset="-122"/>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1625" y="609600"/>
            <a:ext cx="8540750" cy="494581"/>
          </a:xfrm>
        </p:spPr>
        <p:txBody>
          <a:bodyPr>
            <a:normAutofit fontScale="90000"/>
          </a:bodyPr>
          <a:lstStyle/>
          <a:p>
            <a:endParaRPr lang="zh-CN" altLang="en-US" dirty="0"/>
          </a:p>
        </p:txBody>
      </p:sp>
      <p:sp>
        <p:nvSpPr>
          <p:cNvPr id="3" name="文本占位符 2"/>
          <p:cNvSpPr>
            <a:spLocks noGrp="1"/>
          </p:cNvSpPr>
          <p:nvPr>
            <p:ph type="body" idx="1"/>
          </p:nvPr>
        </p:nvSpPr>
        <p:spPr>
          <a:xfrm>
            <a:off x="301625" y="1334220"/>
            <a:ext cx="8540750" cy="4764956"/>
          </a:xfrm>
        </p:spPr>
        <p:txBody>
          <a:bodyPr>
            <a:normAutofit fontScale="92500" lnSpcReduction="10000"/>
          </a:bodyPr>
          <a:lstStyle/>
          <a:p>
            <a:r>
              <a:rPr lang="zh-CN" altLang="en-US" sz="2000" b="1" dirty="0">
                <a:solidFill>
                  <a:srgbClr val="C00000"/>
                </a:solidFill>
                <a:latin typeface="微软雅黑" panose="020B0503020204020204" pitchFamily="34" charset="-122"/>
                <a:ea typeface="微软雅黑" panose="020B0503020204020204" pitchFamily="34" charset="-122"/>
              </a:rPr>
              <a:t>在美国，程序正义体现在“正当程序”原则中。</a:t>
            </a:r>
            <a:endParaRPr lang="en-US" altLang="zh-CN" sz="2000" b="1" dirty="0">
              <a:solidFill>
                <a:srgbClr val="C00000"/>
              </a:solidFill>
              <a:latin typeface="微软雅黑" panose="020B0503020204020204" pitchFamily="34" charset="-122"/>
              <a:ea typeface="微软雅黑" panose="020B0503020204020204" pitchFamily="34" charset="-122"/>
            </a:endParaRPr>
          </a:p>
          <a:p>
            <a:r>
              <a:rPr lang="zh-CN" altLang="en-US" sz="2000" b="1" dirty="0">
                <a:latin typeface="微软雅黑" panose="020B0503020204020204" pitchFamily="34" charset="-122"/>
                <a:ea typeface="微软雅黑" panose="020B0503020204020204" pitchFamily="34" charset="-122"/>
              </a:rPr>
              <a:t>正当程序原则来源于英国 </a:t>
            </a:r>
            <a:r>
              <a:rPr lang="en-US" altLang="zh-CN" sz="2000" b="1" dirty="0">
                <a:latin typeface="微软雅黑" panose="020B0503020204020204" pitchFamily="34" charset="-122"/>
                <a:ea typeface="微软雅黑" panose="020B0503020204020204" pitchFamily="34" charset="-122"/>
              </a:rPr>
              <a:t>1215 </a:t>
            </a:r>
            <a:r>
              <a:rPr lang="zh-CN" altLang="en-US" sz="2000" b="1" dirty="0">
                <a:latin typeface="微软雅黑" panose="020B0503020204020204" pitchFamily="34" charset="-122"/>
                <a:ea typeface="微软雅黑" panose="020B0503020204020204" pitchFamily="34" charset="-122"/>
              </a:rPr>
              <a:t>年的</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大宪章</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其第</a:t>
            </a:r>
            <a:r>
              <a:rPr lang="en-US" altLang="zh-CN" sz="2000" b="1" dirty="0">
                <a:latin typeface="微软雅黑" panose="020B0503020204020204" pitchFamily="34" charset="-122"/>
                <a:ea typeface="微软雅黑" panose="020B0503020204020204" pitchFamily="34" charset="-122"/>
              </a:rPr>
              <a:t>39</a:t>
            </a:r>
            <a:r>
              <a:rPr lang="zh-CN" altLang="en-US" sz="2000" b="1" dirty="0">
                <a:latin typeface="微软雅黑" panose="020B0503020204020204" pitchFamily="34" charset="-122"/>
                <a:ea typeface="微软雅黑" panose="020B0503020204020204" pitchFamily="34" charset="-122"/>
              </a:rPr>
              <a:t>条规定：国王允诺“任何自由人不得被逮捕、监禁、侵占财产</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流放或以任何方式杀害</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除非他受到贵族法官或国家法律的审判。”后来这一条被解释为要求有陪审团的审判。</a:t>
            </a:r>
            <a:endParaRPr lang="en-US" altLang="zh-CN" sz="2000" b="1" dirty="0">
              <a:latin typeface="微软雅黑" panose="020B0503020204020204" pitchFamily="34" charset="-122"/>
              <a:ea typeface="微软雅黑" panose="020B0503020204020204" pitchFamily="34" charset="-122"/>
            </a:endParaRPr>
          </a:p>
          <a:p>
            <a:r>
              <a:rPr lang="en-US" altLang="zh-CN" sz="2000" b="1" dirty="0">
                <a:latin typeface="微软雅黑" panose="020B0503020204020204" pitchFamily="34" charset="-122"/>
                <a:ea typeface="微软雅黑" panose="020B0503020204020204" pitchFamily="34" charset="-122"/>
              </a:rPr>
              <a:t>1791</a:t>
            </a:r>
            <a:r>
              <a:rPr lang="zh-CN" altLang="en-US" sz="2000" b="1" dirty="0">
                <a:latin typeface="微软雅黑" panose="020B0503020204020204" pitchFamily="34" charset="-122"/>
                <a:ea typeface="微软雅黑" panose="020B0503020204020204" pitchFamily="34" charset="-122"/>
              </a:rPr>
              <a:t>年的美国宪法修正案中</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正当程序原则被确立为一项基本的原则。</a:t>
            </a:r>
            <a:endParaRPr lang="en-US" altLang="zh-CN" sz="2000" b="1" dirty="0">
              <a:latin typeface="微软雅黑" panose="020B0503020204020204" pitchFamily="34" charset="-122"/>
              <a:ea typeface="微软雅黑" panose="020B0503020204020204" pitchFamily="34" charset="-122"/>
            </a:endParaRPr>
          </a:p>
          <a:p>
            <a:r>
              <a:rPr lang="zh-CN" altLang="en-US" sz="2000" b="1" dirty="0">
                <a:latin typeface="微软雅黑" panose="020B0503020204020204" pitchFamily="34" charset="-122"/>
                <a:ea typeface="微软雅黑" panose="020B0503020204020204" pitchFamily="34" charset="-122"/>
              </a:rPr>
              <a:t>美国宪法第 </a:t>
            </a:r>
            <a:r>
              <a:rPr lang="en-US" altLang="zh-CN" sz="2000" b="1" dirty="0">
                <a:latin typeface="微软雅黑" panose="020B0503020204020204" pitchFamily="34" charset="-122"/>
                <a:ea typeface="微软雅黑" panose="020B0503020204020204" pitchFamily="34" charset="-122"/>
              </a:rPr>
              <a:t>5 </a:t>
            </a:r>
            <a:r>
              <a:rPr lang="zh-CN" altLang="en-US" sz="2000" b="1" dirty="0">
                <a:latin typeface="微软雅黑" panose="020B0503020204020204" pitchFamily="34" charset="-122"/>
                <a:ea typeface="微软雅黑" panose="020B0503020204020204" pitchFamily="34" charset="-122"/>
              </a:rPr>
              <a:t>条修正案规定</a:t>
            </a:r>
            <a:r>
              <a:rPr lang="en-US" altLang="zh-CN" sz="2000" b="1" dirty="0">
                <a:solidFill>
                  <a:srgbClr val="C00000"/>
                </a:solidFill>
                <a:latin typeface="微软雅黑" panose="020B0503020204020204" pitchFamily="34" charset="-122"/>
                <a:ea typeface="微软雅黑" panose="020B0503020204020204" pitchFamily="34" charset="-122"/>
              </a:rPr>
              <a:t>:“</a:t>
            </a:r>
            <a:r>
              <a:rPr lang="zh-CN" altLang="en-US" sz="2000" b="1" dirty="0">
                <a:solidFill>
                  <a:srgbClr val="C00000"/>
                </a:solidFill>
                <a:latin typeface="微软雅黑" panose="020B0503020204020204" pitchFamily="34" charset="-122"/>
                <a:ea typeface="微软雅黑" panose="020B0503020204020204" pitchFamily="34" charset="-122"/>
              </a:rPr>
              <a:t>非经正当的法律程序</a:t>
            </a:r>
            <a:r>
              <a:rPr lang="en-US" altLang="zh-CN" sz="2000" b="1" dirty="0">
                <a:solidFill>
                  <a:srgbClr val="C00000"/>
                </a:solidFill>
                <a:latin typeface="微软雅黑" panose="020B0503020204020204" pitchFamily="34" charset="-122"/>
                <a:ea typeface="微软雅黑" panose="020B0503020204020204" pitchFamily="34" charset="-122"/>
              </a:rPr>
              <a:t>, </a:t>
            </a:r>
            <a:r>
              <a:rPr lang="zh-CN" altLang="en-US" sz="2000" b="1" dirty="0">
                <a:solidFill>
                  <a:srgbClr val="C00000"/>
                </a:solidFill>
                <a:latin typeface="微软雅黑" panose="020B0503020204020204" pitchFamily="34" charset="-122"/>
                <a:ea typeface="微软雅黑" panose="020B0503020204020204" pitchFamily="34" charset="-122"/>
              </a:rPr>
              <a:t>不得剥夺任何人的生命、自由或财产。”</a:t>
            </a:r>
            <a:endParaRPr lang="zh-CN" altLang="en-US" sz="2000" b="1" dirty="0">
              <a:solidFill>
                <a:srgbClr val="C00000"/>
              </a:solidFill>
              <a:latin typeface="微软雅黑" panose="020B0503020204020204" pitchFamily="34" charset="-122"/>
              <a:ea typeface="微软雅黑" panose="020B0503020204020204" pitchFamily="34" charset="-122"/>
            </a:endParaRPr>
          </a:p>
          <a:p>
            <a:r>
              <a:rPr lang="en-US" altLang="zh-CN" sz="2000" b="1" dirty="0">
                <a:latin typeface="微软雅黑" panose="020B0503020204020204" pitchFamily="34" charset="-122"/>
                <a:ea typeface="微软雅黑" panose="020B0503020204020204" pitchFamily="34" charset="-122"/>
              </a:rPr>
              <a:t>1867 </a:t>
            </a:r>
            <a:r>
              <a:rPr lang="zh-CN" altLang="en-US" sz="2000" b="1" dirty="0">
                <a:latin typeface="微软雅黑" panose="020B0503020204020204" pitchFamily="34" charset="-122"/>
                <a:ea typeface="微软雅黑" panose="020B0503020204020204" pitchFamily="34" charset="-122"/>
              </a:rPr>
              <a:t>年的第</a:t>
            </a:r>
            <a:r>
              <a:rPr lang="en-US" altLang="zh-CN" sz="2000" b="1" dirty="0">
                <a:latin typeface="微软雅黑" panose="020B0503020204020204" pitchFamily="34" charset="-122"/>
                <a:ea typeface="微软雅黑" panose="020B0503020204020204" pitchFamily="34" charset="-122"/>
              </a:rPr>
              <a:t>14</a:t>
            </a:r>
            <a:r>
              <a:rPr lang="zh-CN" altLang="en-US" sz="2000" b="1" dirty="0">
                <a:latin typeface="微软雅黑" panose="020B0503020204020204" pitchFamily="34" charset="-122"/>
                <a:ea typeface="微软雅黑" panose="020B0503020204020204" pitchFamily="34" charset="-122"/>
              </a:rPr>
              <a:t>条修正案中对各州也提出了相同的要求。</a:t>
            </a:r>
            <a:endParaRPr lang="en-US" altLang="zh-CN" sz="2000" b="1" dirty="0">
              <a:latin typeface="微软雅黑" panose="020B0503020204020204" pitchFamily="34" charset="-122"/>
              <a:ea typeface="微软雅黑" panose="020B0503020204020204" pitchFamily="34" charset="-122"/>
            </a:endParaRPr>
          </a:p>
          <a:p>
            <a:r>
              <a:rPr lang="zh-CN" altLang="en-US" sz="2000" b="1" dirty="0">
                <a:latin typeface="微软雅黑" panose="020B0503020204020204" pitchFamily="34" charset="-122"/>
                <a:ea typeface="微软雅黑" panose="020B0503020204020204" pitchFamily="34" charset="-122"/>
              </a:rPr>
              <a:t>美国</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布莱克法律词典</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对“正当程序”的解释是</a:t>
            </a:r>
            <a:r>
              <a:rPr lang="en-US" altLang="zh-CN" sz="2000" b="1" dirty="0">
                <a:latin typeface="微软雅黑" panose="020B0503020204020204" pitchFamily="34" charset="-122"/>
                <a:ea typeface="微软雅黑" panose="020B0503020204020204" pitchFamily="34" charset="-122"/>
              </a:rPr>
              <a:t>:“</a:t>
            </a:r>
            <a:r>
              <a:rPr lang="zh-CN" altLang="en-US" sz="2000" b="1" dirty="0">
                <a:solidFill>
                  <a:srgbClr val="00B050"/>
                </a:solidFill>
                <a:latin typeface="微软雅黑" panose="020B0503020204020204" pitchFamily="34" charset="-122"/>
                <a:ea typeface="微软雅黑" panose="020B0503020204020204" pitchFamily="34" charset="-122"/>
              </a:rPr>
              <a:t>程序性正当程序的中心含义是指：任何权益受判决结果影响的当事人都享有被告知和陈述自己意见并获得听审的权利 </a:t>
            </a:r>
            <a:r>
              <a:rPr lang="en-US" altLang="zh-CN" sz="2000" b="1" dirty="0">
                <a:solidFill>
                  <a:srgbClr val="00B050"/>
                </a:solidFill>
                <a:latin typeface="微软雅黑" panose="020B0503020204020204" pitchFamily="34" charset="-122"/>
                <a:ea typeface="微软雅黑" panose="020B0503020204020204" pitchFamily="34" charset="-122"/>
              </a:rPr>
              <a:t>……</a:t>
            </a:r>
            <a:r>
              <a:rPr lang="zh-CN" altLang="en-US" sz="2000" b="1" dirty="0">
                <a:solidFill>
                  <a:srgbClr val="00B050"/>
                </a:solidFill>
                <a:latin typeface="微软雅黑" panose="020B0503020204020204" pitchFamily="34" charset="-122"/>
                <a:ea typeface="微软雅黑" panose="020B0503020204020204" pitchFamily="34" charset="-122"/>
              </a:rPr>
              <a:t>合理的告知 、获得听审的机会以及提出主张和抗辩等都包含在程序性正当程序一语中 。</a:t>
            </a:r>
            <a:r>
              <a:rPr lang="zh-CN" altLang="en-US" sz="2000" b="1" dirty="0">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a:p>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牛津法律大辞典</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正当程序被认为是要求向当事人提供律师</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律师不在场时不受审问，不采用非法获得的证据。</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1625" y="609600"/>
            <a:ext cx="8540750" cy="649857"/>
          </a:xfrm>
        </p:spPr>
        <p:txBody>
          <a:bodyPr>
            <a:normAutofit fontScale="90000"/>
          </a:bodyPr>
          <a:lstStyle/>
          <a:p>
            <a:endParaRPr lang="zh-CN" altLang="en-US"/>
          </a:p>
        </p:txBody>
      </p:sp>
      <p:sp>
        <p:nvSpPr>
          <p:cNvPr id="3" name="文本占位符 2"/>
          <p:cNvSpPr>
            <a:spLocks noGrp="1"/>
          </p:cNvSpPr>
          <p:nvPr>
            <p:ph type="body" idx="1"/>
          </p:nvPr>
        </p:nvSpPr>
        <p:spPr>
          <a:xfrm>
            <a:off x="301625" y="1529752"/>
            <a:ext cx="8540750" cy="4569424"/>
          </a:xfrm>
        </p:spPr>
        <p:txBody>
          <a:bodyPr>
            <a:normAutofit/>
          </a:bodyPr>
          <a:lstStyle/>
          <a:p>
            <a:r>
              <a:rPr lang="zh-CN" altLang="en-US" sz="2400" b="1" dirty="0">
                <a:latin typeface="微软雅黑" panose="020B0503020204020204" pitchFamily="34" charset="-122"/>
                <a:ea typeface="微软雅黑" panose="020B0503020204020204" pitchFamily="34" charset="-122"/>
              </a:rPr>
              <a:t>美国对程序的重视同样超过了对实体的重视 。</a:t>
            </a:r>
            <a:endParaRPr lang="en-US" altLang="zh-CN" sz="2400" b="1" dirty="0">
              <a:latin typeface="微软雅黑" panose="020B0503020204020204" pitchFamily="34" charset="-122"/>
              <a:ea typeface="微软雅黑" panose="020B0503020204020204" pitchFamily="34" charset="-122"/>
            </a:endParaRPr>
          </a:p>
          <a:p>
            <a:r>
              <a:rPr lang="zh-CN" altLang="en-US" sz="2400" b="1" dirty="0">
                <a:solidFill>
                  <a:srgbClr val="7030A0"/>
                </a:solidFill>
                <a:latin typeface="微软雅黑" panose="020B0503020204020204" pitchFamily="34" charset="-122"/>
                <a:ea typeface="微软雅黑" panose="020B0503020204020204" pitchFamily="34" charset="-122"/>
              </a:rPr>
              <a:t>美国最高法院的大法官杰克逊曾说道</a:t>
            </a:r>
            <a:r>
              <a:rPr lang="en-US" altLang="zh-CN" sz="2400" b="1" dirty="0">
                <a:solidFill>
                  <a:srgbClr val="7030A0"/>
                </a:solidFill>
                <a:latin typeface="微软雅黑" panose="020B0503020204020204" pitchFamily="34" charset="-122"/>
                <a:ea typeface="微软雅黑" panose="020B0503020204020204" pitchFamily="34" charset="-122"/>
              </a:rPr>
              <a:t>:</a:t>
            </a:r>
            <a:endParaRPr lang="en-US" altLang="zh-CN" sz="2400" b="1" dirty="0">
              <a:solidFill>
                <a:srgbClr val="7030A0"/>
              </a:solidFill>
              <a:latin typeface="微软雅黑" panose="020B0503020204020204" pitchFamily="34" charset="-122"/>
              <a:ea typeface="微软雅黑" panose="020B0503020204020204" pitchFamily="34" charset="-122"/>
            </a:endParaRPr>
          </a:p>
          <a:p>
            <a:r>
              <a:rPr lang="zh-CN" altLang="en-US" sz="2400" b="1" dirty="0">
                <a:solidFill>
                  <a:srgbClr val="C00000"/>
                </a:solidFill>
                <a:latin typeface="微软雅黑" panose="020B0503020204020204" pitchFamily="34" charset="-122"/>
                <a:ea typeface="微软雅黑" panose="020B0503020204020204" pitchFamily="34" charset="-122"/>
              </a:rPr>
              <a:t>程序的公平性和稳定性是自由的不可或缺的要素。只要程序适用公平、不偏不倚，严厉的实体法也可以忍受。事实上</a:t>
            </a:r>
            <a:r>
              <a:rPr lang="en-US" altLang="zh-CN" sz="2400" b="1" dirty="0">
                <a:solidFill>
                  <a:srgbClr val="C00000"/>
                </a:solidFill>
                <a:latin typeface="微软雅黑" panose="020B0503020204020204" pitchFamily="34" charset="-122"/>
                <a:ea typeface="微软雅黑" panose="020B0503020204020204" pitchFamily="34" charset="-122"/>
              </a:rPr>
              <a:t>, </a:t>
            </a:r>
            <a:r>
              <a:rPr lang="zh-CN" altLang="en-US" sz="2400" b="1" dirty="0">
                <a:solidFill>
                  <a:srgbClr val="C00000"/>
                </a:solidFill>
                <a:latin typeface="微软雅黑" panose="020B0503020204020204" pitchFamily="34" charset="-122"/>
                <a:ea typeface="微软雅黑" panose="020B0503020204020204" pitchFamily="34" charset="-122"/>
              </a:rPr>
              <a:t>如果要选择的话，人们宁愿生活在忠实适用我们英美法程序的苏联实体法制度下 </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而不是由苏联程序所实施的我们的实体法制度下。</a:t>
            </a:r>
            <a:endParaRPr lang="en-US" altLang="zh-CN" sz="2400" b="1" dirty="0">
              <a:solidFill>
                <a:srgbClr val="C00000"/>
              </a:solidFill>
              <a:latin typeface="微软雅黑" panose="020B0503020204020204" pitchFamily="34" charset="-122"/>
              <a:ea typeface="微软雅黑" panose="020B0503020204020204" pitchFamily="34" charset="-122"/>
            </a:endParaRPr>
          </a:p>
          <a:p>
            <a:r>
              <a:rPr lang="zh-CN" altLang="en-US" sz="2400" b="1" dirty="0">
                <a:latin typeface="微软雅黑" panose="020B0503020204020204" pitchFamily="34" charset="-122"/>
                <a:ea typeface="微软雅黑" panose="020B0503020204020204" pitchFamily="34" charset="-122"/>
              </a:rPr>
              <a:t>这一段话尽管是在冷战时期说的</a:t>
            </a:r>
            <a:r>
              <a:rPr lang="en-US" altLang="zh-CN" sz="2400" b="1" dirty="0">
                <a:latin typeface="微软雅黑" panose="020B0503020204020204" pitchFamily="34" charset="-122"/>
                <a:ea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rPr>
              <a:t>包含着意识形态的积怨 </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但是</a:t>
            </a:r>
            <a:r>
              <a:rPr lang="en-US" altLang="zh-CN" sz="2400" b="1" dirty="0">
                <a:latin typeface="微软雅黑" panose="020B0503020204020204" pitchFamily="34" charset="-122"/>
                <a:ea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rPr>
              <a:t>从中我们可以看出美国法律重程序、轻实体的思想。</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Shape 49"/>
          <p:cNvSpPr>
            <a:spLocks noGrp="1"/>
          </p:cNvSpPr>
          <p:nvPr>
            <p:ph type="title"/>
          </p:nvPr>
        </p:nvSpPr>
        <p:spPr>
          <a:xfrm>
            <a:off x="301625" y="609599"/>
            <a:ext cx="8540750" cy="753376"/>
          </a:xfrm>
          <a:prstGeom prst="rect">
            <a:avLst/>
          </a:prstGeom>
        </p:spPr>
        <p:txBody>
          <a:bodyPr>
            <a:normAutofit/>
          </a:bodyPr>
          <a:lstStyle>
            <a:lvl1pPr>
              <a:defRPr>
                <a:latin typeface="宋体"/>
                <a:ea typeface="宋体"/>
                <a:cs typeface="宋体"/>
                <a:sym typeface="宋体"/>
              </a:defRPr>
            </a:lvl1pPr>
          </a:lstStyle>
          <a:p>
            <a:r>
              <a:rPr sz="3200" b="1" dirty="0" err="1">
                <a:latin typeface="微软雅黑" panose="020B0503020204020204" pitchFamily="34" charset="-122"/>
                <a:ea typeface="微软雅黑" panose="020B0503020204020204" pitchFamily="34" charset="-122"/>
              </a:rPr>
              <a:t>纯粹的程序正义：程序独立价值</a:t>
            </a:r>
            <a:endParaRPr sz="3200" b="1" dirty="0">
              <a:latin typeface="微软雅黑" panose="020B0503020204020204" pitchFamily="34" charset="-122"/>
              <a:ea typeface="微软雅黑" panose="020B0503020204020204" pitchFamily="34" charset="-122"/>
            </a:endParaRPr>
          </a:p>
        </p:txBody>
      </p:sp>
      <p:sp>
        <p:nvSpPr>
          <p:cNvPr id="50" name="Shape 50"/>
          <p:cNvSpPr>
            <a:spLocks noGrp="1"/>
          </p:cNvSpPr>
          <p:nvPr>
            <p:ph type="body" idx="1"/>
          </p:nvPr>
        </p:nvSpPr>
        <p:spPr>
          <a:xfrm>
            <a:off x="301625" y="1581510"/>
            <a:ext cx="8540750" cy="4517666"/>
          </a:xfrm>
          <a:prstGeom prst="rect">
            <a:avLst/>
          </a:prstGeom>
        </p:spPr>
        <p:txBody>
          <a:bodyPr/>
          <a:lstStyle/>
          <a:p>
            <a:pPr marL="328930" indent="-328930" defTabSz="877570">
              <a:lnSpc>
                <a:spcPct val="90000"/>
              </a:lnSpc>
              <a:spcBef>
                <a:spcPts val="600"/>
              </a:spcBef>
              <a:defRPr sz="2600">
                <a:latin typeface="宋体"/>
                <a:ea typeface="宋体"/>
                <a:cs typeface="宋体"/>
                <a:sym typeface="宋体"/>
              </a:defRPr>
            </a:pPr>
            <a:r>
              <a:rPr b="1" dirty="0" err="1">
                <a:latin typeface="微软雅黑" panose="020B0503020204020204" pitchFamily="34" charset="-122"/>
                <a:ea typeface="微软雅黑" panose="020B0503020204020204" pitchFamily="34" charset="-122"/>
              </a:rPr>
              <a:t>罗尔斯指出</a:t>
            </a:r>
            <a:r>
              <a:rPr b="1" dirty="0">
                <a:latin typeface="微软雅黑" panose="020B0503020204020204" pitchFamily="34" charset="-122"/>
                <a:ea typeface="微软雅黑" panose="020B0503020204020204" pitchFamily="34" charset="-122"/>
              </a:rPr>
              <a:t>：</a:t>
            </a:r>
            <a:r>
              <a:rPr b="1" dirty="0">
                <a:latin typeface="微软雅黑" panose="020B0503020204020204" pitchFamily="34" charset="-122"/>
                <a:ea typeface="微软雅黑" panose="020B0503020204020204" pitchFamily="34" charset="-122"/>
                <a:sym typeface="Arial" panose="020B0704020202020204"/>
              </a:rPr>
              <a:t>“</a:t>
            </a:r>
            <a:r>
              <a:rPr b="1" dirty="0" err="1">
                <a:latin typeface="微软雅黑" panose="020B0503020204020204" pitchFamily="34" charset="-122"/>
                <a:ea typeface="微软雅黑" panose="020B0503020204020204" pitchFamily="34" charset="-122"/>
              </a:rPr>
              <a:t>要设计一种社会制度，使它无论出现怎样的一种结果，都是正当的（</a:t>
            </a:r>
            <a:r>
              <a:rPr b="1" dirty="0" err="1">
                <a:latin typeface="微软雅黑" panose="020B0503020204020204" pitchFamily="34" charset="-122"/>
                <a:ea typeface="微软雅黑" panose="020B0503020204020204" pitchFamily="34" charset="-122"/>
                <a:sym typeface="Arial" panose="020B0704020202020204"/>
              </a:rPr>
              <a:t>just</a:t>
            </a:r>
            <a:r>
              <a:rPr b="1" dirty="0">
                <a:latin typeface="微软雅黑" panose="020B0503020204020204" pitchFamily="34" charset="-122"/>
                <a:ea typeface="微软雅黑" panose="020B0503020204020204" pitchFamily="34" charset="-122"/>
              </a:rPr>
              <a:t>）</a:t>
            </a:r>
            <a:r>
              <a:rPr b="1" dirty="0">
                <a:latin typeface="微软雅黑" panose="020B0503020204020204" pitchFamily="34" charset="-122"/>
                <a:ea typeface="微软雅黑" panose="020B0503020204020204" pitchFamily="34" charset="-122"/>
                <a:sym typeface="Arial" panose="020B0704020202020204"/>
              </a:rPr>
              <a:t>”</a:t>
            </a:r>
            <a:endParaRPr b="1" dirty="0">
              <a:latin typeface="微软雅黑" panose="020B0503020204020204" pitchFamily="34" charset="-122"/>
              <a:ea typeface="微软雅黑" panose="020B0503020204020204" pitchFamily="34" charset="-122"/>
              <a:sym typeface="Arial" panose="020B0704020202020204"/>
            </a:endParaRPr>
          </a:p>
          <a:p>
            <a:pPr marL="328930" indent="-328930" defTabSz="877570">
              <a:lnSpc>
                <a:spcPct val="90000"/>
              </a:lnSpc>
              <a:spcBef>
                <a:spcPts val="600"/>
              </a:spcBef>
              <a:defRPr sz="2600">
                <a:latin typeface="宋体"/>
                <a:ea typeface="宋体"/>
                <a:cs typeface="宋体"/>
                <a:sym typeface="宋体"/>
              </a:defRPr>
            </a:pPr>
            <a:r>
              <a:rPr b="1" dirty="0" err="1">
                <a:latin typeface="微软雅黑" panose="020B0503020204020204" pitchFamily="34" charset="-122"/>
                <a:ea typeface="微软雅黑" panose="020B0503020204020204" pitchFamily="34" charset="-122"/>
              </a:rPr>
              <a:t>设计怎样的社会制度才能做到无论如何分配都能够保证结果的正当性，让人们能够接受和服从</a:t>
            </a:r>
            <a:r>
              <a:rPr b="1" dirty="0">
                <a:latin typeface="微软雅黑" panose="020B0503020204020204" pitchFamily="34" charset="-122"/>
                <a:ea typeface="微软雅黑" panose="020B0503020204020204" pitchFamily="34" charset="-122"/>
              </a:rPr>
              <a:t> 。</a:t>
            </a:r>
            <a:endParaRPr b="1" dirty="0">
              <a:latin typeface="微软雅黑" panose="020B0503020204020204" pitchFamily="34" charset="-122"/>
              <a:ea typeface="微软雅黑" panose="020B0503020204020204" pitchFamily="34" charset="-122"/>
            </a:endParaRPr>
          </a:p>
          <a:p>
            <a:pPr marL="328930" indent="-328930" defTabSz="877570">
              <a:lnSpc>
                <a:spcPct val="90000"/>
              </a:lnSpc>
              <a:spcBef>
                <a:spcPts val="600"/>
              </a:spcBef>
              <a:defRPr sz="2600">
                <a:latin typeface="宋体"/>
                <a:ea typeface="宋体"/>
                <a:cs typeface="宋体"/>
                <a:sym typeface="宋体"/>
              </a:defRPr>
            </a:pPr>
            <a:r>
              <a:rPr b="1" dirty="0">
                <a:solidFill>
                  <a:srgbClr val="FF0000"/>
                </a:solidFill>
                <a:latin typeface="微软雅黑" panose="020B0503020204020204" pitchFamily="34" charset="-122"/>
                <a:ea typeface="微软雅黑" panose="020B0503020204020204" pitchFamily="34" charset="-122"/>
              </a:rPr>
              <a:t>完</a:t>
            </a:r>
            <a:r>
              <a:rPr lang="zh-CN" altLang="en-US" b="1" dirty="0">
                <a:solidFill>
                  <a:srgbClr val="FF0000"/>
                </a:solidFill>
                <a:latin typeface="微软雅黑" panose="020B0503020204020204" pitchFamily="34" charset="-122"/>
                <a:ea typeface="微软雅黑" panose="020B0503020204020204" pitchFamily="34" charset="-122"/>
              </a:rPr>
              <a:t>美</a:t>
            </a:r>
            <a:r>
              <a:rPr b="1" dirty="0" err="1">
                <a:solidFill>
                  <a:srgbClr val="FF0000"/>
                </a:solidFill>
                <a:latin typeface="微软雅黑" panose="020B0503020204020204" pitchFamily="34" charset="-122"/>
                <a:ea typeface="微软雅黑" panose="020B0503020204020204" pitchFamily="34" charset="-122"/>
              </a:rPr>
              <a:t>的程序正义应当具有两个基本特征</a:t>
            </a:r>
            <a:r>
              <a:rPr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pPr marL="0" indent="0" defTabSz="877570">
              <a:lnSpc>
                <a:spcPct val="90000"/>
              </a:lnSpc>
              <a:spcBef>
                <a:spcPts val="600"/>
              </a:spcBef>
              <a:buNone/>
              <a:defRPr sz="2600">
                <a:latin typeface="宋体"/>
                <a:ea typeface="宋体"/>
                <a:cs typeface="宋体"/>
                <a:sym typeface="宋体"/>
              </a:defRPr>
            </a:pPr>
            <a:r>
              <a:rPr lang="en-US" altLang="zh-CN" b="1" dirty="0">
                <a:latin typeface="微软雅黑" panose="020B0503020204020204" pitchFamily="34" charset="-122"/>
                <a:ea typeface="微软雅黑" panose="020B0503020204020204" pitchFamily="34" charset="-122"/>
              </a:rPr>
              <a:t>   </a:t>
            </a:r>
            <a:r>
              <a:rPr b="1" dirty="0" err="1">
                <a:latin typeface="微软雅黑" panose="020B0503020204020204" pitchFamily="34" charset="-122"/>
                <a:ea typeface="微软雅黑" panose="020B0503020204020204" pitchFamily="34" charset="-122"/>
              </a:rPr>
              <a:t>一是公平的分配时应有一个独立的标准，这一标准应独立于并先于随后设定的程序</a:t>
            </a:r>
            <a:r>
              <a:rPr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pPr marL="0" indent="0" defTabSz="877570">
              <a:lnSpc>
                <a:spcPct val="90000"/>
              </a:lnSpc>
              <a:spcBef>
                <a:spcPts val="600"/>
              </a:spcBef>
              <a:buNone/>
              <a:defRPr sz="2600">
                <a:latin typeface="宋体"/>
                <a:ea typeface="宋体"/>
                <a:cs typeface="宋体"/>
                <a:sym typeface="宋体"/>
              </a:defRPr>
            </a:pPr>
            <a:r>
              <a:rPr lang="en-US" altLang="zh-CN" b="1" dirty="0">
                <a:latin typeface="微软雅黑" panose="020B0503020204020204" pitchFamily="34" charset="-122"/>
                <a:ea typeface="微软雅黑" panose="020B0503020204020204" pitchFamily="34" charset="-122"/>
              </a:rPr>
              <a:t>   </a:t>
            </a:r>
            <a:r>
              <a:rPr b="1" dirty="0" err="1">
                <a:latin typeface="微软雅黑" panose="020B0503020204020204" pitchFamily="34" charset="-122"/>
                <a:ea typeface="微软雅黑" panose="020B0503020204020204" pitchFamily="34" charset="-122"/>
              </a:rPr>
              <a:t>二是设计一种保证获得期望的结果的程序是可能的</a:t>
            </a:r>
            <a:r>
              <a:rPr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pPr marL="328930" indent="-328930" defTabSz="877570">
              <a:lnSpc>
                <a:spcPct val="90000"/>
              </a:lnSpc>
              <a:spcBef>
                <a:spcPts val="600"/>
              </a:spcBef>
              <a:defRPr sz="2600">
                <a:latin typeface="宋体"/>
                <a:ea typeface="宋体"/>
                <a:cs typeface="宋体"/>
                <a:sym typeface="宋体"/>
              </a:defRPr>
            </a:pPr>
            <a:r>
              <a:rPr b="1" dirty="0">
                <a:solidFill>
                  <a:srgbClr val="FF2600"/>
                </a:solidFill>
                <a:latin typeface="微软雅黑" panose="020B0503020204020204" pitchFamily="34" charset="-122"/>
                <a:ea typeface="微软雅黑" panose="020B0503020204020204" pitchFamily="34" charset="-122"/>
              </a:rPr>
              <a:t>完</a:t>
            </a:r>
            <a:r>
              <a:rPr lang="zh-CN" altLang="en-US" b="1" dirty="0">
                <a:solidFill>
                  <a:srgbClr val="FF2600"/>
                </a:solidFill>
                <a:latin typeface="微软雅黑" panose="020B0503020204020204" pitchFamily="34" charset="-122"/>
                <a:ea typeface="微软雅黑" panose="020B0503020204020204" pitchFamily="34" charset="-122"/>
              </a:rPr>
              <a:t>美</a:t>
            </a:r>
            <a:r>
              <a:rPr b="1" dirty="0" err="1">
                <a:solidFill>
                  <a:srgbClr val="FF2600"/>
                </a:solidFill>
                <a:latin typeface="微软雅黑" panose="020B0503020204020204" pitchFamily="34" charset="-122"/>
                <a:ea typeface="微软雅黑" panose="020B0503020204020204" pitchFamily="34" charset="-122"/>
              </a:rPr>
              <a:t>的程序正义</a:t>
            </a:r>
            <a:r>
              <a:rPr lang="zh-CN" altLang="en-US" b="1" dirty="0">
                <a:solidFill>
                  <a:srgbClr val="FF2600"/>
                </a:solidFill>
                <a:latin typeface="微软雅黑" panose="020B0503020204020204" pitchFamily="34" charset="-122"/>
                <a:ea typeface="微软雅黑" panose="020B0503020204020204" pitchFamily="34" charset="-122"/>
              </a:rPr>
              <a:t>是指总是产生公正结果的程序。</a:t>
            </a:r>
            <a:r>
              <a:rPr b="1" dirty="0" err="1">
                <a:solidFill>
                  <a:srgbClr val="FF2600"/>
                </a:solidFill>
                <a:latin typeface="微软雅黑" panose="020B0503020204020204" pitchFamily="34" charset="-122"/>
                <a:ea typeface="微软雅黑" panose="020B0503020204020204" pitchFamily="34" charset="-122"/>
              </a:rPr>
              <a:t>最典型的例子是分配蛋糕</a:t>
            </a:r>
            <a:r>
              <a:rPr b="1" dirty="0">
                <a:solidFill>
                  <a:srgbClr val="FF2600"/>
                </a:solidFill>
                <a:latin typeface="微软雅黑" panose="020B0503020204020204" pitchFamily="34" charset="-122"/>
                <a:ea typeface="微软雅黑" panose="020B0503020204020204" pitchFamily="34" charset="-122"/>
              </a:rPr>
              <a:t>。  </a:t>
            </a:r>
            <a:endParaRPr b="1" dirty="0">
              <a:solidFill>
                <a:srgbClr val="FF2600"/>
              </a:solidFill>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Shape 52"/>
          <p:cNvSpPr>
            <a:spLocks noGrp="1"/>
          </p:cNvSpPr>
          <p:nvPr>
            <p:ph type="title"/>
          </p:nvPr>
        </p:nvSpPr>
        <p:spPr>
          <a:xfrm>
            <a:off x="301625" y="609598"/>
            <a:ext cx="8540750" cy="839639"/>
          </a:xfrm>
          <a:prstGeom prst="rect">
            <a:avLst/>
          </a:prstGeom>
        </p:spPr>
        <p:txBody>
          <a:bodyPr>
            <a:normAutofit/>
          </a:bodyPr>
          <a:lstStyle/>
          <a:p>
            <a:r>
              <a:rPr sz="2800" b="1" dirty="0" err="1">
                <a:latin typeface="微软雅黑" panose="020B0503020204020204" pitchFamily="34" charset="-122"/>
                <a:ea typeface="微软雅黑" panose="020B0503020204020204" pitchFamily="34" charset="-122"/>
              </a:rPr>
              <a:t>不完</a:t>
            </a:r>
            <a:r>
              <a:rPr lang="zh-CN" altLang="en-US" sz="2800" b="1" dirty="0">
                <a:latin typeface="微软雅黑" panose="020B0503020204020204" pitchFamily="34" charset="-122"/>
                <a:ea typeface="微软雅黑" panose="020B0503020204020204" pitchFamily="34" charset="-122"/>
              </a:rPr>
              <a:t>美</a:t>
            </a:r>
            <a:r>
              <a:rPr sz="2800" b="1" dirty="0" err="1">
                <a:latin typeface="微软雅黑" panose="020B0503020204020204" pitchFamily="34" charset="-122"/>
                <a:ea typeface="微软雅黑" panose="020B0503020204020204" pitchFamily="34" charset="-122"/>
              </a:rPr>
              <a:t>的程序正义</a:t>
            </a:r>
            <a:endParaRPr sz="2800" b="1" dirty="0">
              <a:latin typeface="微软雅黑" panose="020B0503020204020204" pitchFamily="34" charset="-122"/>
              <a:ea typeface="微软雅黑" panose="020B0503020204020204" pitchFamily="34" charset="-122"/>
            </a:endParaRPr>
          </a:p>
        </p:txBody>
      </p:sp>
      <p:sp>
        <p:nvSpPr>
          <p:cNvPr id="53" name="Shape 53"/>
          <p:cNvSpPr>
            <a:spLocks noGrp="1"/>
          </p:cNvSpPr>
          <p:nvPr>
            <p:ph type="body" idx="1"/>
          </p:nvPr>
        </p:nvSpPr>
        <p:spPr>
          <a:xfrm>
            <a:off x="301625" y="1587260"/>
            <a:ext cx="8540750" cy="4618008"/>
          </a:xfrm>
          <a:prstGeom prst="rect">
            <a:avLst/>
          </a:prstGeom>
        </p:spPr>
        <p:txBody>
          <a:bodyPr>
            <a:normAutofit/>
          </a:bodyPr>
          <a:lstStyle/>
          <a:p>
            <a:pPr marL="339725" indent="-339725" defTabSz="905510">
              <a:lnSpc>
                <a:spcPct val="80000"/>
              </a:lnSpc>
              <a:spcBef>
                <a:spcPts val="600"/>
              </a:spcBef>
              <a:defRPr sz="2700">
                <a:latin typeface="宋体"/>
                <a:ea typeface="宋体"/>
                <a:cs typeface="宋体"/>
                <a:sym typeface="宋体"/>
              </a:defRPr>
            </a:pPr>
            <a:r>
              <a:rPr sz="2400" b="1" dirty="0" err="1">
                <a:latin typeface="微软雅黑" panose="020B0503020204020204" pitchFamily="34" charset="-122"/>
                <a:ea typeface="微软雅黑" panose="020B0503020204020204" pitchFamily="34" charset="-122"/>
              </a:rPr>
              <a:t>罗尔斯</a:t>
            </a:r>
            <a:r>
              <a:rPr lang="zh-CN" altLang="en-US" sz="2400" b="1" dirty="0">
                <a:latin typeface="微软雅黑" panose="020B0503020204020204" pitchFamily="34" charset="-122"/>
                <a:ea typeface="微软雅黑" panose="020B0503020204020204" pitchFamily="34" charset="-122"/>
              </a:rPr>
              <a:t>认为</a:t>
            </a:r>
            <a:r>
              <a:rPr sz="2400" b="1" dirty="0">
                <a:latin typeface="微软雅黑" panose="020B0503020204020204" pitchFamily="34" charset="-122"/>
                <a:ea typeface="微软雅黑" panose="020B0503020204020204" pitchFamily="34" charset="-122"/>
              </a:rPr>
              <a:t>，</a:t>
            </a:r>
            <a:r>
              <a:rPr sz="2400" b="1" dirty="0" err="1">
                <a:latin typeface="微软雅黑" panose="020B0503020204020204" pitchFamily="34" charset="-122"/>
                <a:ea typeface="微软雅黑" panose="020B0503020204020204" pitchFamily="34" charset="-122"/>
              </a:rPr>
              <a:t>这种完</a:t>
            </a:r>
            <a:r>
              <a:rPr lang="zh-CN" altLang="en-US" sz="2400" b="1" dirty="0">
                <a:latin typeface="微软雅黑" panose="020B0503020204020204" pitchFamily="34" charset="-122"/>
                <a:ea typeface="微软雅黑" panose="020B0503020204020204" pitchFamily="34" charset="-122"/>
              </a:rPr>
              <a:t>美</a:t>
            </a:r>
            <a:r>
              <a:rPr sz="2400" b="1" dirty="0" err="1">
                <a:latin typeface="微软雅黑" panose="020B0503020204020204" pitchFamily="34" charset="-122"/>
                <a:ea typeface="微软雅黑" panose="020B0503020204020204" pitchFamily="34" charset="-122"/>
              </a:rPr>
              <a:t>的程序正义在实际利益分配的大量情形中，即便有可能，但也很罕见。实际生活中存在的还多是不完</a:t>
            </a:r>
            <a:r>
              <a:rPr lang="zh-CN" altLang="en-US" sz="2400" b="1" dirty="0">
                <a:latin typeface="微软雅黑" panose="020B0503020204020204" pitchFamily="34" charset="-122"/>
                <a:ea typeface="微软雅黑" panose="020B0503020204020204" pitchFamily="34" charset="-122"/>
              </a:rPr>
              <a:t>美</a:t>
            </a:r>
            <a:r>
              <a:rPr sz="2400" b="1" dirty="0" err="1">
                <a:latin typeface="微软雅黑" panose="020B0503020204020204" pitchFamily="34" charset="-122"/>
                <a:ea typeface="微软雅黑" panose="020B0503020204020204" pitchFamily="34" charset="-122"/>
              </a:rPr>
              <a:t>的程序正义，也就是说，即</a:t>
            </a:r>
            <a:r>
              <a:rPr sz="2400" b="1" dirty="0" err="1">
                <a:solidFill>
                  <a:srgbClr val="FF0000"/>
                </a:solidFill>
                <a:latin typeface="微软雅黑" panose="020B0503020204020204" pitchFamily="34" charset="-122"/>
                <a:ea typeface="微软雅黑" panose="020B0503020204020204" pitchFamily="34" charset="-122"/>
              </a:rPr>
              <a:t>使有独立的标准</a:t>
            </a:r>
            <a:r>
              <a:rPr sz="2400" b="1" dirty="0" err="1">
                <a:latin typeface="微软雅黑" panose="020B0503020204020204" pitchFamily="34" charset="-122"/>
                <a:ea typeface="微软雅黑" panose="020B0503020204020204" pitchFamily="34" charset="-122"/>
              </a:rPr>
              <a:t>，但在程序设计上却无法保证结果总会具有正当性，这种</a:t>
            </a:r>
            <a:r>
              <a:rPr sz="2400" b="1" dirty="0" err="1">
                <a:solidFill>
                  <a:srgbClr val="FF2600"/>
                </a:solidFill>
                <a:latin typeface="微软雅黑" panose="020B0503020204020204" pitchFamily="34" charset="-122"/>
                <a:ea typeface="微软雅黑" panose="020B0503020204020204" pitchFamily="34" charset="-122"/>
              </a:rPr>
              <a:t>不完</a:t>
            </a:r>
            <a:r>
              <a:rPr lang="zh-CN" altLang="en-US" sz="2400" b="1" dirty="0">
                <a:solidFill>
                  <a:srgbClr val="FF2600"/>
                </a:solidFill>
                <a:latin typeface="微软雅黑" panose="020B0503020204020204" pitchFamily="34" charset="-122"/>
                <a:ea typeface="微软雅黑" panose="020B0503020204020204" pitchFamily="34" charset="-122"/>
              </a:rPr>
              <a:t>美</a:t>
            </a:r>
            <a:r>
              <a:rPr sz="2400" b="1" dirty="0" err="1">
                <a:solidFill>
                  <a:srgbClr val="FF2600"/>
                </a:solidFill>
                <a:latin typeface="微软雅黑" panose="020B0503020204020204" pitchFamily="34" charset="-122"/>
                <a:ea typeface="微软雅黑" panose="020B0503020204020204" pitchFamily="34" charset="-122"/>
              </a:rPr>
              <a:t>的程序正义最典型的是刑事审判</a:t>
            </a:r>
            <a:r>
              <a:rPr sz="2400" b="1" dirty="0">
                <a:latin typeface="微软雅黑" panose="020B0503020204020204" pitchFamily="34" charset="-122"/>
                <a:ea typeface="微软雅黑" panose="020B0503020204020204" pitchFamily="34" charset="-122"/>
              </a:rPr>
              <a:t>。</a:t>
            </a:r>
            <a:endParaRPr lang="en-US" sz="2400" b="1" dirty="0">
              <a:latin typeface="微软雅黑" panose="020B0503020204020204" pitchFamily="34" charset="-122"/>
              <a:ea typeface="微软雅黑" panose="020B0503020204020204" pitchFamily="34" charset="-122"/>
            </a:endParaRPr>
          </a:p>
          <a:p>
            <a:pPr marL="339725" indent="-339725" defTabSz="905510">
              <a:lnSpc>
                <a:spcPct val="80000"/>
              </a:lnSpc>
              <a:spcBef>
                <a:spcPts val="600"/>
              </a:spcBef>
              <a:defRPr sz="2700">
                <a:latin typeface="宋体"/>
                <a:ea typeface="宋体"/>
                <a:cs typeface="宋体"/>
                <a:sym typeface="宋体"/>
              </a:defRPr>
            </a:pPr>
            <a:r>
              <a:rPr sz="2400" b="1" dirty="0" err="1">
                <a:latin typeface="微软雅黑" panose="020B0503020204020204" pitchFamily="34" charset="-122"/>
                <a:ea typeface="微软雅黑" panose="020B0503020204020204" pitchFamily="34" charset="-122"/>
              </a:rPr>
              <a:t>期望的结果的独立标准是：如果且只有他犯有被指控的罪行，被告就应该被宣判为有罪</a:t>
            </a:r>
            <a:r>
              <a:rPr lang="zh-CN" altLang="en-US" sz="2400" b="1" dirty="0">
                <a:latin typeface="微软雅黑" panose="020B0503020204020204" pitchFamily="34" charset="-122"/>
                <a:ea typeface="微软雅黑" panose="020B0503020204020204" pitchFamily="34" charset="-122"/>
              </a:rPr>
              <a:t>。</a:t>
            </a:r>
            <a:r>
              <a:rPr sz="2400" b="1" dirty="0">
                <a:latin typeface="微软雅黑" panose="020B0503020204020204" pitchFamily="34" charset="-122"/>
                <a:ea typeface="微软雅黑" panose="020B0503020204020204" pitchFamily="34" charset="-122"/>
              </a:rPr>
              <a:t> </a:t>
            </a:r>
            <a:endParaRPr sz="2400" b="1" dirty="0">
              <a:latin typeface="微软雅黑" panose="020B0503020204020204" pitchFamily="34" charset="-122"/>
              <a:ea typeface="微软雅黑" panose="020B0503020204020204" pitchFamily="34" charset="-122"/>
            </a:endParaRPr>
          </a:p>
          <a:p>
            <a:pPr marL="339725" indent="-339725" defTabSz="905510">
              <a:lnSpc>
                <a:spcPct val="80000"/>
              </a:lnSpc>
              <a:spcBef>
                <a:spcPts val="600"/>
              </a:spcBef>
              <a:defRPr sz="2700">
                <a:latin typeface="宋体"/>
                <a:ea typeface="宋体"/>
                <a:cs typeface="宋体"/>
                <a:sym typeface="宋体"/>
              </a:defRPr>
            </a:pPr>
            <a:r>
              <a:rPr sz="2400" b="1" dirty="0">
                <a:latin typeface="微软雅黑" panose="020B0503020204020204" pitchFamily="34" charset="-122"/>
                <a:ea typeface="微软雅黑" panose="020B0503020204020204" pitchFamily="34" charset="-122"/>
              </a:rPr>
              <a:t>罗尔斯：</a:t>
            </a:r>
            <a:r>
              <a:rPr sz="2400" b="1" dirty="0">
                <a:solidFill>
                  <a:srgbClr val="C00000"/>
                </a:solidFill>
                <a:latin typeface="微软雅黑" panose="020B0503020204020204" pitchFamily="34" charset="-122"/>
                <a:ea typeface="微软雅黑" panose="020B0503020204020204" pitchFamily="34" charset="-122"/>
              </a:rPr>
              <a:t>即使法律被认真的遵守，程序公平地、恰当的实施，但也有可能导致错误的结果。一个无辜者可能被判有罪，而真正的罪犯却获得了自由。 </a:t>
            </a:r>
            <a:endParaRPr lang="en-US" altLang="zh-CN" sz="2400" b="1" dirty="0">
              <a:solidFill>
                <a:srgbClr val="C00000"/>
              </a:solidFill>
              <a:latin typeface="微软雅黑" panose="020B0503020204020204" pitchFamily="34" charset="-122"/>
              <a:ea typeface="微软雅黑" panose="020B0503020204020204" pitchFamily="34" charset="-122"/>
            </a:endParaRPr>
          </a:p>
          <a:p>
            <a:pPr marL="339725" indent="-339725" defTabSz="905510">
              <a:lnSpc>
                <a:spcPct val="80000"/>
              </a:lnSpc>
              <a:spcBef>
                <a:spcPts val="600"/>
              </a:spcBef>
              <a:defRPr sz="2700">
                <a:latin typeface="宋体"/>
                <a:ea typeface="宋体"/>
                <a:cs typeface="宋体"/>
                <a:sym typeface="宋体"/>
              </a:defRPr>
            </a:pPr>
            <a:r>
              <a:rPr lang="zh-CN" altLang="en-US" sz="2400" b="1" dirty="0">
                <a:latin typeface="微软雅黑" panose="020B0503020204020204" pitchFamily="34" charset="-122"/>
                <a:ea typeface="微软雅黑" panose="020B0503020204020204" pitchFamily="34" charset="-122"/>
              </a:rPr>
              <a:t>不完美的程序正义是指无法在每一情况下都确保公正结果的程序。</a:t>
            </a:r>
            <a:endParaRPr sz="2400"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Shape 55"/>
          <p:cNvSpPr>
            <a:spLocks noGrp="1"/>
          </p:cNvSpPr>
          <p:nvPr>
            <p:ph type="title"/>
          </p:nvPr>
        </p:nvSpPr>
        <p:spPr>
          <a:xfrm>
            <a:off x="301625" y="609598"/>
            <a:ext cx="8540750" cy="592349"/>
          </a:xfrm>
          <a:prstGeom prst="rect">
            <a:avLst/>
          </a:prstGeom>
        </p:spPr>
        <p:txBody>
          <a:bodyPr>
            <a:normAutofit/>
          </a:bodyPr>
          <a:lstStyle/>
          <a:p>
            <a:r>
              <a:rPr sz="2800" b="1" dirty="0" err="1">
                <a:latin typeface="微软雅黑" panose="020B0503020204020204" pitchFamily="34" charset="-122"/>
                <a:ea typeface="微软雅黑" panose="020B0503020204020204" pitchFamily="34" charset="-122"/>
              </a:rPr>
              <a:t>纯粹程序正义</a:t>
            </a:r>
            <a:endParaRPr sz="2800" b="1" dirty="0">
              <a:latin typeface="微软雅黑" panose="020B0503020204020204" pitchFamily="34" charset="-122"/>
              <a:ea typeface="微软雅黑" panose="020B0503020204020204" pitchFamily="34" charset="-122"/>
            </a:endParaRPr>
          </a:p>
        </p:txBody>
      </p:sp>
      <p:sp>
        <p:nvSpPr>
          <p:cNvPr id="56" name="Shape 56"/>
          <p:cNvSpPr>
            <a:spLocks noGrp="1"/>
          </p:cNvSpPr>
          <p:nvPr>
            <p:ph type="body" idx="1"/>
          </p:nvPr>
        </p:nvSpPr>
        <p:spPr>
          <a:xfrm>
            <a:off x="132272" y="1201948"/>
            <a:ext cx="8867954" cy="5046454"/>
          </a:xfrm>
          <a:prstGeom prst="rect">
            <a:avLst/>
          </a:prstGeom>
        </p:spPr>
        <p:txBody>
          <a:bodyPr>
            <a:noAutofit/>
          </a:bodyPr>
          <a:lstStyle/>
          <a:p>
            <a:pPr marL="315595" indent="-315595" defTabSz="841375">
              <a:lnSpc>
                <a:spcPct val="80000"/>
              </a:lnSpc>
              <a:spcBef>
                <a:spcPts val="500"/>
              </a:spcBef>
              <a:defRPr sz="2200">
                <a:latin typeface="宋体"/>
                <a:ea typeface="宋体"/>
                <a:cs typeface="宋体"/>
                <a:sym typeface="宋体"/>
              </a:defRPr>
            </a:pPr>
            <a:r>
              <a:rPr sz="2400" b="1" dirty="0" err="1">
                <a:latin typeface="微软雅黑" panose="020B0503020204020204" pitchFamily="34" charset="-122"/>
                <a:ea typeface="微软雅黑" panose="020B0503020204020204" pitchFamily="34" charset="-122"/>
              </a:rPr>
              <a:t>既然完</a:t>
            </a:r>
            <a:r>
              <a:rPr lang="zh-CN" altLang="en-US" sz="2400" b="1" dirty="0">
                <a:latin typeface="微软雅黑" panose="020B0503020204020204" pitchFamily="34" charset="-122"/>
                <a:ea typeface="微软雅黑" panose="020B0503020204020204" pitchFamily="34" charset="-122"/>
              </a:rPr>
              <a:t>美</a:t>
            </a:r>
            <a:r>
              <a:rPr sz="2400" b="1" dirty="0" err="1">
                <a:latin typeface="微软雅黑" panose="020B0503020204020204" pitchFamily="34" charset="-122"/>
                <a:ea typeface="微软雅黑" panose="020B0503020204020204" pitchFamily="34" charset="-122"/>
              </a:rPr>
              <a:t>的程序正义是罕见的，而不完</a:t>
            </a:r>
            <a:r>
              <a:rPr lang="zh-CN" altLang="en-US" sz="2400" b="1" dirty="0">
                <a:latin typeface="微软雅黑" panose="020B0503020204020204" pitchFamily="34" charset="-122"/>
                <a:ea typeface="微软雅黑" panose="020B0503020204020204" pitchFamily="34" charset="-122"/>
              </a:rPr>
              <a:t>美</a:t>
            </a:r>
            <a:r>
              <a:rPr sz="2400" b="1" dirty="0">
                <a:latin typeface="微软雅黑" panose="020B0503020204020204" pitchFamily="34" charset="-122"/>
                <a:ea typeface="微软雅黑" panose="020B0503020204020204" pitchFamily="34" charset="-122"/>
              </a:rPr>
              <a:t>的程序正义又无法做到结果</a:t>
            </a:r>
            <a:r>
              <a:rPr sz="2400" b="1" dirty="0">
                <a:solidFill>
                  <a:srgbClr val="FF0000"/>
                </a:solidFill>
                <a:latin typeface="微软雅黑" panose="020B0503020204020204" pitchFamily="34" charset="-122"/>
                <a:ea typeface="微软雅黑" panose="020B0503020204020204" pitchFamily="34" charset="-122"/>
              </a:rPr>
              <a:t>总是具有正当性</a:t>
            </a:r>
            <a:r>
              <a:rPr sz="2400" b="1" dirty="0">
                <a:latin typeface="微软雅黑" panose="020B0503020204020204" pitchFamily="34" charset="-122"/>
                <a:ea typeface="微软雅黑" panose="020B0503020204020204" pitchFamily="34" charset="-122"/>
              </a:rPr>
              <a:t>，那么在此情况下，如何才能设计保证结果始终具有正当性的制度呢？</a:t>
            </a:r>
            <a:r>
              <a:rPr sz="2400" b="1" dirty="0">
                <a:solidFill>
                  <a:srgbClr val="7030A0"/>
                </a:solidFill>
                <a:latin typeface="微软雅黑" panose="020B0503020204020204" pitchFamily="34" charset="-122"/>
                <a:ea typeface="微软雅黑" panose="020B0503020204020204" pitchFamily="34" charset="-122"/>
              </a:rPr>
              <a:t>罗尔斯的选择是纯粹的程序正义。</a:t>
            </a:r>
            <a:endParaRPr sz="2400" b="1" dirty="0">
              <a:solidFill>
                <a:srgbClr val="7030A0"/>
              </a:solidFill>
              <a:latin typeface="微软雅黑" panose="020B0503020204020204" pitchFamily="34" charset="-122"/>
              <a:ea typeface="微软雅黑" panose="020B0503020204020204" pitchFamily="34" charset="-122"/>
            </a:endParaRPr>
          </a:p>
          <a:p>
            <a:pPr marL="315595" indent="-315595" defTabSz="841375">
              <a:lnSpc>
                <a:spcPct val="80000"/>
              </a:lnSpc>
              <a:spcBef>
                <a:spcPts val="500"/>
              </a:spcBef>
              <a:defRPr sz="2200">
                <a:latin typeface="宋体"/>
                <a:ea typeface="宋体"/>
                <a:cs typeface="宋体"/>
                <a:sym typeface="宋体"/>
              </a:defRPr>
            </a:pPr>
            <a:r>
              <a:rPr sz="2400" b="1" dirty="0" err="1">
                <a:latin typeface="微软雅黑" panose="020B0503020204020204" pitchFamily="34" charset="-122"/>
                <a:ea typeface="微软雅黑" panose="020B0503020204020204" pitchFamily="34" charset="-122"/>
              </a:rPr>
              <a:t>在他所设计的纯粹程序正义中，</a:t>
            </a:r>
            <a:r>
              <a:rPr sz="2400" b="1" dirty="0" err="1">
                <a:solidFill>
                  <a:srgbClr val="FF0000"/>
                </a:solidFill>
                <a:latin typeface="微软雅黑" panose="020B0503020204020204" pitchFamily="34" charset="-122"/>
                <a:ea typeface="微软雅黑" panose="020B0503020204020204" pitchFamily="34" charset="-122"/>
              </a:rPr>
              <a:t>即使没有正确结果的独立标准</a:t>
            </a:r>
            <a:r>
              <a:rPr sz="2400" b="1" dirty="0" err="1">
                <a:latin typeface="微软雅黑" panose="020B0503020204020204" pitchFamily="34" charset="-122"/>
                <a:ea typeface="微软雅黑" panose="020B0503020204020204" pitchFamily="34" charset="-122"/>
              </a:rPr>
              <a:t>，但只要存在着纯粹的程序正义，都将始终保证结果的正当性</a:t>
            </a:r>
            <a:r>
              <a:rPr sz="2400" b="1" dirty="0">
                <a:latin typeface="微软雅黑" panose="020B0503020204020204" pitchFamily="34" charset="-122"/>
                <a:ea typeface="微软雅黑" panose="020B0503020204020204" pitchFamily="34" charset="-122"/>
              </a:rPr>
              <a:t>。</a:t>
            </a:r>
            <a:endParaRPr sz="2400" b="1" dirty="0">
              <a:latin typeface="微软雅黑" panose="020B0503020204020204" pitchFamily="34" charset="-122"/>
              <a:ea typeface="微软雅黑" panose="020B0503020204020204" pitchFamily="34" charset="-122"/>
            </a:endParaRPr>
          </a:p>
          <a:p>
            <a:pPr marL="315595" indent="-315595" defTabSz="841375">
              <a:lnSpc>
                <a:spcPct val="80000"/>
              </a:lnSpc>
              <a:spcBef>
                <a:spcPts val="500"/>
              </a:spcBef>
              <a:defRPr sz="2200">
                <a:latin typeface="宋体"/>
                <a:ea typeface="宋体"/>
                <a:cs typeface="宋体"/>
                <a:sym typeface="宋体"/>
              </a:defRPr>
            </a:pPr>
            <a:r>
              <a:rPr sz="2400" b="1" dirty="0" err="1">
                <a:latin typeface="微软雅黑" panose="020B0503020204020204" pitchFamily="34" charset="-122"/>
                <a:ea typeface="微软雅黑" panose="020B0503020204020204" pitchFamily="34" charset="-122"/>
              </a:rPr>
              <a:t>他主张：取代完</a:t>
            </a:r>
            <a:r>
              <a:rPr lang="zh-CN" altLang="en-US" sz="2400" b="1" dirty="0">
                <a:latin typeface="微软雅黑" panose="020B0503020204020204" pitchFamily="34" charset="-122"/>
                <a:ea typeface="微软雅黑" panose="020B0503020204020204" pitchFamily="34" charset="-122"/>
              </a:rPr>
              <a:t>美</a:t>
            </a:r>
            <a:r>
              <a:rPr sz="2400" b="1" dirty="0" err="1">
                <a:latin typeface="微软雅黑" panose="020B0503020204020204" pitchFamily="34" charset="-122"/>
                <a:ea typeface="微软雅黑" panose="020B0503020204020204" pitchFamily="34" charset="-122"/>
              </a:rPr>
              <a:t>的程序正义与不完</a:t>
            </a:r>
            <a:r>
              <a:rPr lang="zh-CN" altLang="en-US" sz="2400" b="1" dirty="0">
                <a:latin typeface="微软雅黑" panose="020B0503020204020204" pitchFamily="34" charset="-122"/>
                <a:ea typeface="微软雅黑" panose="020B0503020204020204" pitchFamily="34" charset="-122"/>
              </a:rPr>
              <a:t>美</a:t>
            </a:r>
            <a:r>
              <a:rPr sz="2400" b="1" dirty="0">
                <a:latin typeface="微软雅黑" panose="020B0503020204020204" pitchFamily="34" charset="-122"/>
                <a:ea typeface="微软雅黑" panose="020B0503020204020204" pitchFamily="34" charset="-122"/>
              </a:rPr>
              <a:t>的程序正义的是这样一种纯粹程序正义：</a:t>
            </a:r>
            <a:r>
              <a:rPr sz="2400" b="1" dirty="0">
                <a:solidFill>
                  <a:srgbClr val="FF0000"/>
                </a:solidFill>
                <a:latin typeface="微软雅黑" panose="020B0503020204020204" pitchFamily="34" charset="-122"/>
                <a:ea typeface="微软雅黑" panose="020B0503020204020204" pitchFamily="34" charset="-122"/>
              </a:rPr>
              <a:t>有一个正确的或公平的程序，只要程序被适当的遵守，不管这一结果是什么，依此都能保证结果同样正确或公平。</a:t>
            </a:r>
            <a:endParaRPr sz="2400" b="1" dirty="0">
              <a:solidFill>
                <a:srgbClr val="FF0000"/>
              </a:solidFill>
              <a:latin typeface="微软雅黑" panose="020B0503020204020204" pitchFamily="34" charset="-122"/>
              <a:ea typeface="微软雅黑" panose="020B0503020204020204" pitchFamily="34" charset="-122"/>
            </a:endParaRPr>
          </a:p>
          <a:p>
            <a:pPr marL="315595" indent="-315595" defTabSz="841375">
              <a:lnSpc>
                <a:spcPct val="80000"/>
              </a:lnSpc>
              <a:spcBef>
                <a:spcPts val="500"/>
              </a:spcBef>
              <a:defRPr sz="2200">
                <a:latin typeface="宋体"/>
                <a:ea typeface="宋体"/>
                <a:cs typeface="宋体"/>
                <a:sym typeface="宋体"/>
              </a:defRPr>
            </a:pPr>
            <a:r>
              <a:rPr sz="2400" b="1" dirty="0" err="1">
                <a:latin typeface="微软雅黑" panose="020B0503020204020204" pitchFamily="34" charset="-122"/>
                <a:ea typeface="微软雅黑" panose="020B0503020204020204" pitchFamily="34" charset="-122"/>
              </a:rPr>
              <a:t>罗尔斯不再把有无独立的正确结果标准作为最终实现的目的，而是完善程序设计，只要程序是完</a:t>
            </a:r>
            <a:r>
              <a:rPr lang="zh-CN" altLang="en-US" sz="2400" b="1" dirty="0">
                <a:latin typeface="微软雅黑" panose="020B0503020204020204" pitchFamily="34" charset="-122"/>
                <a:ea typeface="微软雅黑" panose="020B0503020204020204" pitchFamily="34" charset="-122"/>
              </a:rPr>
              <a:t>美</a:t>
            </a:r>
            <a:r>
              <a:rPr sz="2400" b="1" dirty="0" err="1">
                <a:latin typeface="微软雅黑" panose="020B0503020204020204" pitchFamily="34" charset="-122"/>
                <a:ea typeface="微软雅黑" panose="020B0503020204020204" pitchFamily="34" charset="-122"/>
              </a:rPr>
              <a:t>的，即使按照这一完</a:t>
            </a:r>
            <a:r>
              <a:rPr lang="zh-CN" altLang="en-US" sz="2400" b="1" dirty="0">
                <a:latin typeface="微软雅黑" panose="020B0503020204020204" pitchFamily="34" charset="-122"/>
                <a:ea typeface="微软雅黑" panose="020B0503020204020204" pitchFamily="34" charset="-122"/>
              </a:rPr>
              <a:t>美</a:t>
            </a:r>
            <a:r>
              <a:rPr sz="2400" b="1" dirty="0" err="1">
                <a:latin typeface="微软雅黑" panose="020B0503020204020204" pitchFamily="34" charset="-122"/>
                <a:ea typeface="微软雅黑" panose="020B0503020204020204" pitchFamily="34" charset="-122"/>
              </a:rPr>
              <a:t>的程序最后可以实现正确结果，哪怕是错误结果，但是这一结果是正当的，因此就能够获得人们的服从。</a:t>
            </a:r>
            <a:r>
              <a:rPr sz="2400" b="1" dirty="0" err="1">
                <a:solidFill>
                  <a:srgbClr val="FF2600"/>
                </a:solidFill>
                <a:latin typeface="微软雅黑" panose="020B0503020204020204" pitchFamily="34" charset="-122"/>
                <a:ea typeface="微软雅黑" panose="020B0503020204020204" pitchFamily="34" charset="-122"/>
              </a:rPr>
              <a:t>最典型的例子是赌博</a:t>
            </a:r>
            <a:r>
              <a:rPr sz="2400" b="1" dirty="0">
                <a:latin typeface="微软雅黑" panose="020B0503020204020204" pitchFamily="34" charset="-122"/>
                <a:ea typeface="微软雅黑" panose="020B0503020204020204" pitchFamily="34" charset="-122"/>
              </a:rPr>
              <a:t>。 </a:t>
            </a:r>
            <a:endParaRPr sz="2400"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Shape 58"/>
          <p:cNvSpPr>
            <a:spLocks noGrp="1"/>
          </p:cNvSpPr>
          <p:nvPr>
            <p:ph type="title"/>
          </p:nvPr>
        </p:nvSpPr>
        <p:spPr>
          <a:xfrm>
            <a:off x="301625" y="609599"/>
            <a:ext cx="8540750" cy="563594"/>
          </a:xfrm>
          <a:prstGeom prst="rect">
            <a:avLst/>
          </a:prstGeom>
        </p:spPr>
        <p:txBody>
          <a:bodyPr>
            <a:normAutofit fontScale="90000"/>
          </a:bodyPr>
          <a:lstStyle/>
          <a:p>
            <a:endParaRPr dirty="0"/>
          </a:p>
        </p:txBody>
      </p:sp>
      <p:sp>
        <p:nvSpPr>
          <p:cNvPr id="59" name="Shape 59"/>
          <p:cNvSpPr>
            <a:spLocks noGrp="1"/>
          </p:cNvSpPr>
          <p:nvPr>
            <p:ph type="body" idx="1"/>
          </p:nvPr>
        </p:nvSpPr>
        <p:spPr>
          <a:xfrm>
            <a:off x="301625" y="1242204"/>
            <a:ext cx="8540750" cy="4856971"/>
          </a:xfrm>
          <a:prstGeom prst="rect">
            <a:avLst/>
          </a:prstGeom>
        </p:spPr>
        <p:txBody>
          <a:bodyPr/>
          <a:lstStyle/>
          <a:p>
            <a:pPr marL="325755" indent="-325755" defTabSz="868680">
              <a:lnSpc>
                <a:spcPct val="80000"/>
              </a:lnSpc>
              <a:spcBef>
                <a:spcPts val="600"/>
              </a:spcBef>
              <a:defRPr sz="2600">
                <a:latin typeface="宋体"/>
                <a:ea typeface="宋体"/>
                <a:cs typeface="宋体"/>
                <a:sym typeface="宋体"/>
              </a:defRPr>
            </a:pPr>
            <a:r>
              <a:rPr b="1" dirty="0">
                <a:latin typeface="微软雅黑" panose="020B0503020204020204" pitchFamily="34" charset="-122"/>
                <a:ea typeface="微软雅黑" panose="020B0503020204020204" pitchFamily="34" charset="-122"/>
              </a:rPr>
              <a:t>罗尔斯指出：</a:t>
            </a:r>
            <a:r>
              <a:rPr b="1" dirty="0">
                <a:latin typeface="微软雅黑" panose="020B0503020204020204" pitchFamily="34" charset="-122"/>
                <a:ea typeface="微软雅黑" panose="020B0503020204020204" pitchFamily="34" charset="-122"/>
                <a:sym typeface="Arial" panose="020B0704020202020204"/>
              </a:rPr>
              <a:t>“</a:t>
            </a:r>
            <a:r>
              <a:rPr b="1" dirty="0">
                <a:solidFill>
                  <a:srgbClr val="FF2600"/>
                </a:solidFill>
                <a:latin typeface="微软雅黑" panose="020B0503020204020204" pitchFamily="34" charset="-122"/>
                <a:ea typeface="微软雅黑" panose="020B0503020204020204" pitchFamily="34" charset="-122"/>
              </a:rPr>
              <a:t>纯粹的程序正义的一个显明的特征是，决定正当结果的程序必须实际上被执行，因为在这种情况下，没有独立的标准可遵循，参照它就能够知道确定的结果具有正当性。</a:t>
            </a:r>
            <a:r>
              <a:rPr b="1" dirty="0">
                <a:latin typeface="微软雅黑" panose="020B0503020204020204" pitchFamily="34" charset="-122"/>
                <a:ea typeface="微软雅黑" panose="020B0503020204020204" pitchFamily="34" charset="-122"/>
                <a:sym typeface="Arial" panose="020B0704020202020204"/>
              </a:rPr>
              <a:t>”</a:t>
            </a:r>
            <a:endParaRPr b="1" dirty="0">
              <a:latin typeface="微软雅黑" panose="020B0503020204020204" pitchFamily="34" charset="-122"/>
              <a:ea typeface="微软雅黑" panose="020B0503020204020204" pitchFamily="34" charset="-122"/>
              <a:sym typeface="Arial" panose="020B0704020202020204"/>
            </a:endParaRPr>
          </a:p>
          <a:p>
            <a:pPr marL="325755" indent="-325755" defTabSz="868680">
              <a:lnSpc>
                <a:spcPct val="80000"/>
              </a:lnSpc>
              <a:spcBef>
                <a:spcPts val="600"/>
              </a:spcBef>
              <a:defRPr sz="2600">
                <a:latin typeface="宋体"/>
                <a:ea typeface="宋体"/>
                <a:cs typeface="宋体"/>
                <a:sym typeface="宋体"/>
              </a:defRPr>
            </a:pPr>
            <a:r>
              <a:rPr b="1" dirty="0">
                <a:latin typeface="微软雅黑" panose="020B0503020204020204" pitchFamily="34" charset="-122"/>
                <a:ea typeface="微软雅黑" panose="020B0503020204020204" pitchFamily="34" charset="-122"/>
              </a:rPr>
              <a:t>罗尔斯的纯粹程序正义的实践优点，即</a:t>
            </a:r>
            <a:r>
              <a:rPr b="1" dirty="0">
                <a:latin typeface="微软雅黑" panose="020B0503020204020204" pitchFamily="34" charset="-122"/>
                <a:ea typeface="微软雅黑" panose="020B0503020204020204" pitchFamily="34" charset="-122"/>
                <a:sym typeface="Arial" panose="020B0704020202020204"/>
              </a:rPr>
              <a:t>“</a:t>
            </a:r>
            <a:r>
              <a:rPr b="1" dirty="0">
                <a:latin typeface="微软雅黑" panose="020B0503020204020204" pitchFamily="34" charset="-122"/>
                <a:ea typeface="微软雅黑" panose="020B0503020204020204" pitchFamily="34" charset="-122"/>
              </a:rPr>
              <a:t>在满足正义的要求时，它不再需要追溯无数的特殊环境和个人不断变化着的相对地位，从而避免了由这类细节引起的复杂原则问题，并使分配的正确性完全取决于产生分配的合作体系的正义性以及对介入其中个人要求的回答。</a:t>
            </a:r>
            <a:r>
              <a:rPr b="1" dirty="0">
                <a:latin typeface="微软雅黑" panose="020B0503020204020204" pitchFamily="34" charset="-122"/>
                <a:ea typeface="微软雅黑" panose="020B0503020204020204" pitchFamily="34" charset="-122"/>
                <a:sym typeface="Arial" panose="020B0704020202020204"/>
              </a:rPr>
              <a:t>” </a:t>
            </a:r>
            <a:endParaRPr lang="en-US" altLang="zh-CN" b="1" dirty="0">
              <a:latin typeface="微软雅黑" panose="020B0503020204020204" pitchFamily="34" charset="-122"/>
              <a:ea typeface="微软雅黑" panose="020B0503020204020204" pitchFamily="34" charset="-122"/>
              <a:sym typeface="Arial" panose="020B0704020202020204"/>
            </a:endParaRPr>
          </a:p>
          <a:p>
            <a:pPr marL="325755" indent="-325755" defTabSz="868680">
              <a:lnSpc>
                <a:spcPct val="80000"/>
              </a:lnSpc>
              <a:spcBef>
                <a:spcPts val="600"/>
              </a:spcBef>
              <a:defRPr sz="2600">
                <a:latin typeface="宋体"/>
                <a:ea typeface="宋体"/>
                <a:cs typeface="宋体"/>
                <a:sym typeface="宋体"/>
              </a:defRPr>
            </a:pPr>
            <a:r>
              <a:rPr lang="zh-CN" altLang="en-US" b="1" dirty="0">
                <a:solidFill>
                  <a:srgbClr val="FF0000"/>
                </a:solidFill>
                <a:latin typeface="微软雅黑" panose="020B0503020204020204" pitchFamily="34" charset="-122"/>
                <a:ea typeface="微软雅黑" panose="020B0503020204020204" pitchFamily="34" charset="-122"/>
              </a:rPr>
              <a:t>纯粹程序正义与完美及不完美程序正义之区别在于：是否存在衡量具体结果的正义性的独立标准。</a:t>
            </a:r>
            <a:br>
              <a:rPr b="1" dirty="0">
                <a:solidFill>
                  <a:srgbClr val="FF0000"/>
                </a:solidFill>
                <a:latin typeface="微软雅黑" panose="020B0503020204020204" pitchFamily="34" charset="-122"/>
                <a:ea typeface="微软雅黑" panose="020B0503020204020204" pitchFamily="34" charset="-122"/>
                <a:sym typeface="Arial" panose="020B0704020202020204"/>
              </a:rPr>
            </a:br>
            <a:endParaRPr b="1" dirty="0">
              <a:solidFill>
                <a:srgbClr val="FF0000"/>
              </a:solidFill>
              <a:latin typeface="微软雅黑" panose="020B0503020204020204" pitchFamily="34" charset="-122"/>
              <a:ea typeface="微软雅黑" panose="020B0503020204020204" pitchFamily="34" charset="-122"/>
              <a:sym typeface="Arial" panose="020B0704020202020204"/>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Shape 61"/>
          <p:cNvSpPr>
            <a:spLocks noGrp="1"/>
          </p:cNvSpPr>
          <p:nvPr>
            <p:ph type="title"/>
          </p:nvPr>
        </p:nvSpPr>
        <p:spPr>
          <a:xfrm>
            <a:off x="301625" y="609598"/>
            <a:ext cx="8540750" cy="764877"/>
          </a:xfrm>
          <a:prstGeom prst="rect">
            <a:avLst/>
          </a:prstGeom>
        </p:spPr>
        <p:txBody>
          <a:bodyPr/>
          <a:lstStyle/>
          <a:p>
            <a:endParaRPr dirty="0"/>
          </a:p>
        </p:txBody>
      </p:sp>
      <p:sp>
        <p:nvSpPr>
          <p:cNvPr id="62" name="Shape 62"/>
          <p:cNvSpPr>
            <a:spLocks noGrp="1"/>
          </p:cNvSpPr>
          <p:nvPr>
            <p:ph type="body" idx="1"/>
          </p:nvPr>
        </p:nvSpPr>
        <p:spPr>
          <a:xfrm>
            <a:off x="301625" y="1495246"/>
            <a:ext cx="8540750" cy="4603930"/>
          </a:xfrm>
          <a:prstGeom prst="rect">
            <a:avLst/>
          </a:prstGeom>
        </p:spPr>
        <p:txBody>
          <a:bodyPr/>
          <a:lstStyle/>
          <a:p>
            <a:pPr marL="291465" indent="-291465" defTabSz="777240">
              <a:lnSpc>
                <a:spcPct val="90000"/>
              </a:lnSpc>
              <a:spcBef>
                <a:spcPts val="500"/>
              </a:spcBef>
              <a:defRPr sz="2300">
                <a:latin typeface="宋体"/>
                <a:ea typeface="宋体"/>
                <a:cs typeface="宋体"/>
                <a:sym typeface="宋体"/>
              </a:defRPr>
            </a:pPr>
            <a:r>
              <a:rPr b="1" dirty="0" err="1">
                <a:latin typeface="微软雅黑" panose="020B0503020204020204" pitchFamily="34" charset="-122"/>
                <a:ea typeface="微软雅黑" panose="020B0503020204020204" pitchFamily="34" charset="-122"/>
              </a:rPr>
              <a:t>现代程序理念强调法律程序不再是实体法律规范的附庸或辅助手段，而</a:t>
            </a:r>
            <a:r>
              <a:rPr b="1" dirty="0" err="1">
                <a:solidFill>
                  <a:srgbClr val="FF2600"/>
                </a:solidFill>
                <a:latin typeface="微软雅黑" panose="020B0503020204020204" pitchFamily="34" charset="-122"/>
                <a:ea typeface="微软雅黑" panose="020B0503020204020204" pitchFamily="34" charset="-122"/>
              </a:rPr>
              <a:t>是一个具有独立价值的范畴，</a:t>
            </a:r>
            <a:r>
              <a:rPr b="1" dirty="0" err="1">
                <a:latin typeface="微软雅黑" panose="020B0503020204020204" pitchFamily="34" charset="-122"/>
                <a:ea typeface="微软雅黑" panose="020B0503020204020204" pitchFamily="34" charset="-122"/>
                <a:sym typeface="Arial" panose="020B0704020202020204"/>
              </a:rPr>
              <a:t>即不是可有可无的</a:t>
            </a:r>
            <a:r>
              <a:rPr b="1" dirty="0">
                <a:latin typeface="微软雅黑" panose="020B0503020204020204" pitchFamily="34" charset="-122"/>
                <a:ea typeface="微软雅黑" panose="020B0503020204020204" pitchFamily="34" charset="-122"/>
                <a:sym typeface="Arial" panose="020B0704020202020204"/>
              </a:rPr>
              <a:t>。</a:t>
            </a:r>
            <a:endParaRPr b="1" dirty="0">
              <a:latin typeface="微软雅黑" panose="020B0503020204020204" pitchFamily="34" charset="-122"/>
              <a:ea typeface="微软雅黑" panose="020B0503020204020204" pitchFamily="34" charset="-122"/>
              <a:sym typeface="Arial" panose="020B0704020202020204"/>
            </a:endParaRPr>
          </a:p>
          <a:p>
            <a:pPr marL="291465" indent="-291465" defTabSz="777240">
              <a:lnSpc>
                <a:spcPct val="90000"/>
              </a:lnSpc>
              <a:spcBef>
                <a:spcPts val="500"/>
              </a:spcBef>
              <a:defRPr sz="2300">
                <a:latin typeface="宋体"/>
                <a:ea typeface="宋体"/>
                <a:cs typeface="宋体"/>
                <a:sym typeface="宋体"/>
              </a:defRPr>
            </a:pPr>
            <a:r>
              <a:rPr b="1" dirty="0">
                <a:latin typeface="微软雅黑" panose="020B0503020204020204" pitchFamily="34" charset="-122"/>
                <a:ea typeface="微软雅黑" panose="020B0503020204020204" pitchFamily="34" charset="-122"/>
              </a:rPr>
              <a:t>对法律程序的评价可以独立于对实体或者结果的评价，其最低标准是：</a:t>
            </a:r>
            <a:r>
              <a:rPr b="1" dirty="0">
                <a:solidFill>
                  <a:srgbClr val="FF2600"/>
                </a:solidFill>
                <a:latin typeface="微软雅黑" panose="020B0503020204020204" pitchFamily="34" charset="-122"/>
                <a:ea typeface="微软雅黑" panose="020B0503020204020204" pitchFamily="34" charset="-122"/>
              </a:rPr>
              <a:t>公民的权利义务将因为决定而受到影响时，在决定之前他必须有行使陈述权和知情权的公正的机会。</a:t>
            </a:r>
            <a:endParaRPr b="1" dirty="0">
              <a:solidFill>
                <a:srgbClr val="FF2600"/>
              </a:solidFill>
              <a:latin typeface="微软雅黑" panose="020B0503020204020204" pitchFamily="34" charset="-122"/>
              <a:ea typeface="微软雅黑" panose="020B0503020204020204" pitchFamily="34" charset="-122"/>
            </a:endParaRPr>
          </a:p>
          <a:p>
            <a:pPr marL="291465" indent="-291465" defTabSz="777240">
              <a:lnSpc>
                <a:spcPct val="90000"/>
              </a:lnSpc>
              <a:spcBef>
                <a:spcPts val="500"/>
              </a:spcBef>
              <a:defRPr sz="2300">
                <a:latin typeface="宋体"/>
                <a:ea typeface="宋体"/>
                <a:cs typeface="宋体"/>
                <a:sym typeface="宋体"/>
              </a:defRPr>
            </a:pPr>
            <a:r>
              <a:rPr lang="zh-CN" altLang="en-US" b="1" dirty="0">
                <a:latin typeface="微软雅黑" panose="020B0503020204020204" pitchFamily="34" charset="-122"/>
                <a:ea typeface="微软雅黑" panose="020B0503020204020204" pitchFamily="34" charset="-122"/>
              </a:rPr>
              <a:t>独立的程序价值：强调存在着某种特定的而不注重强求统一的价值判断和维护某种个人主观偏好的程序性价值，如可</a:t>
            </a:r>
            <a:r>
              <a:rPr b="1" dirty="0" err="1">
                <a:latin typeface="微软雅黑" panose="020B0503020204020204" pitchFamily="34" charset="-122"/>
                <a:ea typeface="微软雅黑" panose="020B0503020204020204" pitchFamily="34" charset="-122"/>
              </a:rPr>
              <a:t>通过平等对话的正当过程达成合意及共识</a:t>
            </a:r>
            <a:r>
              <a:rPr lang="zh-CN" altLang="en-US" b="1" dirty="0">
                <a:latin typeface="微软雅黑" panose="020B0503020204020204" pitchFamily="34" charset="-122"/>
                <a:ea typeface="微软雅黑" panose="020B0503020204020204" pitchFamily="34" charset="-122"/>
              </a:rPr>
              <a:t>；</a:t>
            </a:r>
            <a:r>
              <a:rPr b="1" dirty="0" err="1">
                <a:latin typeface="微软雅黑" panose="020B0503020204020204" pitchFamily="34" charset="-122"/>
                <a:ea typeface="微软雅黑" panose="020B0503020204020204" pitchFamily="34" charset="-122"/>
              </a:rPr>
              <a:t>确保判断和决定不偏不倚</a:t>
            </a:r>
            <a:r>
              <a:rPr lang="zh-CN" altLang="en-US" b="1" dirty="0">
                <a:latin typeface="微软雅黑" panose="020B0503020204020204" pitchFamily="34" charset="-122"/>
                <a:ea typeface="微软雅黑" panose="020B0503020204020204" pitchFamily="34" charset="-122"/>
              </a:rPr>
              <a:t>；</a:t>
            </a:r>
            <a:r>
              <a:rPr b="1" dirty="0" err="1">
                <a:latin typeface="微软雅黑" panose="020B0503020204020204" pitchFamily="34" charset="-122"/>
                <a:ea typeface="微软雅黑" panose="020B0503020204020204" pitchFamily="34" charset="-122"/>
              </a:rPr>
              <a:t>容许价值多元主义等</a:t>
            </a:r>
            <a:r>
              <a:rPr b="1" dirty="0">
                <a:latin typeface="微软雅黑" panose="020B0503020204020204" pitchFamily="34" charset="-122"/>
                <a:ea typeface="微软雅黑" panose="020B0503020204020204" pitchFamily="34" charset="-122"/>
              </a:rPr>
              <a:t>。</a:t>
            </a:r>
            <a:endParaRPr b="1" dirty="0">
              <a:latin typeface="微软雅黑" panose="020B0503020204020204" pitchFamily="34" charset="-122"/>
              <a:ea typeface="微软雅黑" panose="020B0503020204020204" pitchFamily="34" charset="-122"/>
            </a:endParaRPr>
          </a:p>
          <a:p>
            <a:pPr marL="291465" indent="-291465" defTabSz="777240">
              <a:lnSpc>
                <a:spcPct val="90000"/>
              </a:lnSpc>
              <a:spcBef>
                <a:spcPts val="500"/>
              </a:spcBef>
              <a:defRPr sz="2300">
                <a:latin typeface="宋体"/>
                <a:ea typeface="宋体"/>
                <a:cs typeface="宋体"/>
                <a:sym typeface="宋体"/>
              </a:defRPr>
            </a:pPr>
            <a:r>
              <a:rPr b="1" dirty="0" err="1">
                <a:solidFill>
                  <a:srgbClr val="FF0000"/>
                </a:solidFill>
                <a:latin typeface="微软雅黑" panose="020B0503020204020204" pitchFamily="34" charset="-122"/>
                <a:ea typeface="微软雅黑" panose="020B0503020204020204" pitchFamily="34" charset="-122"/>
              </a:rPr>
              <a:t>总之，</a:t>
            </a:r>
            <a:r>
              <a:rPr b="1" dirty="0" err="1">
                <a:solidFill>
                  <a:srgbClr val="FF2600"/>
                </a:solidFill>
                <a:latin typeface="微软雅黑" panose="020B0503020204020204" pitchFamily="34" charset="-122"/>
                <a:ea typeface="微软雅黑" panose="020B0503020204020204" pitchFamily="34" charset="-122"/>
              </a:rPr>
              <a:t>程序的独立价值和独立的程序价值结合起来，构成现代程序理念的两大基石</a:t>
            </a:r>
            <a:r>
              <a:rPr b="1" dirty="0">
                <a:solidFill>
                  <a:srgbClr val="FF2600"/>
                </a:solidFill>
                <a:latin typeface="微软雅黑" panose="020B0503020204020204" pitchFamily="34" charset="-122"/>
                <a:ea typeface="微软雅黑" panose="020B0503020204020204" pitchFamily="34" charset="-122"/>
              </a:rPr>
              <a:t>。</a:t>
            </a:r>
            <a:endParaRPr b="1" dirty="0">
              <a:solidFill>
                <a:srgbClr val="FF2600"/>
              </a:solidFill>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Shape 64"/>
          <p:cNvSpPr>
            <a:spLocks noGrp="1"/>
          </p:cNvSpPr>
          <p:nvPr>
            <p:ph type="title"/>
          </p:nvPr>
        </p:nvSpPr>
        <p:spPr>
          <a:xfrm>
            <a:off x="301625" y="609600"/>
            <a:ext cx="8540750" cy="822384"/>
          </a:xfrm>
          <a:prstGeom prst="rect">
            <a:avLst/>
          </a:prstGeom>
        </p:spPr>
        <p:txBody>
          <a:bodyPr>
            <a:noAutofit/>
          </a:bodyPr>
          <a:lstStyle>
            <a:lvl1pPr defTabSz="658495">
              <a:defRPr sz="3100"/>
            </a:lvl1pPr>
          </a:lstStyle>
          <a:p>
            <a:r>
              <a:rPr sz="3200" b="1" dirty="0" err="1"/>
              <a:t>古代法程序：实体与程序</a:t>
            </a:r>
            <a:r>
              <a:rPr lang="zh-CN" altLang="en-US" sz="3200" b="1" dirty="0"/>
              <a:t>不分</a:t>
            </a:r>
            <a:r>
              <a:rPr sz="3200" b="1" dirty="0" err="1"/>
              <a:t>或重实体轻程序</a:t>
            </a:r>
            <a:endParaRPr sz="3200" b="1" dirty="0"/>
          </a:p>
        </p:txBody>
      </p:sp>
      <p:sp>
        <p:nvSpPr>
          <p:cNvPr id="65" name="Shape 65"/>
          <p:cNvSpPr>
            <a:spLocks noGrp="1"/>
          </p:cNvSpPr>
          <p:nvPr>
            <p:ph type="body" idx="1"/>
          </p:nvPr>
        </p:nvSpPr>
        <p:spPr>
          <a:xfrm>
            <a:off x="247291" y="1431984"/>
            <a:ext cx="8595084" cy="4816415"/>
          </a:xfrm>
          <a:prstGeom prst="rect">
            <a:avLst/>
          </a:prstGeom>
        </p:spPr>
        <p:txBody>
          <a:bodyPr>
            <a:normAutofit/>
          </a:bodyPr>
          <a:lstStyle/>
          <a:p>
            <a:pPr marL="0" indent="0" defTabSz="415925">
              <a:spcBef>
                <a:spcPts val="0"/>
              </a:spcBef>
              <a:buSzTx/>
              <a:buNone/>
              <a:defRPr sz="1700">
                <a:solidFill>
                  <a:schemeClr val="accent5"/>
                </a:solidFill>
                <a:latin typeface="+mj-lt"/>
                <a:ea typeface="+mj-ea"/>
                <a:cs typeface="+mj-cs"/>
                <a:sym typeface="Helvetica Neue" panose="02000503000000020004"/>
              </a:defRPr>
            </a:pPr>
            <a:r>
              <a:rPr lang="en-US" altLang="zh-CN" b="1" dirty="0">
                <a:solidFill>
                  <a:schemeClr val="bg2"/>
                </a:solidFill>
                <a:latin typeface="微软雅黑" panose="020B0503020204020204" pitchFamily="34" charset="-122"/>
                <a:ea typeface="微软雅黑" panose="020B0503020204020204" pitchFamily="34" charset="-122"/>
              </a:rPr>
              <a:t>                                 </a:t>
            </a:r>
            <a:r>
              <a:rPr sz="2800" b="1" dirty="0" err="1">
                <a:solidFill>
                  <a:schemeClr val="bg2"/>
                </a:solidFill>
                <a:latin typeface="微软雅黑" panose="020B0503020204020204" pitchFamily="34" charset="-122"/>
                <a:ea typeface="微软雅黑" panose="020B0503020204020204" pitchFamily="34" charset="-122"/>
              </a:rPr>
              <a:t>春秋时期叔向论罪</a:t>
            </a:r>
            <a:endParaRPr sz="2800" b="1" dirty="0">
              <a:solidFill>
                <a:schemeClr val="bg2"/>
              </a:solidFill>
              <a:latin typeface="微软雅黑" panose="020B0503020204020204" pitchFamily="34" charset="-122"/>
              <a:ea typeface="微软雅黑" panose="020B0503020204020204" pitchFamily="34" charset="-122"/>
            </a:endParaRPr>
          </a:p>
          <a:p>
            <a:pPr marL="0" indent="0" defTabSz="415925">
              <a:spcBef>
                <a:spcPts val="0"/>
              </a:spcBef>
              <a:buSzTx/>
              <a:buNone/>
              <a:defRPr sz="1700">
                <a:solidFill>
                  <a:schemeClr val="accent5"/>
                </a:solidFill>
                <a:latin typeface="+mj-lt"/>
                <a:ea typeface="+mj-ea"/>
                <a:cs typeface="+mj-cs"/>
                <a:sym typeface="Helvetica Neue" panose="02000503000000020004"/>
              </a:defRPr>
            </a:pPr>
            <a:r>
              <a:rPr lang="zh-CN" altLang="en-US" sz="2800" b="1" dirty="0">
                <a:solidFill>
                  <a:srgbClr val="00B050"/>
                </a:solidFill>
                <a:uFill>
                  <a:solidFill>
                    <a:srgbClr val="0000FF"/>
                  </a:solidFill>
                </a:uFill>
                <a:latin typeface="微软雅黑" panose="020B0503020204020204" pitchFamily="34" charset="-122"/>
                <a:ea typeface="微软雅黑" panose="020B0503020204020204" pitchFamily="34" charset="-122"/>
              </a:rPr>
              <a:t> </a:t>
            </a:r>
            <a:r>
              <a:rPr lang="zh-CN" altLang="en-US" sz="2800" b="1" i="0" dirty="0">
                <a:solidFill>
                  <a:srgbClr val="333333"/>
                </a:solidFill>
                <a:effectLst/>
                <a:latin typeface="QuoteFallback"/>
              </a:rPr>
              <a:t>“晋邢侯与雍子争赂田，久而无成。士景伯如楚，叔鱼摄理，韩宣子命断旧狱，罪在雍子。雍子纳其女于叔鱼，叔鱼蔽罪邢侯。邢侯怒，杀叔鱼与雍子于朝。宣子问其罪于叔向。叔向曰：‘三人同罪，施生戮死可也。雍子自知其罪而赂以买直，鲋也鬻狱，刑侯专杀，其罪一也。己恶而掠美为昏，贪以败官为墨，杀人不忌为贼。</a:t>
            </a:r>
            <a:r>
              <a:rPr lang="en-US" altLang="zh-CN" sz="2800" b="1" i="0" dirty="0">
                <a:solidFill>
                  <a:srgbClr val="333333"/>
                </a:solidFill>
                <a:effectLst/>
                <a:latin typeface="QuoteFallback"/>
              </a:rPr>
              <a:t>《</a:t>
            </a:r>
            <a:r>
              <a:rPr lang="zh-CN" altLang="en-US" sz="2800" b="1" i="0" dirty="0">
                <a:solidFill>
                  <a:srgbClr val="333333"/>
                </a:solidFill>
                <a:effectLst/>
                <a:latin typeface="QuoteFallback"/>
              </a:rPr>
              <a:t>夏书</a:t>
            </a:r>
            <a:r>
              <a:rPr lang="en-US" altLang="zh-CN" sz="2800" b="1" i="0" dirty="0">
                <a:solidFill>
                  <a:srgbClr val="333333"/>
                </a:solidFill>
                <a:effectLst/>
                <a:latin typeface="QuoteFallback"/>
              </a:rPr>
              <a:t>》</a:t>
            </a:r>
            <a:r>
              <a:rPr lang="zh-CN" altLang="en-US" sz="2800" b="1" i="0" dirty="0">
                <a:solidFill>
                  <a:srgbClr val="333333"/>
                </a:solidFill>
                <a:effectLst/>
                <a:latin typeface="QuoteFallback"/>
              </a:rPr>
              <a:t>曰：“昏、墨、贼，杀。”皋陶之刑也。请从之。’乃施邢侯而尸雍子与叔鱼于市。”</a:t>
            </a:r>
            <a:endParaRPr lang="en-US" altLang="zh-CN" sz="2800" b="1" i="0" dirty="0">
              <a:solidFill>
                <a:srgbClr val="333333"/>
              </a:solidFill>
              <a:effectLst/>
              <a:latin typeface="QuoteFallback"/>
            </a:endParaRPr>
          </a:p>
          <a:p>
            <a:pPr marL="0" indent="0" defTabSz="415925">
              <a:spcBef>
                <a:spcPts val="0"/>
              </a:spcBef>
              <a:buSzTx/>
              <a:buNone/>
              <a:defRPr sz="1700">
                <a:solidFill>
                  <a:schemeClr val="accent5"/>
                </a:solidFill>
                <a:latin typeface="+mj-lt"/>
                <a:ea typeface="+mj-ea"/>
                <a:cs typeface="+mj-cs"/>
                <a:sym typeface="Helvetica Neue" panose="02000503000000020004"/>
              </a:defRPr>
            </a:pPr>
            <a:r>
              <a:rPr lang="en-US" altLang="zh-CN" sz="2800" b="1" dirty="0">
                <a:solidFill>
                  <a:srgbClr val="333333"/>
                </a:solidFill>
                <a:latin typeface="QuoteFallback"/>
              </a:rPr>
              <a:t>                                               </a:t>
            </a:r>
            <a:r>
              <a:rPr lang="en-US" altLang="zh-CN" sz="2800" b="1" i="0" dirty="0">
                <a:solidFill>
                  <a:srgbClr val="333333"/>
                </a:solidFill>
                <a:effectLst/>
                <a:latin typeface="QuoteFallback"/>
              </a:rPr>
              <a:t>——</a:t>
            </a:r>
            <a:r>
              <a:rPr lang="zh-CN" altLang="en-US" sz="2800" b="1" i="0" dirty="0">
                <a:solidFill>
                  <a:srgbClr val="333333"/>
                </a:solidFill>
                <a:effectLst/>
                <a:latin typeface="QuoteFallback"/>
              </a:rPr>
              <a:t>左丘明</a:t>
            </a:r>
            <a:r>
              <a:rPr lang="en-US" altLang="zh-CN" sz="2800" b="1" i="0" dirty="0">
                <a:solidFill>
                  <a:srgbClr val="333333"/>
                </a:solidFill>
                <a:effectLst/>
                <a:latin typeface="QuoteFallback"/>
              </a:rPr>
              <a:t>《</a:t>
            </a:r>
            <a:r>
              <a:rPr lang="zh-CN" altLang="en-US" sz="2800" b="1" i="0" dirty="0">
                <a:solidFill>
                  <a:srgbClr val="333333"/>
                </a:solidFill>
                <a:effectLst/>
                <a:latin typeface="QuoteFallback"/>
              </a:rPr>
              <a:t>左氏春秋</a:t>
            </a:r>
            <a:r>
              <a:rPr lang="en-US" altLang="zh-CN" sz="2800" b="1" i="0" dirty="0">
                <a:solidFill>
                  <a:srgbClr val="333333"/>
                </a:solidFill>
                <a:effectLst/>
                <a:latin typeface="QuoteFallback"/>
              </a:rPr>
              <a:t>》</a:t>
            </a:r>
            <a:endParaRPr lang="en-US" altLang="zh-CN" sz="2800" b="1" dirty="0">
              <a:solidFill>
                <a:schemeClr val="bg2"/>
              </a:solidFill>
              <a:uFill>
                <a:solidFill>
                  <a:srgbClr val="0000FF"/>
                </a:solidFill>
              </a:uFill>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Shape 67"/>
          <p:cNvSpPr>
            <a:spLocks noGrp="1"/>
          </p:cNvSpPr>
          <p:nvPr>
            <p:ph type="title"/>
          </p:nvPr>
        </p:nvSpPr>
        <p:spPr>
          <a:xfrm>
            <a:off x="301625" y="609598"/>
            <a:ext cx="8540750" cy="1143003"/>
          </a:xfrm>
          <a:prstGeom prst="rect">
            <a:avLst/>
          </a:prstGeom>
        </p:spPr>
        <p:txBody>
          <a:bodyPr/>
          <a:lstStyle>
            <a:lvl1pPr>
              <a:defRPr>
                <a:latin typeface="宋体"/>
                <a:ea typeface="宋体"/>
                <a:cs typeface="宋体"/>
                <a:sym typeface="宋体"/>
              </a:defRPr>
            </a:lvl1pPr>
          </a:lstStyle>
          <a:p>
            <a:r>
              <a:rPr b="1" dirty="0" err="1">
                <a:latin typeface="微软雅黑" panose="020B0503020204020204" pitchFamily="34" charset="-122"/>
                <a:ea typeface="微软雅黑" panose="020B0503020204020204" pitchFamily="34" charset="-122"/>
              </a:rPr>
              <a:t>二、法律程序的</a:t>
            </a:r>
            <a:r>
              <a:rPr lang="zh-CN" altLang="en-US" b="1" dirty="0">
                <a:latin typeface="微软雅黑" panose="020B0503020204020204" pitchFamily="34" charset="-122"/>
                <a:ea typeface="微软雅黑" panose="020B0503020204020204" pitchFamily="34" charset="-122"/>
              </a:rPr>
              <a:t>功能</a:t>
            </a:r>
            <a:endParaRPr b="1" dirty="0">
              <a:latin typeface="微软雅黑" panose="020B0503020204020204" pitchFamily="34" charset="-122"/>
              <a:ea typeface="微软雅黑" panose="020B0503020204020204" pitchFamily="34" charset="-122"/>
            </a:endParaRPr>
          </a:p>
        </p:txBody>
      </p:sp>
      <p:sp>
        <p:nvSpPr>
          <p:cNvPr id="68" name="Shape 68"/>
          <p:cNvSpPr>
            <a:spLocks noGrp="1"/>
          </p:cNvSpPr>
          <p:nvPr>
            <p:ph type="body" idx="1"/>
          </p:nvPr>
        </p:nvSpPr>
        <p:spPr>
          <a:prstGeom prst="rect">
            <a:avLst/>
          </a:prstGeom>
        </p:spPr>
        <p:txBody>
          <a:bodyPr>
            <a:normAutofit/>
          </a:bodyPr>
          <a:lstStyle/>
          <a:p>
            <a:r>
              <a:rPr sz="2000" b="1" dirty="0">
                <a:latin typeface="微软雅黑" panose="020B0503020204020204" pitchFamily="34" charset="-122"/>
                <a:ea typeface="微软雅黑" panose="020B0503020204020204" pitchFamily="34" charset="-122"/>
              </a:rPr>
              <a:t>1</a:t>
            </a:r>
            <a:r>
              <a:rPr sz="2000" b="1" dirty="0">
                <a:latin typeface="微软雅黑" panose="020B0503020204020204" pitchFamily="34" charset="-122"/>
                <a:ea typeface="微软雅黑" panose="020B0503020204020204" pitchFamily="34" charset="-122"/>
                <a:cs typeface="宋体"/>
                <a:sym typeface="宋体"/>
              </a:rPr>
              <a:t>、抑制</a:t>
            </a:r>
            <a:r>
              <a:rPr lang="zh-CN" altLang="en-US" sz="2000" b="1" dirty="0">
                <a:latin typeface="微软雅黑" panose="020B0503020204020204" pitchFamily="34" charset="-122"/>
                <a:ea typeface="微软雅黑" panose="020B0503020204020204" pitchFamily="34" charset="-122"/>
                <a:cs typeface="宋体"/>
                <a:sym typeface="宋体"/>
              </a:rPr>
              <a:t>：通过程序的时空要素来克服和防止法律行为的随意性，即限制</a:t>
            </a:r>
            <a:r>
              <a:rPr sz="2000" b="1" dirty="0" err="1">
                <a:latin typeface="微软雅黑" panose="020B0503020204020204" pitchFamily="34" charset="-122"/>
                <a:ea typeface="微软雅黑" panose="020B0503020204020204" pitchFamily="34" charset="-122"/>
                <a:cs typeface="宋体"/>
                <a:sym typeface="宋体"/>
              </a:rPr>
              <a:t>人的任性或恣意</a:t>
            </a:r>
            <a:r>
              <a:rPr lang="zh-CN" altLang="en-US" sz="2000" b="1" dirty="0">
                <a:latin typeface="微软雅黑" panose="020B0503020204020204" pitchFamily="34" charset="-122"/>
                <a:ea typeface="微软雅黑" panose="020B0503020204020204" pitchFamily="34" charset="-122"/>
                <a:cs typeface="宋体"/>
                <a:sym typeface="宋体"/>
              </a:rPr>
              <a:t>。</a:t>
            </a:r>
            <a:endParaRPr sz="2000" b="1" dirty="0">
              <a:latin typeface="微软雅黑" panose="020B0503020204020204" pitchFamily="34" charset="-122"/>
              <a:ea typeface="微软雅黑" panose="020B0503020204020204" pitchFamily="34" charset="-122"/>
              <a:cs typeface="宋体"/>
              <a:sym typeface="宋体"/>
            </a:endParaRPr>
          </a:p>
          <a:p>
            <a:r>
              <a:rPr sz="2000" b="1" dirty="0">
                <a:latin typeface="微软雅黑" panose="020B0503020204020204" pitchFamily="34" charset="-122"/>
                <a:ea typeface="微软雅黑" panose="020B0503020204020204" pitchFamily="34" charset="-122"/>
              </a:rPr>
              <a:t>2</a:t>
            </a:r>
            <a:r>
              <a:rPr sz="2000" b="1" dirty="0">
                <a:latin typeface="微软雅黑" panose="020B0503020204020204" pitchFamily="34" charset="-122"/>
                <a:ea typeface="微软雅黑" panose="020B0503020204020204" pitchFamily="34" charset="-122"/>
                <a:cs typeface="宋体"/>
                <a:sym typeface="宋体"/>
              </a:rPr>
              <a:t>、导向、引导、指引</a:t>
            </a:r>
            <a:r>
              <a:rPr lang="zh-CN" altLang="en-US" sz="2000" b="1" dirty="0">
                <a:latin typeface="微软雅黑" panose="020B0503020204020204" pitchFamily="34" charset="-122"/>
                <a:ea typeface="微软雅黑" panose="020B0503020204020204" pitchFamily="34" charset="-122"/>
                <a:cs typeface="宋体"/>
                <a:sym typeface="宋体"/>
              </a:rPr>
              <a:t>：指引人们的法律行为按照一定的指向和标准在时间上得以延续，在空间上得以进行。</a:t>
            </a:r>
            <a:endParaRPr sz="2000" b="1" dirty="0">
              <a:latin typeface="微软雅黑" panose="020B0503020204020204" pitchFamily="34" charset="-122"/>
              <a:ea typeface="微软雅黑" panose="020B0503020204020204" pitchFamily="34" charset="-122"/>
              <a:cs typeface="宋体"/>
              <a:sym typeface="宋体"/>
            </a:endParaRPr>
          </a:p>
          <a:p>
            <a:r>
              <a:rPr sz="2000" b="1" dirty="0">
                <a:latin typeface="微软雅黑" panose="020B0503020204020204" pitchFamily="34" charset="-122"/>
                <a:ea typeface="微软雅黑" panose="020B0503020204020204" pitchFamily="34" charset="-122"/>
              </a:rPr>
              <a:t>3</a:t>
            </a:r>
            <a:r>
              <a:rPr sz="2000" b="1" dirty="0">
                <a:latin typeface="微软雅黑" panose="020B0503020204020204" pitchFamily="34" charset="-122"/>
                <a:ea typeface="微软雅黑" panose="020B0503020204020204" pitchFamily="34" charset="-122"/>
                <a:cs typeface="宋体"/>
                <a:sym typeface="宋体"/>
              </a:rPr>
              <a:t>、隔离与缓解</a:t>
            </a:r>
            <a:r>
              <a:rPr lang="zh-CN" altLang="en-US" sz="2000" b="1" dirty="0">
                <a:latin typeface="微软雅黑" panose="020B0503020204020204" pitchFamily="34" charset="-122"/>
                <a:ea typeface="微软雅黑" panose="020B0503020204020204" pitchFamily="34" charset="-122"/>
                <a:cs typeface="宋体"/>
                <a:sym typeface="宋体"/>
              </a:rPr>
              <a:t>：使行为人脱离接触予以空间隔离，以此缓解人们原先的行为和心理冲突，消除紧张气氛，为纠纷解决创造秩序条件。</a:t>
            </a:r>
            <a:endParaRPr sz="2000" b="1" dirty="0">
              <a:latin typeface="微软雅黑" panose="020B0503020204020204" pitchFamily="34" charset="-122"/>
              <a:ea typeface="微软雅黑" panose="020B0503020204020204" pitchFamily="34" charset="-122"/>
              <a:cs typeface="宋体"/>
              <a:sym typeface="宋体"/>
            </a:endParaRPr>
          </a:p>
          <a:p>
            <a:r>
              <a:rPr sz="2000" b="1" dirty="0">
                <a:latin typeface="微软雅黑" panose="020B0503020204020204" pitchFamily="34" charset="-122"/>
                <a:ea typeface="微软雅黑" panose="020B0503020204020204" pitchFamily="34" charset="-122"/>
              </a:rPr>
              <a:t>4</a:t>
            </a:r>
            <a:r>
              <a:rPr sz="2000" b="1" dirty="0">
                <a:latin typeface="微软雅黑" panose="020B0503020204020204" pitchFamily="34" charset="-122"/>
                <a:ea typeface="微软雅黑" panose="020B0503020204020204" pitchFamily="34" charset="-122"/>
                <a:cs typeface="宋体"/>
                <a:sym typeface="宋体"/>
              </a:rPr>
              <a:t>、分工与制衡</a:t>
            </a:r>
            <a:r>
              <a:rPr lang="zh-CN" altLang="en-US" sz="2000" b="1" dirty="0">
                <a:latin typeface="微软雅黑" panose="020B0503020204020204" pitchFamily="34" charset="-122"/>
                <a:ea typeface="微软雅黑" panose="020B0503020204020204" pitchFamily="34" charset="-122"/>
                <a:cs typeface="宋体"/>
                <a:sym typeface="宋体"/>
              </a:rPr>
              <a:t>：即角色分化，法官、检察官、公安人员、公诉人、辩护人、书记员、代理人、原告、被告、证人、鉴定人等角色不同，在诉讼过程中，依照程序，各个角色各司其职，相互配合，相互制约，这是程序最重要的意义所在。</a:t>
            </a:r>
            <a:endParaRPr sz="2000" b="1" dirty="0">
              <a:latin typeface="微软雅黑" panose="020B0503020204020204" pitchFamily="34" charset="-122"/>
              <a:ea typeface="微软雅黑" panose="020B0503020204020204" pitchFamily="34" charset="-122"/>
              <a:cs typeface="宋体"/>
              <a:sym typeface="宋体"/>
            </a:endParaRPr>
          </a:p>
          <a:p>
            <a:r>
              <a:rPr sz="2000" b="1" dirty="0">
                <a:latin typeface="微软雅黑" panose="020B0503020204020204" pitchFamily="34" charset="-122"/>
                <a:ea typeface="微软雅黑" panose="020B0503020204020204" pitchFamily="34" charset="-122"/>
              </a:rPr>
              <a:t>5</a:t>
            </a:r>
            <a:r>
              <a:rPr sz="2000" b="1" dirty="0">
                <a:latin typeface="微软雅黑" panose="020B0503020204020204" pitchFamily="34" charset="-122"/>
                <a:ea typeface="微软雅黑" panose="020B0503020204020204" pitchFamily="34" charset="-122"/>
                <a:cs typeface="宋体"/>
                <a:sym typeface="宋体"/>
              </a:rPr>
              <a:t>、</a:t>
            </a:r>
            <a:r>
              <a:rPr sz="2000" b="1" dirty="0">
                <a:latin typeface="微软雅黑" panose="020B0503020204020204" pitchFamily="34" charset="-122"/>
                <a:ea typeface="微软雅黑" panose="020B0503020204020204" pitchFamily="34" charset="-122"/>
              </a:rPr>
              <a:t>演示</a:t>
            </a:r>
            <a:r>
              <a:rPr sz="2000" b="1" dirty="0">
                <a:latin typeface="微软雅黑" panose="020B0503020204020204" pitchFamily="34" charset="-122"/>
                <a:ea typeface="微软雅黑" panose="020B0503020204020204" pitchFamily="34" charset="-122"/>
                <a:cs typeface="宋体"/>
                <a:sym typeface="宋体"/>
              </a:rPr>
              <a:t>与内心服从</a:t>
            </a:r>
            <a:r>
              <a:rPr lang="zh-CN" altLang="en-US" sz="2000" b="1" dirty="0">
                <a:latin typeface="微软雅黑" panose="020B0503020204020204" pitchFamily="34" charset="-122"/>
                <a:ea typeface="微软雅黑" panose="020B0503020204020204" pitchFamily="34" charset="-122"/>
                <a:cs typeface="宋体"/>
                <a:sym typeface="宋体"/>
              </a:rPr>
              <a:t>：依照程序，整个诉讼过程，由不同的角色人以“剧场”的方式演示正义的如何实现，最终结果，使当事人内心得以服从。</a:t>
            </a:r>
            <a:endParaRPr sz="2000" b="1" dirty="0">
              <a:latin typeface="微软雅黑" panose="020B0503020204020204" pitchFamily="34" charset="-122"/>
              <a:ea typeface="微软雅黑" panose="020B0503020204020204" pitchFamily="34" charset="-122"/>
              <a:cs typeface="宋体"/>
              <a:sym typeface="宋体"/>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Shape 70"/>
          <p:cNvSpPr>
            <a:spLocks noGrp="1"/>
          </p:cNvSpPr>
          <p:nvPr>
            <p:ph type="title"/>
          </p:nvPr>
        </p:nvSpPr>
        <p:spPr>
          <a:xfrm>
            <a:off x="301625" y="609599"/>
            <a:ext cx="8540750" cy="741874"/>
          </a:xfrm>
          <a:prstGeom prst="rect">
            <a:avLst/>
          </a:prstGeom>
        </p:spPr>
        <p:txBody>
          <a:bodyPr>
            <a:normAutofit/>
          </a:bodyPr>
          <a:lstStyle>
            <a:lvl1pPr>
              <a:defRPr>
                <a:latin typeface="宋体"/>
                <a:ea typeface="宋体"/>
                <a:cs typeface="宋体"/>
                <a:sym typeface="宋体"/>
              </a:defRPr>
            </a:lvl1pPr>
          </a:lstStyle>
          <a:p>
            <a:r>
              <a:rPr sz="3600" b="1" dirty="0" err="1">
                <a:latin typeface="微软雅黑" panose="020B0503020204020204" pitchFamily="34" charset="-122"/>
                <a:ea typeface="微软雅黑" panose="020B0503020204020204" pitchFamily="34" charset="-122"/>
              </a:rPr>
              <a:t>三、正当程序</a:t>
            </a:r>
            <a:endParaRPr sz="3600" b="1" dirty="0">
              <a:latin typeface="微软雅黑" panose="020B0503020204020204" pitchFamily="34" charset="-122"/>
              <a:ea typeface="微软雅黑" panose="020B0503020204020204" pitchFamily="34" charset="-122"/>
            </a:endParaRPr>
          </a:p>
        </p:txBody>
      </p:sp>
      <p:sp>
        <p:nvSpPr>
          <p:cNvPr id="71" name="Shape 71"/>
          <p:cNvSpPr>
            <a:spLocks noGrp="1"/>
          </p:cNvSpPr>
          <p:nvPr>
            <p:ph type="body" idx="1"/>
          </p:nvPr>
        </p:nvSpPr>
        <p:spPr>
          <a:xfrm>
            <a:off x="301625" y="1512498"/>
            <a:ext cx="8540750" cy="4586677"/>
          </a:xfrm>
          <a:prstGeom prst="rect">
            <a:avLst/>
          </a:prstGeom>
        </p:spPr>
        <p:txBody>
          <a:bodyPr/>
          <a:lstStyle/>
          <a:p>
            <a:pPr>
              <a:lnSpc>
                <a:spcPct val="90000"/>
              </a:lnSpc>
              <a:spcBef>
                <a:spcPts val="500"/>
              </a:spcBef>
              <a:defRPr sz="2400">
                <a:latin typeface="宋体"/>
                <a:ea typeface="宋体"/>
                <a:cs typeface="宋体"/>
                <a:sym typeface="宋体"/>
              </a:defRPr>
            </a:pPr>
            <a:r>
              <a:rPr b="1" dirty="0" err="1">
                <a:latin typeface="微软雅黑" panose="020B0503020204020204" pitchFamily="34" charset="-122"/>
                <a:ea typeface="微软雅黑" panose="020B0503020204020204" pitchFamily="34" charset="-122"/>
              </a:rPr>
              <a:t>正当程序的起源</a:t>
            </a:r>
            <a:r>
              <a:rPr b="1" dirty="0">
                <a:latin typeface="微软雅黑" panose="020B0503020204020204" pitchFamily="34" charset="-122"/>
                <a:ea typeface="微软雅黑" panose="020B0503020204020204" pitchFamily="34" charset="-122"/>
              </a:rPr>
              <a:t>：</a:t>
            </a:r>
            <a:endParaRPr b="1" dirty="0">
              <a:latin typeface="微软雅黑" panose="020B0503020204020204" pitchFamily="34" charset="-122"/>
              <a:ea typeface="微软雅黑" panose="020B0503020204020204" pitchFamily="34" charset="-122"/>
            </a:endParaRPr>
          </a:p>
          <a:p>
            <a:pPr>
              <a:lnSpc>
                <a:spcPct val="90000"/>
              </a:lnSpc>
              <a:spcBef>
                <a:spcPts val="500"/>
              </a:spcBef>
              <a:defRPr sz="2400"/>
            </a:pPr>
            <a:r>
              <a:rPr b="1" dirty="0">
                <a:latin typeface="微软雅黑" panose="020B0503020204020204" pitchFamily="34" charset="-122"/>
                <a:ea typeface="微软雅黑" panose="020B0503020204020204" pitchFamily="34" charset="-122"/>
              </a:rPr>
              <a:t>1215</a:t>
            </a:r>
            <a:r>
              <a:rPr b="1" dirty="0">
                <a:latin typeface="微软雅黑" panose="020B0503020204020204" pitchFamily="34" charset="-122"/>
                <a:ea typeface="微软雅黑" panose="020B0503020204020204" pitchFamily="34" charset="-122"/>
                <a:cs typeface="宋体"/>
                <a:sym typeface="宋体"/>
              </a:rPr>
              <a:t>年《自由大宪章》：</a:t>
            </a:r>
            <a:r>
              <a:rPr b="1" dirty="0" err="1">
                <a:latin typeface="微软雅黑" panose="020B0503020204020204" pitchFamily="34" charset="-122"/>
                <a:ea typeface="微软雅黑" panose="020B0503020204020204" pitchFamily="34" charset="-122"/>
                <a:cs typeface="宋体"/>
                <a:sym typeface="宋体"/>
              </a:rPr>
              <a:t>它是历史上第一次以法律的形式对国王权力的限制和约束，故被认为是开法治之先河。有四部原本保存至今，林肯大教堂和索尔</a:t>
            </a:r>
            <a:r>
              <a:rPr lang="zh-CN" altLang="en-US" b="1" dirty="0">
                <a:latin typeface="微软雅黑" panose="020B0503020204020204" pitchFamily="34" charset="-122"/>
                <a:ea typeface="微软雅黑" panose="020B0503020204020204" pitchFamily="34" charset="-122"/>
                <a:cs typeface="宋体"/>
                <a:sym typeface="宋体"/>
              </a:rPr>
              <a:t>兹</a:t>
            </a:r>
            <a:r>
              <a:rPr b="1" dirty="0" err="1">
                <a:latin typeface="微软雅黑" panose="020B0503020204020204" pitchFamily="34" charset="-122"/>
                <a:ea typeface="微软雅黑" panose="020B0503020204020204" pitchFamily="34" charset="-122"/>
                <a:cs typeface="宋体"/>
                <a:sym typeface="宋体"/>
              </a:rPr>
              <a:t>伯里大教堂各一份，另两部存放在伦敦不列颠博物馆</a:t>
            </a:r>
            <a:r>
              <a:rPr b="1" dirty="0">
                <a:latin typeface="微软雅黑" panose="020B0503020204020204" pitchFamily="34" charset="-122"/>
                <a:ea typeface="微软雅黑" panose="020B0503020204020204" pitchFamily="34" charset="-122"/>
                <a:cs typeface="宋体"/>
                <a:sym typeface="宋体"/>
              </a:rPr>
              <a:t>。</a:t>
            </a:r>
            <a:endParaRPr lang="en-US" b="1" dirty="0">
              <a:latin typeface="微软雅黑" panose="020B0503020204020204" pitchFamily="34" charset="-122"/>
              <a:ea typeface="微软雅黑" panose="020B0503020204020204" pitchFamily="34" charset="-122"/>
              <a:cs typeface="宋体"/>
              <a:sym typeface="宋体"/>
            </a:endParaRPr>
          </a:p>
          <a:p>
            <a:pPr>
              <a:lnSpc>
                <a:spcPct val="90000"/>
              </a:lnSpc>
              <a:spcBef>
                <a:spcPts val="500"/>
              </a:spcBef>
              <a:defRPr sz="2400"/>
            </a:pPr>
            <a:r>
              <a:rPr b="1" dirty="0">
                <a:latin typeface="微软雅黑" panose="020B0503020204020204" pitchFamily="34" charset="-122"/>
                <a:ea typeface="微软雅黑" panose="020B0503020204020204" pitchFamily="34" charset="-122"/>
                <a:cs typeface="宋体"/>
                <a:sym typeface="宋体"/>
              </a:rPr>
              <a:t>大宪章全文共</a:t>
            </a:r>
            <a:r>
              <a:rPr b="1" dirty="0">
                <a:latin typeface="微软雅黑" panose="020B0503020204020204" pitchFamily="34" charset="-122"/>
                <a:ea typeface="微软雅黑" panose="020B0503020204020204" pitchFamily="34" charset="-122"/>
              </a:rPr>
              <a:t>63</a:t>
            </a:r>
            <a:r>
              <a:rPr b="1" dirty="0">
                <a:latin typeface="微软雅黑" panose="020B0503020204020204" pitchFamily="34" charset="-122"/>
                <a:ea typeface="微软雅黑" panose="020B0503020204020204" pitchFamily="34" charset="-122"/>
                <a:cs typeface="宋体"/>
                <a:sym typeface="宋体"/>
              </a:rPr>
              <a:t>条，其中第</a:t>
            </a:r>
            <a:r>
              <a:rPr b="1" dirty="0">
                <a:latin typeface="微软雅黑" panose="020B0503020204020204" pitchFamily="34" charset="-122"/>
                <a:ea typeface="微软雅黑" panose="020B0503020204020204" pitchFamily="34" charset="-122"/>
              </a:rPr>
              <a:t>39</a:t>
            </a:r>
            <a:r>
              <a:rPr b="1" dirty="0">
                <a:latin typeface="微软雅黑" panose="020B0503020204020204" pitchFamily="34" charset="-122"/>
                <a:ea typeface="微软雅黑" panose="020B0503020204020204" pitchFamily="34" charset="-122"/>
                <a:cs typeface="宋体"/>
                <a:sym typeface="宋体"/>
              </a:rPr>
              <a:t>条和</a:t>
            </a:r>
            <a:r>
              <a:rPr b="1" dirty="0">
                <a:latin typeface="微软雅黑" panose="020B0503020204020204" pitchFamily="34" charset="-122"/>
                <a:ea typeface="微软雅黑" panose="020B0503020204020204" pitchFamily="34" charset="-122"/>
              </a:rPr>
              <a:t>61</a:t>
            </a:r>
            <a:r>
              <a:rPr b="1" dirty="0">
                <a:latin typeface="微软雅黑" panose="020B0503020204020204" pitchFamily="34" charset="-122"/>
                <a:ea typeface="微软雅黑" panose="020B0503020204020204" pitchFamily="34" charset="-122"/>
                <a:cs typeface="宋体"/>
                <a:sym typeface="宋体"/>
              </a:rPr>
              <a:t>条具有极其重要的作用，对后世影响尤为深刻。 </a:t>
            </a:r>
            <a:endParaRPr b="1" dirty="0">
              <a:latin typeface="微软雅黑" panose="020B0503020204020204" pitchFamily="34" charset="-122"/>
              <a:ea typeface="微软雅黑" panose="020B0503020204020204" pitchFamily="34" charset="-122"/>
              <a:cs typeface="宋体"/>
              <a:sym typeface="宋体"/>
            </a:endParaRPr>
          </a:p>
          <a:p>
            <a:pPr>
              <a:lnSpc>
                <a:spcPct val="90000"/>
              </a:lnSpc>
              <a:spcBef>
                <a:spcPts val="500"/>
              </a:spcBef>
              <a:defRPr sz="2400">
                <a:latin typeface="宋体"/>
                <a:ea typeface="宋体"/>
                <a:cs typeface="宋体"/>
                <a:sym typeface="宋体"/>
              </a:defRPr>
            </a:pPr>
            <a:r>
              <a:rPr b="1" dirty="0">
                <a:latin typeface="微软雅黑" panose="020B0503020204020204" pitchFamily="34" charset="-122"/>
                <a:ea typeface="微软雅黑" panose="020B0503020204020204" pitchFamily="34" charset="-122"/>
              </a:rPr>
              <a:t>第</a:t>
            </a:r>
            <a:r>
              <a:rPr b="1" dirty="0">
                <a:latin typeface="微软雅黑" panose="020B0503020204020204" pitchFamily="34" charset="-122"/>
                <a:ea typeface="微软雅黑" panose="020B0503020204020204" pitchFamily="34" charset="-122"/>
                <a:sym typeface="Arial" panose="020B0704020202020204"/>
              </a:rPr>
              <a:t>39</a:t>
            </a:r>
            <a:r>
              <a:rPr b="1" dirty="0">
                <a:latin typeface="微软雅黑" panose="020B0503020204020204" pitchFamily="34" charset="-122"/>
                <a:ea typeface="微软雅黑" panose="020B0503020204020204" pitchFamily="34" charset="-122"/>
              </a:rPr>
              <a:t>条：任何自由人，如未经其贵族依法判决或遵照国内法律之规定外，不得加以扣留、监禁、没收其财产、剥夺其自由权和法律保护权，或加以放逐、伤害、搜查或逮捕。 </a:t>
            </a:r>
            <a:endParaRPr b="1" dirty="0">
              <a:latin typeface="微软雅黑" panose="020B0503020204020204" pitchFamily="34" charset="-122"/>
              <a:ea typeface="微软雅黑" panose="020B0503020204020204" pitchFamily="34" charset="-122"/>
            </a:endParaRPr>
          </a:p>
          <a:p>
            <a:pPr>
              <a:lnSpc>
                <a:spcPct val="90000"/>
              </a:lnSpc>
              <a:spcBef>
                <a:spcPts val="500"/>
              </a:spcBef>
              <a:defRPr sz="2400">
                <a:latin typeface="宋体"/>
                <a:ea typeface="宋体"/>
                <a:cs typeface="宋体"/>
                <a:sym typeface="宋体"/>
              </a:defRPr>
            </a:pPr>
            <a:r>
              <a:rPr b="1" dirty="0">
                <a:latin typeface="微软雅黑" panose="020B0503020204020204" pitchFamily="34" charset="-122"/>
                <a:ea typeface="微软雅黑" panose="020B0503020204020204" pitchFamily="34" charset="-122"/>
              </a:rPr>
              <a:t>第</a:t>
            </a:r>
            <a:r>
              <a:rPr b="1" dirty="0">
                <a:latin typeface="微软雅黑" panose="020B0503020204020204" pitchFamily="34" charset="-122"/>
                <a:ea typeface="微软雅黑" panose="020B0503020204020204" pitchFamily="34" charset="-122"/>
                <a:sym typeface="Arial" panose="020B0704020202020204"/>
              </a:rPr>
              <a:t>39</a:t>
            </a:r>
            <a:r>
              <a:rPr b="1" dirty="0">
                <a:latin typeface="微软雅黑" panose="020B0503020204020204" pitchFamily="34" charset="-122"/>
                <a:ea typeface="微软雅黑" panose="020B0503020204020204" pitchFamily="34" charset="-122"/>
              </a:rPr>
              <a:t>条之规定是正当程序最早的法律文献来源与表述 </a:t>
            </a:r>
            <a:r>
              <a:rPr dirty="0"/>
              <a:t>。</a:t>
            </a:r>
            <a:endParaRPr dirty="0"/>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Shape 73"/>
          <p:cNvSpPr>
            <a:spLocks noGrp="1"/>
          </p:cNvSpPr>
          <p:nvPr>
            <p:ph type="title"/>
          </p:nvPr>
        </p:nvSpPr>
        <p:spPr>
          <a:xfrm>
            <a:off x="301625" y="609599"/>
            <a:ext cx="8540750" cy="621104"/>
          </a:xfrm>
          <a:prstGeom prst="rect">
            <a:avLst/>
          </a:prstGeom>
        </p:spPr>
        <p:txBody>
          <a:bodyPr>
            <a:normAutofit fontScale="90000"/>
          </a:bodyPr>
          <a:lstStyle/>
          <a:p>
            <a:endParaRPr dirty="0"/>
          </a:p>
        </p:txBody>
      </p:sp>
      <p:sp>
        <p:nvSpPr>
          <p:cNvPr id="74" name="Shape 74"/>
          <p:cNvSpPr>
            <a:spLocks noGrp="1"/>
          </p:cNvSpPr>
          <p:nvPr>
            <p:ph type="body" idx="1"/>
          </p:nvPr>
        </p:nvSpPr>
        <p:spPr>
          <a:xfrm>
            <a:off x="301625" y="1357224"/>
            <a:ext cx="8540750" cy="4741952"/>
          </a:xfrm>
          <a:prstGeom prst="rect">
            <a:avLst/>
          </a:prstGeom>
        </p:spPr>
        <p:txBody>
          <a:bodyPr/>
          <a:lstStyle/>
          <a:p>
            <a:pPr marL="315595" indent="-315595" defTabSz="841375">
              <a:lnSpc>
                <a:spcPct val="80000"/>
              </a:lnSpc>
              <a:spcBef>
                <a:spcPts val="600"/>
              </a:spcBef>
              <a:defRPr sz="2500" b="1"/>
            </a:pPr>
            <a:r>
              <a:rPr dirty="0">
                <a:solidFill>
                  <a:srgbClr val="C00000"/>
                </a:solidFill>
                <a:latin typeface="微软雅黑" panose="020B0503020204020204" pitchFamily="34" charset="-122"/>
                <a:ea typeface="微软雅黑" panose="020B0503020204020204" pitchFamily="34" charset="-122"/>
              </a:rPr>
              <a:t>1789</a:t>
            </a:r>
            <a:r>
              <a:rPr dirty="0">
                <a:solidFill>
                  <a:srgbClr val="C00000"/>
                </a:solidFill>
                <a:latin typeface="微软雅黑" panose="020B0503020204020204" pitchFamily="34" charset="-122"/>
                <a:ea typeface="微软雅黑" panose="020B0503020204020204" pitchFamily="34" charset="-122"/>
                <a:cs typeface="宋体"/>
                <a:sym typeface="宋体"/>
              </a:rPr>
              <a:t>年法国《人权宣言》第</a:t>
            </a:r>
            <a:r>
              <a:rPr dirty="0">
                <a:solidFill>
                  <a:srgbClr val="C00000"/>
                </a:solidFill>
                <a:latin typeface="微软雅黑" panose="020B0503020204020204" pitchFamily="34" charset="-122"/>
                <a:ea typeface="微软雅黑" panose="020B0503020204020204" pitchFamily="34" charset="-122"/>
              </a:rPr>
              <a:t>7</a:t>
            </a:r>
            <a:r>
              <a:rPr dirty="0">
                <a:solidFill>
                  <a:srgbClr val="C00000"/>
                </a:solidFill>
                <a:latin typeface="微软雅黑" panose="020B0503020204020204" pitchFamily="34" charset="-122"/>
                <a:ea typeface="微软雅黑" panose="020B0503020204020204" pitchFamily="34" charset="-122"/>
                <a:cs typeface="宋体"/>
                <a:sym typeface="宋体"/>
              </a:rPr>
              <a:t>条：</a:t>
            </a:r>
            <a:endParaRPr dirty="0">
              <a:solidFill>
                <a:srgbClr val="C00000"/>
              </a:solidFill>
              <a:latin typeface="微软雅黑" panose="020B0503020204020204" pitchFamily="34" charset="-122"/>
              <a:ea typeface="微软雅黑" panose="020B0503020204020204" pitchFamily="34" charset="-122"/>
              <a:cs typeface="宋体"/>
              <a:sym typeface="宋体"/>
            </a:endParaRPr>
          </a:p>
          <a:p>
            <a:pPr marL="315595" indent="-315595" defTabSz="841375">
              <a:lnSpc>
                <a:spcPct val="80000"/>
              </a:lnSpc>
              <a:spcBef>
                <a:spcPts val="600"/>
              </a:spcBef>
              <a:defRPr sz="2500">
                <a:latin typeface="宋体"/>
                <a:ea typeface="宋体"/>
                <a:cs typeface="宋体"/>
                <a:sym typeface="宋体"/>
              </a:defRPr>
            </a:pPr>
            <a:r>
              <a:rPr b="1" dirty="0" err="1">
                <a:latin typeface="微软雅黑" panose="020B0503020204020204" pitchFamily="34" charset="-122"/>
                <a:ea typeface="微软雅黑" panose="020B0503020204020204" pitchFamily="34" charset="-122"/>
              </a:rPr>
              <a:t>除非在法律所规定的情况下并按照法律所指示的程序，不得控告、逮捕或拘留任何人</a:t>
            </a:r>
            <a:r>
              <a:rPr b="1" dirty="0">
                <a:latin typeface="微软雅黑" panose="020B0503020204020204" pitchFamily="34" charset="-122"/>
                <a:ea typeface="微软雅黑" panose="020B0503020204020204" pitchFamily="34" charset="-122"/>
              </a:rPr>
              <a:t>。 </a:t>
            </a:r>
            <a:endParaRPr b="1" dirty="0">
              <a:latin typeface="微软雅黑" panose="020B0503020204020204" pitchFamily="34" charset="-122"/>
              <a:ea typeface="微软雅黑" panose="020B0503020204020204" pitchFamily="34" charset="-122"/>
            </a:endParaRPr>
          </a:p>
          <a:p>
            <a:pPr marL="315595" indent="-315595" defTabSz="841375">
              <a:lnSpc>
                <a:spcPct val="80000"/>
              </a:lnSpc>
              <a:spcBef>
                <a:spcPts val="600"/>
              </a:spcBef>
              <a:defRPr sz="2500" b="1"/>
            </a:pPr>
            <a:r>
              <a:rPr b="1" dirty="0">
                <a:solidFill>
                  <a:srgbClr val="C00000"/>
                </a:solidFill>
                <a:latin typeface="微软雅黑" panose="020B0503020204020204" pitchFamily="34" charset="-122"/>
                <a:ea typeface="微软雅黑" panose="020B0503020204020204" pitchFamily="34" charset="-122"/>
              </a:rPr>
              <a:t>1791</a:t>
            </a:r>
            <a:r>
              <a:rPr b="1" dirty="0">
                <a:solidFill>
                  <a:srgbClr val="C00000"/>
                </a:solidFill>
                <a:latin typeface="微软雅黑" panose="020B0503020204020204" pitchFamily="34" charset="-122"/>
                <a:ea typeface="微软雅黑" panose="020B0503020204020204" pitchFamily="34" charset="-122"/>
                <a:cs typeface="宋体"/>
                <a:sym typeface="宋体"/>
              </a:rPr>
              <a:t>年美国《权利法案》第</a:t>
            </a:r>
            <a:r>
              <a:rPr b="1" dirty="0">
                <a:solidFill>
                  <a:srgbClr val="C00000"/>
                </a:solidFill>
                <a:latin typeface="微软雅黑" panose="020B0503020204020204" pitchFamily="34" charset="-122"/>
                <a:ea typeface="微软雅黑" panose="020B0503020204020204" pitchFamily="34" charset="-122"/>
              </a:rPr>
              <a:t>5</a:t>
            </a:r>
            <a:r>
              <a:rPr b="1" dirty="0">
                <a:solidFill>
                  <a:srgbClr val="C00000"/>
                </a:solidFill>
                <a:latin typeface="微软雅黑" panose="020B0503020204020204" pitchFamily="34" charset="-122"/>
                <a:ea typeface="微软雅黑" panose="020B0503020204020204" pitchFamily="34" charset="-122"/>
                <a:cs typeface="宋体"/>
                <a:sym typeface="宋体"/>
              </a:rPr>
              <a:t>条：</a:t>
            </a:r>
            <a:endParaRPr b="1" dirty="0">
              <a:solidFill>
                <a:srgbClr val="C00000"/>
              </a:solidFill>
              <a:latin typeface="微软雅黑" panose="020B0503020204020204" pitchFamily="34" charset="-122"/>
              <a:ea typeface="微软雅黑" panose="020B0503020204020204" pitchFamily="34" charset="-122"/>
              <a:cs typeface="宋体"/>
              <a:sym typeface="宋体"/>
            </a:endParaRPr>
          </a:p>
          <a:p>
            <a:pPr marL="315595" indent="-315595" defTabSz="841375">
              <a:lnSpc>
                <a:spcPct val="80000"/>
              </a:lnSpc>
              <a:spcBef>
                <a:spcPts val="600"/>
              </a:spcBef>
              <a:defRPr sz="2500">
                <a:latin typeface="宋体"/>
                <a:ea typeface="宋体"/>
                <a:cs typeface="宋体"/>
                <a:sym typeface="宋体"/>
              </a:defRPr>
            </a:pPr>
            <a:r>
              <a:rPr b="1" dirty="0">
                <a:latin typeface="微软雅黑" panose="020B0503020204020204" pitchFamily="34" charset="-122"/>
                <a:ea typeface="微软雅黑" panose="020B0503020204020204" pitchFamily="34" charset="-122"/>
              </a:rPr>
              <a:t>未经大陪审团同意，任何人不接受死刑和重罪的刑事指控，在战时或者出现公共危险时，在陆海军及民兵中出现的案例例外。任何人不得因同一犯罪行为而两次被置于生命或身体的危害中。不得在任何刑事案件中被迫自证其罪。未经法律的正当程序，任何人的生命、自由、财产不受剥夺。非经公平赔偿，私有财产不得征为公用。</a:t>
            </a:r>
            <a:endParaRPr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Shape 76"/>
          <p:cNvSpPr>
            <a:spLocks noGrp="1"/>
          </p:cNvSpPr>
          <p:nvPr>
            <p:ph type="title"/>
          </p:nvPr>
        </p:nvSpPr>
        <p:spPr>
          <a:xfrm>
            <a:off x="301625" y="609599"/>
            <a:ext cx="8540750" cy="695866"/>
          </a:xfrm>
          <a:prstGeom prst="rect">
            <a:avLst/>
          </a:prstGeom>
        </p:spPr>
        <p:txBody>
          <a:bodyPr>
            <a:normAutofit fontScale="90000"/>
          </a:bodyPr>
          <a:lstStyle>
            <a:lvl1pPr>
              <a:defRPr>
                <a:latin typeface="宋体"/>
                <a:ea typeface="宋体"/>
                <a:cs typeface="宋体"/>
                <a:sym typeface="宋体"/>
              </a:defRPr>
            </a:lvl1pPr>
          </a:lstStyle>
          <a:p>
            <a:r>
              <a:rPr b="1" dirty="0" err="1">
                <a:latin typeface="微软雅黑" panose="020B0503020204020204" pitchFamily="34" charset="-122"/>
                <a:ea typeface="微软雅黑" panose="020B0503020204020204" pitchFamily="34" charset="-122"/>
              </a:rPr>
              <a:t>程序正当具备的条件</a:t>
            </a:r>
            <a:endParaRPr b="1" dirty="0">
              <a:latin typeface="微软雅黑" panose="020B0503020204020204" pitchFamily="34" charset="-122"/>
              <a:ea typeface="微软雅黑" panose="020B0503020204020204" pitchFamily="34" charset="-122"/>
            </a:endParaRPr>
          </a:p>
        </p:txBody>
      </p:sp>
      <p:sp>
        <p:nvSpPr>
          <p:cNvPr id="77" name="Shape 77"/>
          <p:cNvSpPr>
            <a:spLocks noGrp="1"/>
          </p:cNvSpPr>
          <p:nvPr>
            <p:ph type="body" idx="1"/>
          </p:nvPr>
        </p:nvSpPr>
        <p:spPr>
          <a:xfrm>
            <a:off x="301625" y="1408981"/>
            <a:ext cx="8540750" cy="4690195"/>
          </a:xfrm>
          <a:prstGeom prst="rect">
            <a:avLst/>
          </a:prstGeom>
        </p:spPr>
        <p:txBody>
          <a:bodyPr/>
          <a:lstStyle/>
          <a:p>
            <a:pPr marL="315595" indent="-315595" defTabSz="841375">
              <a:lnSpc>
                <a:spcPct val="80000"/>
              </a:lnSpc>
              <a:spcBef>
                <a:spcPts val="500"/>
              </a:spcBef>
              <a:defRPr sz="2200">
                <a:latin typeface="宋体"/>
                <a:ea typeface="宋体"/>
                <a:cs typeface="宋体"/>
                <a:sym typeface="宋体"/>
              </a:defRPr>
            </a:pPr>
            <a:r>
              <a:rPr b="1" dirty="0" err="1">
                <a:latin typeface="微软雅黑" panose="020B0503020204020204" pitchFamily="34" charset="-122"/>
                <a:ea typeface="微软雅黑" panose="020B0503020204020204" pitchFamily="34" charset="-122"/>
              </a:rPr>
              <a:t>无论是立法、执法和司法都涉及程序问题，如何理解、把握和判断程序正当呢？按照一般原理，程序正当具备的条件是</a:t>
            </a:r>
            <a:r>
              <a:rPr b="1" dirty="0">
                <a:latin typeface="微软雅黑" panose="020B0503020204020204" pitchFamily="34" charset="-122"/>
                <a:ea typeface="微软雅黑" panose="020B0503020204020204" pitchFamily="34" charset="-122"/>
              </a:rPr>
              <a:t>：</a:t>
            </a:r>
            <a:endParaRPr b="1" dirty="0">
              <a:latin typeface="微软雅黑" panose="020B0503020204020204" pitchFamily="34" charset="-122"/>
              <a:ea typeface="微软雅黑" panose="020B0503020204020204" pitchFamily="34" charset="-122"/>
            </a:endParaRPr>
          </a:p>
          <a:p>
            <a:pPr marL="315595" indent="-315595" defTabSz="841375">
              <a:lnSpc>
                <a:spcPct val="80000"/>
              </a:lnSpc>
              <a:spcBef>
                <a:spcPts val="500"/>
              </a:spcBef>
              <a:defRPr sz="2200">
                <a:latin typeface="宋体"/>
                <a:ea typeface="宋体"/>
                <a:cs typeface="宋体"/>
                <a:sym typeface="宋体"/>
              </a:defRPr>
            </a:pPr>
            <a:r>
              <a:rPr b="1" dirty="0">
                <a:latin typeface="微软雅黑" panose="020B0503020204020204" pitchFamily="34" charset="-122"/>
                <a:ea typeface="微软雅黑" panose="020B0503020204020204" pitchFamily="34" charset="-122"/>
              </a:rPr>
              <a:t>（</a:t>
            </a:r>
            <a:r>
              <a:rPr b="1" dirty="0">
                <a:latin typeface="微软雅黑" panose="020B0503020204020204" pitchFamily="34" charset="-122"/>
                <a:ea typeface="微软雅黑" panose="020B0503020204020204" pitchFamily="34" charset="-122"/>
                <a:sym typeface="Arial" panose="020B0704020202020204"/>
              </a:rPr>
              <a:t>1</a:t>
            </a:r>
            <a:r>
              <a:rPr b="1" dirty="0">
                <a:latin typeface="微软雅黑" panose="020B0503020204020204" pitchFamily="34" charset="-122"/>
                <a:ea typeface="微软雅黑" panose="020B0503020204020204" pitchFamily="34" charset="-122"/>
              </a:rPr>
              <a:t>）合乎法律的规定。判断程序正当与否的一个最直接的方法就是看法律规定的程序是否被严格的履行。 </a:t>
            </a:r>
            <a:endParaRPr b="1" dirty="0">
              <a:latin typeface="微软雅黑" panose="020B0503020204020204" pitchFamily="34" charset="-122"/>
              <a:ea typeface="微软雅黑" panose="020B0503020204020204" pitchFamily="34" charset="-122"/>
            </a:endParaRPr>
          </a:p>
          <a:p>
            <a:pPr marL="315595" indent="-315595" defTabSz="841375">
              <a:lnSpc>
                <a:spcPct val="80000"/>
              </a:lnSpc>
              <a:spcBef>
                <a:spcPts val="500"/>
              </a:spcBef>
              <a:defRPr sz="2200">
                <a:latin typeface="宋体"/>
                <a:ea typeface="宋体"/>
                <a:cs typeface="宋体"/>
                <a:sym typeface="宋体"/>
              </a:defRPr>
            </a:pPr>
            <a:r>
              <a:rPr b="1" dirty="0" err="1">
                <a:latin typeface="微软雅黑" panose="020B0503020204020204" pitchFamily="34" charset="-122"/>
                <a:ea typeface="微软雅黑" panose="020B0503020204020204" pitchFamily="34" charset="-122"/>
              </a:rPr>
              <a:t>在刑事侦查活动中，如果违法法律规范的程序获得的证据，则不能作为法庭上有效的证据使用的</a:t>
            </a:r>
            <a:r>
              <a:rPr b="1" dirty="0">
                <a:latin typeface="微软雅黑" panose="020B0503020204020204" pitchFamily="34" charset="-122"/>
                <a:ea typeface="微软雅黑" panose="020B0503020204020204" pitchFamily="34" charset="-122"/>
              </a:rPr>
              <a:t>。《公安机关办理刑事案件程序规定》第</a:t>
            </a:r>
            <a:r>
              <a:rPr b="1" dirty="0">
                <a:latin typeface="微软雅黑" panose="020B0503020204020204" pitchFamily="34" charset="-122"/>
                <a:ea typeface="微软雅黑" panose="020B0503020204020204" pitchFamily="34" charset="-122"/>
                <a:sym typeface="Arial" panose="020B0704020202020204"/>
              </a:rPr>
              <a:t>51</a:t>
            </a:r>
            <a:r>
              <a:rPr b="1" dirty="0">
                <a:latin typeface="微软雅黑" panose="020B0503020204020204" pitchFamily="34" charset="-122"/>
                <a:ea typeface="微软雅黑" panose="020B0503020204020204" pitchFamily="34" charset="-122"/>
              </a:rPr>
              <a:t>条规定：公安机关必须依照法定程序，收集各种证据。严禁刑讯逼供和以威胁、引诱、欺骗或者其他非法的方法收集证据。 </a:t>
            </a:r>
            <a:endParaRPr b="1" dirty="0">
              <a:latin typeface="微软雅黑" panose="020B0503020204020204" pitchFamily="34" charset="-122"/>
              <a:ea typeface="微软雅黑" panose="020B0503020204020204" pitchFamily="34" charset="-122"/>
            </a:endParaRPr>
          </a:p>
          <a:p>
            <a:pPr marL="315595" indent="-315595" defTabSz="841375">
              <a:lnSpc>
                <a:spcPct val="80000"/>
              </a:lnSpc>
              <a:spcBef>
                <a:spcPts val="500"/>
              </a:spcBef>
              <a:defRPr sz="2200">
                <a:latin typeface="宋体"/>
                <a:ea typeface="宋体"/>
                <a:cs typeface="宋体"/>
                <a:sym typeface="宋体"/>
              </a:defRPr>
            </a:pPr>
            <a:r>
              <a:rPr b="1" dirty="0">
                <a:latin typeface="微软雅黑" panose="020B0503020204020204" pitchFamily="34" charset="-122"/>
                <a:ea typeface="微软雅黑" panose="020B0503020204020204" pitchFamily="34" charset="-122"/>
              </a:rPr>
              <a:t>（</a:t>
            </a:r>
            <a:r>
              <a:rPr b="1" dirty="0">
                <a:latin typeface="微软雅黑" panose="020B0503020204020204" pitchFamily="34" charset="-122"/>
                <a:ea typeface="微软雅黑" panose="020B0503020204020204" pitchFamily="34" charset="-122"/>
                <a:sym typeface="Arial" panose="020B0704020202020204"/>
              </a:rPr>
              <a:t>2</a:t>
            </a:r>
            <a:r>
              <a:rPr b="1" dirty="0">
                <a:latin typeface="微软雅黑" panose="020B0503020204020204" pitchFamily="34" charset="-122"/>
                <a:ea typeface="微软雅黑" panose="020B0503020204020204" pitchFamily="34" charset="-122"/>
              </a:rPr>
              <a:t>）自己不能做自己的法官，任何人不得成为自我案件的裁判者</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无偏私。</a:t>
            </a:r>
            <a:endParaRPr lang="en-US" altLang="zh-CN" b="1" dirty="0">
              <a:latin typeface="微软雅黑" panose="020B0503020204020204" pitchFamily="34" charset="-122"/>
              <a:ea typeface="微软雅黑" panose="020B0503020204020204" pitchFamily="34" charset="-122"/>
            </a:endParaRPr>
          </a:p>
          <a:p>
            <a:pPr marL="315595" indent="-315595" defTabSz="841375">
              <a:lnSpc>
                <a:spcPct val="80000"/>
              </a:lnSpc>
              <a:spcBef>
                <a:spcPts val="500"/>
              </a:spcBef>
              <a:defRPr sz="2200">
                <a:latin typeface="宋体"/>
                <a:ea typeface="宋体"/>
                <a:cs typeface="宋体"/>
                <a:sym typeface="宋体"/>
              </a:defRPr>
            </a:pP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3</a:t>
            </a:r>
            <a:r>
              <a:rPr lang="zh-CN" altLang="en-US" b="1" dirty="0">
                <a:latin typeface="微软雅黑" panose="020B0503020204020204" pitchFamily="34" charset="-122"/>
                <a:ea typeface="微软雅黑" panose="020B0503020204020204" pitchFamily="34" charset="-122"/>
              </a:rPr>
              <a:t>）相似的情况作出相似的对待。</a:t>
            </a:r>
            <a:endParaRPr lang="en-US" altLang="zh-CN" b="1" dirty="0">
              <a:latin typeface="微软雅黑" panose="020B0503020204020204" pitchFamily="34" charset="-122"/>
              <a:ea typeface="微软雅黑" panose="020B0503020204020204" pitchFamily="34" charset="-122"/>
            </a:endParaRPr>
          </a:p>
          <a:p>
            <a:pPr marL="315595" indent="-315595" defTabSz="841375">
              <a:lnSpc>
                <a:spcPct val="80000"/>
              </a:lnSpc>
              <a:spcBef>
                <a:spcPts val="500"/>
              </a:spcBef>
              <a:defRPr sz="2200">
                <a:latin typeface="宋体"/>
                <a:ea typeface="宋体"/>
                <a:cs typeface="宋体"/>
                <a:sym typeface="宋体"/>
              </a:defRPr>
            </a:pP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4</a:t>
            </a:r>
            <a:r>
              <a:rPr lang="zh-CN" altLang="en-US" b="1" dirty="0">
                <a:latin typeface="微软雅黑" panose="020B0503020204020204" pitchFamily="34" charset="-122"/>
                <a:ea typeface="微软雅黑" panose="020B0503020204020204" pitchFamily="34" charset="-122"/>
              </a:rPr>
              <a:t>）独立性：不受任何人意志所左右。</a:t>
            </a:r>
            <a:endParaRPr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Shape 82"/>
          <p:cNvSpPr>
            <a:spLocks noGrp="1"/>
          </p:cNvSpPr>
          <p:nvPr>
            <p:ph type="title"/>
          </p:nvPr>
        </p:nvSpPr>
        <p:spPr>
          <a:xfrm>
            <a:off x="301625" y="609599"/>
            <a:ext cx="8540750" cy="661360"/>
          </a:xfrm>
          <a:prstGeom prst="rect">
            <a:avLst/>
          </a:prstGeom>
        </p:spPr>
        <p:txBody>
          <a:bodyPr>
            <a:normAutofit/>
          </a:bodyPr>
          <a:lstStyle>
            <a:lvl1pPr>
              <a:defRPr>
                <a:latin typeface="宋体"/>
                <a:ea typeface="宋体"/>
                <a:cs typeface="宋体"/>
                <a:sym typeface="宋体"/>
              </a:defRPr>
            </a:lvl1pPr>
          </a:lstStyle>
          <a:p>
            <a:r>
              <a:rPr sz="3600" b="1" dirty="0" err="1">
                <a:latin typeface="微软雅黑" panose="020B0503020204020204" pitchFamily="34" charset="-122"/>
                <a:ea typeface="微软雅黑" panose="020B0503020204020204" pitchFamily="34" charset="-122"/>
              </a:rPr>
              <a:t>形式正当程序</a:t>
            </a:r>
            <a:endParaRPr sz="3600" b="1" dirty="0">
              <a:latin typeface="微软雅黑" panose="020B0503020204020204" pitchFamily="34" charset="-122"/>
              <a:ea typeface="微软雅黑" panose="020B0503020204020204" pitchFamily="34" charset="-122"/>
            </a:endParaRPr>
          </a:p>
        </p:txBody>
      </p:sp>
      <p:sp>
        <p:nvSpPr>
          <p:cNvPr id="83" name="Shape 83"/>
          <p:cNvSpPr>
            <a:spLocks noGrp="1"/>
          </p:cNvSpPr>
          <p:nvPr>
            <p:ph type="body" idx="1"/>
          </p:nvPr>
        </p:nvSpPr>
        <p:spPr>
          <a:xfrm>
            <a:off x="301625" y="1351472"/>
            <a:ext cx="8540750" cy="4747703"/>
          </a:xfrm>
          <a:prstGeom prst="rect">
            <a:avLst/>
          </a:prstGeom>
        </p:spPr>
        <p:txBody>
          <a:bodyPr>
            <a:normAutofit/>
          </a:bodyPr>
          <a:lstStyle/>
          <a:p>
            <a:pPr>
              <a:lnSpc>
                <a:spcPct val="80000"/>
              </a:lnSpc>
              <a:spcBef>
                <a:spcPts val="400"/>
              </a:spcBef>
              <a:defRPr sz="2000">
                <a:latin typeface="宋体"/>
                <a:ea typeface="宋体"/>
                <a:cs typeface="宋体"/>
                <a:sym typeface="宋体"/>
              </a:defRPr>
            </a:pPr>
            <a:r>
              <a:rPr sz="2400" b="1" dirty="0" err="1">
                <a:solidFill>
                  <a:srgbClr val="C00000"/>
                </a:solidFill>
                <a:latin typeface="微软雅黑" panose="020B0503020204020204" pitchFamily="34" charset="-122"/>
                <a:ea typeface="微软雅黑" panose="020B0503020204020204" pitchFamily="34" charset="-122"/>
              </a:rPr>
              <a:t>形式正当程序：</a:t>
            </a:r>
            <a:r>
              <a:rPr sz="2400" b="1" dirty="0" err="1">
                <a:latin typeface="微软雅黑" panose="020B0503020204020204" pitchFamily="34" charset="-122"/>
                <a:ea typeface="微软雅黑" panose="020B0503020204020204" pitchFamily="34" charset="-122"/>
              </a:rPr>
              <a:t>指法律实施的方法或法律实施采用的方式</a:t>
            </a:r>
            <a:r>
              <a:rPr lang="zh-CN" altLang="en-US" sz="2400" b="1" dirty="0">
                <a:latin typeface="微软雅黑" panose="020B0503020204020204" pitchFamily="34" charset="-122"/>
                <a:ea typeface="微软雅黑" panose="020B0503020204020204" pitchFamily="34" charset="-122"/>
              </a:rPr>
              <a:t>，</a:t>
            </a:r>
            <a:r>
              <a:rPr sz="2400" b="1" dirty="0" err="1">
                <a:latin typeface="微软雅黑" panose="020B0503020204020204" pitchFamily="34" charset="-122"/>
                <a:ea typeface="微软雅黑" panose="020B0503020204020204" pitchFamily="34" charset="-122"/>
              </a:rPr>
              <a:t>是对权利的形式程序上的保障，其基本要求是程序公正</a:t>
            </a:r>
            <a:r>
              <a:rPr sz="2400" b="1" dirty="0">
                <a:latin typeface="微软雅黑" panose="020B0503020204020204" pitchFamily="34" charset="-122"/>
                <a:ea typeface="微软雅黑" panose="020B0503020204020204" pitchFamily="34" charset="-122"/>
              </a:rPr>
              <a:t>。</a:t>
            </a:r>
            <a:endParaRPr sz="2400" b="1" dirty="0">
              <a:latin typeface="微软雅黑" panose="020B0503020204020204" pitchFamily="34" charset="-122"/>
              <a:ea typeface="微软雅黑" panose="020B0503020204020204" pitchFamily="34" charset="-122"/>
            </a:endParaRPr>
          </a:p>
          <a:p>
            <a:pPr>
              <a:lnSpc>
                <a:spcPct val="80000"/>
              </a:lnSpc>
              <a:spcBef>
                <a:spcPts val="400"/>
              </a:spcBef>
              <a:defRPr sz="2000">
                <a:latin typeface="宋体"/>
                <a:ea typeface="宋体"/>
                <a:cs typeface="宋体"/>
                <a:sym typeface="宋体"/>
              </a:defRPr>
            </a:pPr>
            <a:r>
              <a:rPr sz="2400" b="1" dirty="0" err="1">
                <a:latin typeface="微软雅黑" panose="020B0503020204020204" pitchFamily="34" charset="-122"/>
                <a:ea typeface="微软雅黑" panose="020B0503020204020204" pitchFamily="34" charset="-122"/>
              </a:rPr>
              <a:t>通过规范法律的程序实现对政府权力的限制，它实质上是一种对法律所要求的最低限度的程序保障</a:t>
            </a:r>
            <a:r>
              <a:rPr sz="2400" b="1" dirty="0">
                <a:latin typeface="微软雅黑" panose="020B0503020204020204" pitchFamily="34" charset="-122"/>
                <a:ea typeface="微软雅黑" panose="020B0503020204020204" pitchFamily="34" charset="-122"/>
              </a:rPr>
              <a:t>。</a:t>
            </a:r>
            <a:endParaRPr sz="2400" b="1" dirty="0">
              <a:latin typeface="微软雅黑" panose="020B0503020204020204" pitchFamily="34" charset="-122"/>
              <a:ea typeface="微软雅黑" panose="020B0503020204020204" pitchFamily="34" charset="-122"/>
            </a:endParaRPr>
          </a:p>
          <a:p>
            <a:pPr>
              <a:lnSpc>
                <a:spcPct val="80000"/>
              </a:lnSpc>
              <a:spcBef>
                <a:spcPts val="400"/>
              </a:spcBef>
              <a:defRPr sz="2000">
                <a:latin typeface="宋体"/>
                <a:ea typeface="宋体"/>
                <a:cs typeface="宋体"/>
                <a:sym typeface="宋体"/>
              </a:defRPr>
            </a:pPr>
            <a:r>
              <a:rPr sz="2400" b="1" dirty="0" err="1">
                <a:latin typeface="微软雅黑" panose="020B0503020204020204" pitchFamily="34" charset="-122"/>
                <a:ea typeface="微软雅黑" panose="020B0503020204020204" pitchFamily="34" charset="-122"/>
              </a:rPr>
              <a:t>形式正当法律程序涉及到两个方面的问题</a:t>
            </a:r>
            <a:r>
              <a:rPr sz="2400" b="1" dirty="0">
                <a:latin typeface="微软雅黑" panose="020B0503020204020204" pitchFamily="34" charset="-122"/>
                <a:ea typeface="微软雅黑" panose="020B0503020204020204" pitchFamily="34" charset="-122"/>
              </a:rPr>
              <a:t>：</a:t>
            </a:r>
            <a:endParaRPr lang="en-US" sz="2400" b="1" dirty="0">
              <a:latin typeface="微软雅黑" panose="020B0503020204020204" pitchFamily="34" charset="-122"/>
              <a:ea typeface="微软雅黑" panose="020B0503020204020204" pitchFamily="34" charset="-122"/>
            </a:endParaRPr>
          </a:p>
          <a:p>
            <a:pPr>
              <a:lnSpc>
                <a:spcPct val="80000"/>
              </a:lnSpc>
              <a:spcBef>
                <a:spcPts val="400"/>
              </a:spcBef>
              <a:defRPr sz="2000">
                <a:latin typeface="宋体"/>
                <a:ea typeface="宋体"/>
                <a:cs typeface="宋体"/>
                <a:sym typeface="宋体"/>
              </a:defRPr>
            </a:pPr>
            <a:r>
              <a:rPr sz="2400" b="1" dirty="0">
                <a:latin typeface="微软雅黑" panose="020B0503020204020204" pitchFamily="34" charset="-122"/>
                <a:ea typeface="微软雅黑" panose="020B0503020204020204" pitchFamily="34" charset="-122"/>
              </a:rPr>
              <a:t>首先是关于法律实施方法的问题，即这种程序要求</a:t>
            </a:r>
            <a:r>
              <a:rPr sz="2400" b="1" dirty="0">
                <a:latin typeface="微软雅黑" panose="020B0503020204020204" pitchFamily="34" charset="-122"/>
                <a:ea typeface="微软雅黑" panose="020B0503020204020204" pitchFamily="34" charset="-122"/>
                <a:sym typeface="Arial" panose="020B0704020202020204"/>
              </a:rPr>
              <a:t>“</a:t>
            </a:r>
            <a:r>
              <a:rPr sz="2400" b="1" dirty="0">
                <a:latin typeface="微软雅黑" panose="020B0503020204020204" pitchFamily="34" charset="-122"/>
                <a:ea typeface="微软雅黑" panose="020B0503020204020204" pitchFamily="34" charset="-122"/>
              </a:rPr>
              <a:t>判刑前需进行审理，根据调查结果进行起诉，审问结束后才能作出判决</a:t>
            </a:r>
            <a:r>
              <a:rPr sz="2400" b="1" dirty="0">
                <a:latin typeface="微软雅黑" panose="020B0503020204020204" pitchFamily="34" charset="-122"/>
                <a:ea typeface="微软雅黑" panose="020B0503020204020204" pitchFamily="34" charset="-122"/>
                <a:sym typeface="Arial" panose="020B0704020202020204"/>
              </a:rPr>
              <a:t>”</a:t>
            </a:r>
            <a:r>
              <a:rPr sz="2400" b="1" dirty="0">
                <a:latin typeface="微软雅黑" panose="020B0503020204020204" pitchFamily="34" charset="-122"/>
                <a:ea typeface="微软雅黑" panose="020B0503020204020204" pitchFamily="34" charset="-122"/>
              </a:rPr>
              <a:t>，只有这样，公平的本质才能得到维护。</a:t>
            </a:r>
            <a:endParaRPr sz="2400" b="1" dirty="0">
              <a:latin typeface="微软雅黑" panose="020B0503020204020204" pitchFamily="34" charset="-122"/>
              <a:ea typeface="微软雅黑" panose="020B0503020204020204" pitchFamily="34" charset="-122"/>
            </a:endParaRPr>
          </a:p>
          <a:p>
            <a:pPr>
              <a:lnSpc>
                <a:spcPct val="80000"/>
              </a:lnSpc>
              <a:spcBef>
                <a:spcPts val="400"/>
              </a:spcBef>
              <a:defRPr sz="2000">
                <a:latin typeface="宋体"/>
                <a:ea typeface="宋体"/>
                <a:cs typeface="宋体"/>
                <a:sym typeface="宋体"/>
              </a:defRPr>
            </a:pPr>
            <a:r>
              <a:rPr sz="2400" b="1" dirty="0">
                <a:latin typeface="微软雅黑" panose="020B0503020204020204" pitchFamily="34" charset="-122"/>
                <a:ea typeface="微软雅黑" panose="020B0503020204020204" pitchFamily="34" charset="-122"/>
              </a:rPr>
              <a:t>其次，还要看法律自身是否违反形式正当法律程序。譬如由于法律规定引起了不适当的犯罪推定，会导致法律违反形式正当法律程序。因为无罪推定的原则已经确立，在未经法律审判判决有罪之前，所有人都被推定是无罪的。</a:t>
            </a:r>
            <a:br>
              <a:rPr sz="2400" b="1" dirty="0">
                <a:latin typeface="微软雅黑" panose="020B0503020204020204" pitchFamily="34" charset="-122"/>
                <a:ea typeface="微软雅黑" panose="020B0503020204020204" pitchFamily="34" charset="-122"/>
              </a:rPr>
            </a:br>
            <a:endParaRPr sz="2400"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Shape 85"/>
          <p:cNvSpPr>
            <a:spLocks noGrp="1"/>
          </p:cNvSpPr>
          <p:nvPr>
            <p:ph type="title"/>
          </p:nvPr>
        </p:nvSpPr>
        <p:spPr>
          <a:xfrm>
            <a:off x="301625" y="609600"/>
            <a:ext cx="8540750" cy="718868"/>
          </a:xfrm>
          <a:prstGeom prst="rect">
            <a:avLst/>
          </a:prstGeom>
        </p:spPr>
        <p:txBody>
          <a:bodyPr>
            <a:normAutofit fontScale="90000"/>
          </a:bodyPr>
          <a:lstStyle/>
          <a:p>
            <a:r>
              <a:rPr b="1" dirty="0" err="1"/>
              <a:t>米兰达程序规则的设立</a:t>
            </a:r>
            <a:endParaRPr b="1" dirty="0"/>
          </a:p>
        </p:txBody>
      </p:sp>
      <p:sp>
        <p:nvSpPr>
          <p:cNvPr id="86" name="Shape 86"/>
          <p:cNvSpPr>
            <a:spLocks noGrp="1"/>
          </p:cNvSpPr>
          <p:nvPr>
            <p:ph type="body" idx="1"/>
          </p:nvPr>
        </p:nvSpPr>
        <p:spPr>
          <a:xfrm>
            <a:off x="301625" y="1431985"/>
            <a:ext cx="8540750" cy="4649937"/>
          </a:xfrm>
          <a:prstGeom prst="rect">
            <a:avLst/>
          </a:prstGeom>
        </p:spPr>
        <p:txBody>
          <a:bodyPr/>
          <a:lstStyle/>
          <a:p>
            <a:pPr marL="0" indent="0" defTabSz="457200">
              <a:spcBef>
                <a:spcPts val="0"/>
              </a:spcBef>
              <a:buSzTx/>
              <a:buNone/>
              <a:defRPr sz="1400">
                <a:solidFill>
                  <a:schemeClr val="accent5"/>
                </a:solidFill>
              </a:defRPr>
            </a:pPr>
            <a:r>
              <a:rPr dirty="0"/>
              <a:t> </a:t>
            </a:r>
            <a:r>
              <a:rPr sz="2100" dirty="0"/>
              <a:t>   </a:t>
            </a:r>
            <a:r>
              <a:rPr sz="2100" b="1" dirty="0">
                <a:solidFill>
                  <a:srgbClr val="002060"/>
                </a:solidFill>
                <a:latin typeface="黑体" panose="02010609060101010101" pitchFamily="49" charset="-122"/>
                <a:ea typeface="黑体" panose="02010609060101010101" pitchFamily="49" charset="-122"/>
              </a:rPr>
              <a:t>1963年3月3日深夜，一位在美国</a:t>
            </a:r>
            <a:r>
              <a:rPr sz="2100" b="1" dirty="0">
                <a:solidFill>
                  <a:srgbClr val="002060"/>
                </a:solidFill>
                <a:uFill>
                  <a:solidFill>
                    <a:srgbClr val="0000FF"/>
                  </a:solidFill>
                </a:uFill>
                <a:latin typeface="黑体" panose="02010609060101010101" pitchFamily="49" charset="-122"/>
                <a:ea typeface="黑体" panose="02010609060101010101" pitchFamily="49" charset="-122"/>
              </a:rPr>
              <a:t>亚利桑那州</a:t>
            </a:r>
            <a:r>
              <a:rPr sz="2100" b="1" dirty="0">
                <a:solidFill>
                  <a:srgbClr val="002060"/>
                </a:solidFill>
                <a:latin typeface="黑体" panose="02010609060101010101" pitchFamily="49" charset="-122"/>
                <a:ea typeface="黑体" panose="02010609060101010101" pitchFamily="49" charset="-122"/>
              </a:rPr>
              <a:t>凤凰城某影院工作的</a:t>
            </a:r>
            <a:r>
              <a:rPr lang="en-US" altLang="zh-CN" sz="2100" b="1" dirty="0">
                <a:solidFill>
                  <a:srgbClr val="002060"/>
                </a:solidFill>
                <a:latin typeface="黑体" panose="02010609060101010101" pitchFamily="49" charset="-122"/>
                <a:ea typeface="黑体" panose="02010609060101010101" pitchFamily="49" charset="-122"/>
              </a:rPr>
              <a:t>18</a:t>
            </a:r>
            <a:r>
              <a:rPr lang="zh-CN" altLang="en-US" sz="2100" b="1" dirty="0">
                <a:solidFill>
                  <a:srgbClr val="002060"/>
                </a:solidFill>
                <a:latin typeface="黑体" panose="02010609060101010101" pitchFamily="49" charset="-122"/>
                <a:ea typeface="黑体" panose="02010609060101010101" pitchFamily="49" charset="-122"/>
              </a:rPr>
              <a:t>岁</a:t>
            </a:r>
            <a:r>
              <a:rPr sz="2100" b="1" dirty="0">
                <a:solidFill>
                  <a:srgbClr val="002060"/>
                </a:solidFill>
                <a:latin typeface="黑体" panose="02010609060101010101" pitchFamily="49" charset="-122"/>
                <a:ea typeface="黑体" panose="02010609060101010101" pitchFamily="49" charset="-122"/>
              </a:rPr>
              <a:t>女孩下班回家时，一辆车突然停在她面前。一名男子从车里钻出来，一手抓胳膊一手捂嘴，将她塞进汽车后座，把手脚都捆住，并在车内将其强暴。</a:t>
            </a:r>
            <a:endParaRPr lang="en-US" altLang="zh-CN" sz="2100" b="1" dirty="0">
              <a:solidFill>
                <a:srgbClr val="002060"/>
              </a:solidFill>
              <a:latin typeface="黑体" panose="02010609060101010101" pitchFamily="49" charset="-122"/>
              <a:ea typeface="黑体" panose="02010609060101010101" pitchFamily="49" charset="-122"/>
            </a:endParaRPr>
          </a:p>
          <a:p>
            <a:pPr marL="0" indent="0" defTabSz="457200">
              <a:spcBef>
                <a:spcPts val="0"/>
              </a:spcBef>
              <a:buSzTx/>
              <a:buNone/>
              <a:defRPr sz="1400">
                <a:solidFill>
                  <a:schemeClr val="accent5"/>
                </a:solidFill>
              </a:defRPr>
            </a:pPr>
            <a:r>
              <a:rPr lang="en-US" altLang="zh-CN" sz="2100" b="1" dirty="0">
                <a:solidFill>
                  <a:srgbClr val="002060"/>
                </a:solidFill>
                <a:latin typeface="黑体" panose="02010609060101010101" pitchFamily="49" charset="-122"/>
                <a:ea typeface="黑体" panose="02010609060101010101" pitchFamily="49" charset="-122"/>
              </a:rPr>
              <a:t>    </a:t>
            </a:r>
            <a:r>
              <a:rPr sz="2100" b="1" dirty="0">
                <a:solidFill>
                  <a:srgbClr val="002060"/>
                </a:solidFill>
                <a:latin typeface="黑体" panose="02010609060101010101" pitchFamily="49" charset="-122"/>
                <a:ea typeface="黑体" panose="02010609060101010101" pitchFamily="49" charset="-122"/>
              </a:rPr>
              <a:t>该女孩被放开后，马上跑回家给警察打了电话。根据她的描述，警察于3月13日将米兰达抓获。</a:t>
            </a:r>
            <a:endParaRPr lang="en-US" altLang="zh-CN" sz="2100" b="1" dirty="0">
              <a:solidFill>
                <a:srgbClr val="002060"/>
              </a:solidFill>
              <a:latin typeface="黑体" panose="02010609060101010101" pitchFamily="49" charset="-122"/>
              <a:ea typeface="黑体" panose="02010609060101010101" pitchFamily="49" charset="-122"/>
            </a:endParaRPr>
          </a:p>
          <a:p>
            <a:pPr marL="0" indent="0" defTabSz="457200">
              <a:spcBef>
                <a:spcPts val="0"/>
              </a:spcBef>
              <a:buSzTx/>
              <a:buNone/>
              <a:defRPr sz="1400">
                <a:solidFill>
                  <a:schemeClr val="accent5"/>
                </a:solidFill>
              </a:defRPr>
            </a:pPr>
            <a:r>
              <a:rPr lang="en-US" altLang="zh-CN" sz="2100" b="1" dirty="0">
                <a:solidFill>
                  <a:srgbClr val="002060"/>
                </a:solidFill>
                <a:latin typeface="黑体" panose="02010609060101010101" pitchFamily="49" charset="-122"/>
                <a:ea typeface="黑体" panose="02010609060101010101" pitchFamily="49" charset="-122"/>
              </a:rPr>
              <a:t>    </a:t>
            </a:r>
            <a:r>
              <a:rPr sz="2100" b="1" dirty="0">
                <a:solidFill>
                  <a:srgbClr val="002060"/>
                </a:solidFill>
                <a:latin typeface="微软雅黑" panose="020B0503020204020204" pitchFamily="34" charset="-122"/>
                <a:ea typeface="微软雅黑" panose="020B0503020204020204" pitchFamily="34" charset="-122"/>
              </a:rPr>
              <a:t>抓获后，警察将被告进行了“排队”，</a:t>
            </a:r>
            <a:r>
              <a:rPr sz="2100" b="1" dirty="0" err="1">
                <a:solidFill>
                  <a:srgbClr val="002060"/>
                </a:solidFill>
                <a:latin typeface="微软雅黑" panose="020B0503020204020204" pitchFamily="34" charset="-122"/>
                <a:ea typeface="微软雅黑" panose="020B0503020204020204" pitchFamily="34" charset="-122"/>
              </a:rPr>
              <a:t>受害女孩当场指认米兰达就是罪犯，米兰达也供认不讳，并写了一份供认书，还在上面签了名字</a:t>
            </a:r>
            <a:r>
              <a:rPr sz="2100" b="1" dirty="0">
                <a:solidFill>
                  <a:srgbClr val="002060"/>
                </a:solidFill>
                <a:latin typeface="微软雅黑" panose="020B0503020204020204" pitchFamily="34" charset="-122"/>
                <a:ea typeface="微软雅黑" panose="020B0503020204020204" pitchFamily="34" charset="-122"/>
              </a:rPr>
              <a:t>。</a:t>
            </a:r>
            <a:endParaRPr lang="en-US" altLang="zh-CN" sz="2100" b="1" dirty="0">
              <a:solidFill>
                <a:srgbClr val="002060"/>
              </a:solidFill>
              <a:latin typeface="微软雅黑" panose="020B0503020204020204" pitchFamily="34" charset="-122"/>
              <a:ea typeface="微软雅黑" panose="020B0503020204020204" pitchFamily="34" charset="-122"/>
            </a:endParaRPr>
          </a:p>
          <a:p>
            <a:pPr marL="0" indent="0" defTabSz="457200">
              <a:spcBef>
                <a:spcPts val="0"/>
              </a:spcBef>
              <a:buSzTx/>
              <a:buNone/>
              <a:defRPr sz="1400">
                <a:solidFill>
                  <a:schemeClr val="accent5"/>
                </a:solidFill>
              </a:defRPr>
            </a:pPr>
            <a:r>
              <a:rPr lang="en-US" altLang="zh-CN" sz="2100" b="1" dirty="0">
                <a:solidFill>
                  <a:srgbClr val="002060"/>
                </a:solidFill>
                <a:latin typeface="黑体" panose="02010609060101010101" pitchFamily="49" charset="-122"/>
                <a:ea typeface="黑体" panose="02010609060101010101" pitchFamily="49" charset="-122"/>
              </a:rPr>
              <a:t>   </a:t>
            </a:r>
            <a:r>
              <a:rPr sz="2100" b="1" dirty="0" err="1">
                <a:solidFill>
                  <a:srgbClr val="002060"/>
                </a:solidFill>
                <a:latin typeface="黑体" panose="02010609060101010101" pitchFamily="49" charset="-122"/>
                <a:ea typeface="黑体" panose="02010609060101010101" pitchFamily="49" charset="-122"/>
              </a:rPr>
              <a:t>以米兰达的供认书和招供情况为证据，法院判决米兰达犯劫持罪和</a:t>
            </a:r>
            <a:r>
              <a:rPr sz="2100" b="1" dirty="0" err="1">
                <a:solidFill>
                  <a:srgbClr val="002060"/>
                </a:solidFill>
                <a:uFill>
                  <a:solidFill>
                    <a:srgbClr val="0000FF"/>
                  </a:solidFill>
                </a:uFill>
                <a:latin typeface="黑体" panose="02010609060101010101" pitchFamily="49" charset="-122"/>
                <a:ea typeface="黑体" panose="02010609060101010101" pitchFamily="49" charset="-122"/>
              </a:rPr>
              <a:t>强奸</a:t>
            </a:r>
            <a:r>
              <a:rPr lang="zh-CN" altLang="en-US" sz="2100" b="1" dirty="0">
                <a:solidFill>
                  <a:srgbClr val="002060"/>
                </a:solidFill>
                <a:uFill>
                  <a:solidFill>
                    <a:srgbClr val="0000FF"/>
                  </a:solidFill>
                </a:uFill>
                <a:latin typeface="黑体" panose="02010609060101010101" pitchFamily="49" charset="-122"/>
                <a:ea typeface="黑体" panose="02010609060101010101" pitchFamily="49" charset="-122"/>
              </a:rPr>
              <a:t>罪</a:t>
            </a:r>
            <a:r>
              <a:rPr sz="2100" b="1" dirty="0">
                <a:solidFill>
                  <a:srgbClr val="002060"/>
                </a:solidFill>
                <a:latin typeface="黑体" panose="02010609060101010101" pitchFamily="49" charset="-122"/>
                <a:ea typeface="黑体" panose="02010609060101010101" pitchFamily="49" charset="-122"/>
              </a:rPr>
              <a:t>，分别判处有期徒刑20年和30年。</a:t>
            </a:r>
            <a:endParaRPr lang="en-US" altLang="zh-CN" sz="2100" b="1" dirty="0">
              <a:solidFill>
                <a:srgbClr val="002060"/>
              </a:solidFill>
              <a:latin typeface="黑体" panose="02010609060101010101" pitchFamily="49" charset="-122"/>
              <a:ea typeface="黑体" panose="02010609060101010101" pitchFamily="49" charset="-122"/>
            </a:endParaRPr>
          </a:p>
          <a:p>
            <a:pPr marL="0" indent="0" defTabSz="457200">
              <a:spcBef>
                <a:spcPts val="0"/>
              </a:spcBef>
              <a:buSzTx/>
              <a:buNone/>
              <a:defRPr sz="1400">
                <a:solidFill>
                  <a:schemeClr val="accent5"/>
                </a:solidFill>
              </a:defRPr>
            </a:pPr>
            <a:r>
              <a:rPr lang="en-US" altLang="zh-CN" sz="2100" b="1" dirty="0">
                <a:solidFill>
                  <a:srgbClr val="002060"/>
                </a:solidFill>
                <a:latin typeface="黑体" panose="02010609060101010101" pitchFamily="49" charset="-122"/>
                <a:ea typeface="黑体" panose="02010609060101010101" pitchFamily="49" charset="-122"/>
              </a:rPr>
              <a:t>   </a:t>
            </a:r>
            <a:r>
              <a:rPr sz="2100" b="1" dirty="0" err="1">
                <a:solidFill>
                  <a:srgbClr val="002060"/>
                </a:solidFill>
                <a:latin typeface="黑体" panose="02010609060101010101" pitchFamily="49" charset="-122"/>
                <a:ea typeface="黑体" panose="02010609060101010101" pitchFamily="49" charset="-122"/>
              </a:rPr>
              <a:t>米兰达不服，在狱中多次向</a:t>
            </a:r>
            <a:r>
              <a:rPr sz="2100" b="1" dirty="0" err="1">
                <a:solidFill>
                  <a:srgbClr val="002060"/>
                </a:solidFill>
                <a:uFill>
                  <a:solidFill>
                    <a:srgbClr val="0000FF"/>
                  </a:solidFill>
                </a:uFill>
                <a:latin typeface="黑体" panose="02010609060101010101" pitchFamily="49" charset="-122"/>
                <a:ea typeface="黑体" panose="02010609060101010101" pitchFamily="49" charset="-122"/>
              </a:rPr>
              <a:t>美国联邦最高法院</a:t>
            </a:r>
            <a:r>
              <a:rPr sz="2100" b="1" dirty="0" err="1">
                <a:solidFill>
                  <a:srgbClr val="002060"/>
                </a:solidFill>
                <a:latin typeface="黑体" panose="02010609060101010101" pitchFamily="49" charset="-122"/>
                <a:ea typeface="黑体" panose="02010609060101010101" pitchFamily="49" charset="-122"/>
              </a:rPr>
              <a:t>写信上诉，终获成功，这便是美国刑诉领域中具有里程碑意义的</a:t>
            </a:r>
            <a:r>
              <a:rPr sz="2100" dirty="0" err="1">
                <a:solidFill>
                  <a:srgbClr val="00B050"/>
                </a:solidFill>
                <a:latin typeface="黑体" panose="02010609060101010101" pitchFamily="49" charset="-122"/>
                <a:ea typeface="黑体" panose="02010609060101010101" pitchFamily="49" charset="-122"/>
              </a:rPr>
              <a:t>米兰达诉亚利桑那州案</a:t>
            </a:r>
            <a:r>
              <a:rPr sz="2100" b="1" dirty="0">
                <a:solidFill>
                  <a:srgbClr val="002060"/>
                </a:solidFill>
                <a:latin typeface="黑体" panose="02010609060101010101" pitchFamily="49" charset="-122"/>
                <a:ea typeface="黑体" panose="02010609060101010101" pitchFamily="49" charset="-122"/>
              </a:rPr>
              <a:t>。</a:t>
            </a:r>
            <a:endParaRPr sz="2100" b="1" dirty="0">
              <a:solidFill>
                <a:srgbClr val="002060"/>
              </a:solidFill>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Shape 88"/>
          <p:cNvSpPr>
            <a:spLocks noGrp="1"/>
          </p:cNvSpPr>
          <p:nvPr>
            <p:ph type="title"/>
          </p:nvPr>
        </p:nvSpPr>
        <p:spPr>
          <a:xfrm>
            <a:off x="301625" y="609600"/>
            <a:ext cx="8540750" cy="500332"/>
          </a:xfrm>
          <a:prstGeom prst="rect">
            <a:avLst/>
          </a:prstGeom>
        </p:spPr>
        <p:txBody>
          <a:bodyPr>
            <a:normAutofit fontScale="90000"/>
          </a:bodyPr>
          <a:lstStyle/>
          <a:p>
            <a:endParaRPr dirty="0"/>
          </a:p>
        </p:txBody>
      </p:sp>
      <p:sp>
        <p:nvSpPr>
          <p:cNvPr id="89" name="Shape 89"/>
          <p:cNvSpPr>
            <a:spLocks noGrp="1"/>
          </p:cNvSpPr>
          <p:nvPr>
            <p:ph type="body" idx="1"/>
          </p:nvPr>
        </p:nvSpPr>
        <p:spPr>
          <a:xfrm>
            <a:off x="301625" y="1236454"/>
            <a:ext cx="8540750" cy="4862722"/>
          </a:xfrm>
          <a:prstGeom prst="rect">
            <a:avLst/>
          </a:prstGeom>
        </p:spPr>
        <p:txBody>
          <a:bodyPr/>
          <a:lstStyle/>
          <a:p>
            <a:pPr marL="0" indent="0" defTabSz="457200">
              <a:spcBef>
                <a:spcPts val="0"/>
              </a:spcBef>
              <a:buSzTx/>
              <a:buNone/>
              <a:defRPr sz="1900">
                <a:solidFill>
                  <a:schemeClr val="accent2">
                    <a:lumOff val="9999"/>
                  </a:schemeClr>
                </a:solidFill>
              </a:defRPr>
            </a:pPr>
            <a:r>
              <a:rPr lang="en-US" altLang="zh-CN" dirty="0"/>
              <a:t>     </a:t>
            </a:r>
            <a:r>
              <a:rPr b="1" dirty="0">
                <a:solidFill>
                  <a:srgbClr val="002060"/>
                </a:solidFill>
                <a:latin typeface="微软雅黑" panose="020B0503020204020204" pitchFamily="34" charset="-122"/>
                <a:ea typeface="微软雅黑" panose="020B0503020204020204" pitchFamily="34" charset="-122"/>
              </a:rPr>
              <a:t>被告认为，自己当时的招供是被迫的，警察违反了不得强迫被追诉人对自己作证的宪法修正案第5条规定。</a:t>
            </a:r>
            <a:endParaRPr lang="en-US" altLang="zh-CN" b="1" dirty="0">
              <a:solidFill>
                <a:srgbClr val="002060"/>
              </a:solidFill>
              <a:latin typeface="微软雅黑" panose="020B0503020204020204" pitchFamily="34" charset="-122"/>
              <a:ea typeface="微软雅黑" panose="020B0503020204020204" pitchFamily="34" charset="-122"/>
            </a:endParaRPr>
          </a:p>
          <a:p>
            <a:pPr marL="0" indent="0" defTabSz="457200">
              <a:spcBef>
                <a:spcPts val="0"/>
              </a:spcBef>
              <a:buSzTx/>
              <a:buNone/>
              <a:defRPr sz="1900">
                <a:solidFill>
                  <a:schemeClr val="accent2">
                    <a:lumOff val="9999"/>
                  </a:schemeClr>
                </a:solidFill>
              </a:defRPr>
            </a:pPr>
            <a:r>
              <a:rPr lang="en-US" altLang="zh-CN" b="1" dirty="0">
                <a:solidFill>
                  <a:srgbClr val="002060"/>
                </a:solidFill>
                <a:latin typeface="微软雅黑" panose="020B0503020204020204" pitchFamily="34" charset="-122"/>
                <a:ea typeface="微软雅黑" panose="020B0503020204020204" pitchFamily="34" charset="-122"/>
              </a:rPr>
              <a:t>   </a:t>
            </a:r>
            <a:r>
              <a:rPr b="1" dirty="0">
                <a:solidFill>
                  <a:srgbClr val="002060"/>
                </a:solidFill>
                <a:latin typeface="微软雅黑" panose="020B0503020204020204" pitchFamily="34" charset="-122"/>
                <a:ea typeface="微软雅黑" panose="020B0503020204020204" pitchFamily="34" charset="-122"/>
              </a:rPr>
              <a:t>美国联邦最高法院同意了被告的观点，认为：虽然被告肉体上没有受到强迫，甚至也没有人直接告诉他必须招供，但“心理上”的强迫是存在的。联邦最高法院的判决宣布，警察局审讯室里的“气氛”很令人担心。现代审讯用的是“攻心”战术，审讯在室内进行，同外界隔绝，现场除了被告以外全是警察。警察所问的并不是被追诉者做了没做，而是为什么要做。此外，警察还用各种方法松懈被讯问者的警觉，如常常假装同情或者把犯罪的责任推到受害人或社会身上，让被讯问人觉得案件并非那么严重；或者软硬兼施，一会儿口气粗鲁，一会儿温文尔雅。所有这一切，联邦最高法院认为，都给被讯问者造成了巨大的</a:t>
            </a:r>
            <a:r>
              <a:rPr lang="zh-CN" altLang="en-US" b="1" u="sng" dirty="0">
                <a:solidFill>
                  <a:srgbClr val="002060"/>
                </a:solidFill>
                <a:uFill>
                  <a:solidFill>
                    <a:srgbClr val="0000FF"/>
                  </a:solidFill>
                </a:uFill>
                <a:latin typeface="微软雅黑" panose="020B0503020204020204" pitchFamily="34" charset="-122"/>
                <a:ea typeface="微软雅黑" panose="020B0503020204020204" pitchFamily="34" charset="-122"/>
              </a:rPr>
              <a:t>心理压力</a:t>
            </a:r>
            <a:r>
              <a:rPr b="1" dirty="0">
                <a:solidFill>
                  <a:srgbClr val="002060"/>
                </a:solidFill>
                <a:latin typeface="微软雅黑" panose="020B0503020204020204" pitchFamily="34" charset="-122"/>
                <a:ea typeface="微软雅黑" panose="020B0503020204020204" pitchFamily="34" charset="-122"/>
              </a:rPr>
              <a:t>，</a:t>
            </a:r>
            <a:r>
              <a:rPr b="1" dirty="0" err="1">
                <a:solidFill>
                  <a:srgbClr val="002060"/>
                </a:solidFill>
                <a:latin typeface="微软雅黑" panose="020B0503020204020204" pitchFamily="34" charset="-122"/>
                <a:ea typeface="微软雅黑" panose="020B0503020204020204" pitchFamily="34" charset="-122"/>
              </a:rPr>
              <a:t>而这样供认的可信度是很低的，不应作为合法证据使用</a:t>
            </a:r>
            <a:r>
              <a:rPr b="1" dirty="0">
                <a:solidFill>
                  <a:srgbClr val="002060"/>
                </a:solidFill>
                <a:latin typeface="微软雅黑" panose="020B0503020204020204" pitchFamily="34" charset="-122"/>
                <a:ea typeface="微软雅黑" panose="020B0503020204020204" pitchFamily="34" charset="-122"/>
              </a:rPr>
              <a:t>。</a:t>
            </a:r>
            <a:endParaRPr b="1" dirty="0">
              <a:solidFill>
                <a:srgbClr val="002060"/>
              </a:solidFill>
              <a:latin typeface="微软雅黑" panose="020B0503020204020204" pitchFamily="34" charset="-122"/>
              <a:ea typeface="微软雅黑" panose="020B0503020204020204" pitchFamily="34" charset="-122"/>
            </a:endParaRPr>
          </a:p>
          <a:p>
            <a:pPr marL="0" indent="0" defTabSz="457200">
              <a:spcBef>
                <a:spcPts val="0"/>
              </a:spcBef>
              <a:buSzTx/>
              <a:buNone/>
              <a:defRPr sz="1900">
                <a:solidFill>
                  <a:schemeClr val="accent2">
                    <a:lumOff val="9999"/>
                  </a:schemeClr>
                </a:solidFill>
              </a:defRPr>
            </a:pPr>
            <a:r>
              <a:rPr b="1" dirty="0">
                <a:solidFill>
                  <a:srgbClr val="002060"/>
                </a:solidFill>
                <a:latin typeface="微软雅黑" panose="020B0503020204020204" pitchFamily="34" charset="-122"/>
                <a:ea typeface="微软雅黑" panose="020B0503020204020204" pitchFamily="34" charset="-122"/>
              </a:rPr>
              <a:t>   </a:t>
            </a:r>
            <a:r>
              <a:rPr b="1" dirty="0" err="1">
                <a:solidFill>
                  <a:srgbClr val="002060"/>
                </a:solidFill>
                <a:latin typeface="微软雅黑" panose="020B0503020204020204" pitchFamily="34" charset="-122"/>
                <a:ea typeface="微软雅黑" panose="020B0503020204020204" pitchFamily="34" charset="-122"/>
              </a:rPr>
              <a:t>因此，联邦最高法院明确规定：在审讯之前，警察必须明确告诉被讯问者</a:t>
            </a:r>
            <a:r>
              <a:rPr b="1" dirty="0">
                <a:solidFill>
                  <a:srgbClr val="002060"/>
                </a:solidFill>
                <a:latin typeface="微软雅黑" panose="020B0503020204020204" pitchFamily="34" charset="-122"/>
                <a:ea typeface="微软雅黑" panose="020B0503020204020204" pitchFamily="34" charset="-122"/>
              </a:rPr>
              <a:t>：</a:t>
            </a:r>
            <a:endParaRPr b="1"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Shape 91"/>
          <p:cNvSpPr>
            <a:spLocks noGrp="1"/>
          </p:cNvSpPr>
          <p:nvPr>
            <p:ph type="title"/>
          </p:nvPr>
        </p:nvSpPr>
        <p:spPr>
          <a:xfrm>
            <a:off x="301625" y="609600"/>
            <a:ext cx="8540750" cy="603849"/>
          </a:xfrm>
          <a:prstGeom prst="rect">
            <a:avLst/>
          </a:prstGeom>
        </p:spPr>
        <p:txBody>
          <a:bodyPr/>
          <a:lstStyle>
            <a:lvl1pPr algn="l" defTabSz="457200">
              <a:defRPr sz="2500">
                <a:solidFill>
                  <a:schemeClr val="accent5">
                    <a:satOff val="-6842"/>
                    <a:lumOff val="-10704"/>
                  </a:schemeClr>
                </a:solidFill>
              </a:defRPr>
            </a:lvl1pPr>
          </a:lstStyle>
          <a:p>
            <a:r>
              <a:rPr b="1" dirty="0">
                <a:solidFill>
                  <a:srgbClr val="00B050"/>
                </a:solidFill>
                <a:latin typeface="微软雅黑" panose="020B0503020204020204" pitchFamily="34" charset="-122"/>
                <a:ea typeface="微软雅黑" panose="020B0503020204020204" pitchFamily="34" charset="-122"/>
              </a:rPr>
              <a:t>Miranda Warnings(</a:t>
            </a:r>
            <a:r>
              <a:rPr b="1" dirty="0" err="1">
                <a:solidFill>
                  <a:srgbClr val="00B050"/>
                </a:solidFill>
                <a:latin typeface="微软雅黑" panose="020B0503020204020204" pitchFamily="34" charset="-122"/>
                <a:ea typeface="微软雅黑" panose="020B0503020204020204" pitchFamily="34" charset="-122"/>
              </a:rPr>
              <a:t>米兰达警告</a:t>
            </a:r>
            <a:r>
              <a:rPr b="1" dirty="0">
                <a:solidFill>
                  <a:srgbClr val="00B050"/>
                </a:solidFill>
                <a:latin typeface="微软雅黑" panose="020B0503020204020204" pitchFamily="34" charset="-122"/>
                <a:ea typeface="微软雅黑" panose="020B0503020204020204" pitchFamily="34" charset="-122"/>
              </a:rPr>
              <a:t>)</a:t>
            </a:r>
            <a:endParaRPr b="1" dirty="0">
              <a:solidFill>
                <a:srgbClr val="00B050"/>
              </a:solidFill>
              <a:latin typeface="微软雅黑" panose="020B0503020204020204" pitchFamily="34" charset="-122"/>
              <a:ea typeface="微软雅黑" panose="020B0503020204020204" pitchFamily="34" charset="-122"/>
            </a:endParaRPr>
          </a:p>
        </p:txBody>
      </p:sp>
      <p:sp>
        <p:nvSpPr>
          <p:cNvPr id="92" name="Shape 92"/>
          <p:cNvSpPr>
            <a:spLocks noGrp="1"/>
          </p:cNvSpPr>
          <p:nvPr>
            <p:ph type="body" idx="1"/>
          </p:nvPr>
        </p:nvSpPr>
        <p:spPr>
          <a:xfrm>
            <a:off x="195532" y="1161690"/>
            <a:ext cx="8724181" cy="5086709"/>
          </a:xfrm>
          <a:prstGeom prst="rect">
            <a:avLst/>
          </a:prstGeom>
        </p:spPr>
        <p:txBody>
          <a:bodyPr>
            <a:normAutofit fontScale="77500" lnSpcReduction="20000"/>
          </a:bodyPr>
          <a:lstStyle/>
          <a:p>
            <a:pPr marL="0" indent="0" defTabSz="388620">
              <a:spcBef>
                <a:spcPts val="0"/>
              </a:spcBef>
              <a:buSzTx/>
              <a:buNone/>
              <a:defRPr sz="1700">
                <a:solidFill>
                  <a:schemeClr val="accent2"/>
                </a:solidFill>
              </a:defRPr>
            </a:pPr>
            <a:r>
              <a:rPr lang="en-US" altLang="zh-CN" sz="2600" b="1" dirty="0">
                <a:solidFill>
                  <a:srgbClr val="7030A0"/>
                </a:solidFill>
                <a:latin typeface="微软雅黑" panose="020B0503020204020204" pitchFamily="34" charset="-122"/>
                <a:ea typeface="微软雅黑" panose="020B0503020204020204" pitchFamily="34" charset="-122"/>
              </a:rPr>
              <a:t>1.</a:t>
            </a:r>
            <a:r>
              <a:rPr sz="2600" b="1" dirty="0">
                <a:solidFill>
                  <a:srgbClr val="7030A0"/>
                </a:solidFill>
                <a:latin typeface="微软雅黑" panose="020B0503020204020204" pitchFamily="34" charset="-122"/>
                <a:ea typeface="微软雅黑" panose="020B0503020204020204" pitchFamily="34" charset="-122"/>
              </a:rPr>
              <a:t>You have the right to remain silent and refuse to answer questions.</a:t>
            </a:r>
            <a:endParaRPr sz="2600" b="1" dirty="0">
              <a:solidFill>
                <a:srgbClr val="7030A0"/>
              </a:solidFill>
              <a:latin typeface="微软雅黑" panose="020B0503020204020204" pitchFamily="34" charset="-122"/>
              <a:ea typeface="微软雅黑" panose="020B0503020204020204" pitchFamily="34" charset="-122"/>
            </a:endParaRPr>
          </a:p>
          <a:p>
            <a:pPr marL="0" indent="0" defTabSz="388620">
              <a:spcBef>
                <a:spcPts val="0"/>
              </a:spcBef>
              <a:buSzTx/>
              <a:buNone/>
              <a:defRPr sz="1700">
                <a:solidFill>
                  <a:schemeClr val="accent2"/>
                </a:solidFill>
              </a:defRPr>
            </a:pPr>
            <a:r>
              <a:rPr sz="2600" b="1" dirty="0">
                <a:solidFill>
                  <a:srgbClr val="7030A0"/>
                </a:solidFill>
                <a:latin typeface="微软雅黑" panose="020B0503020204020204" pitchFamily="34" charset="-122"/>
                <a:ea typeface="微软雅黑" panose="020B0503020204020204" pitchFamily="34" charset="-122"/>
              </a:rPr>
              <a:t>Anything you do say may be used against you in a court of law.</a:t>
            </a:r>
            <a:endParaRPr sz="2600" b="1" dirty="0">
              <a:solidFill>
                <a:srgbClr val="7030A0"/>
              </a:solidFill>
              <a:latin typeface="微软雅黑" panose="020B0503020204020204" pitchFamily="34" charset="-122"/>
              <a:ea typeface="微软雅黑" panose="020B0503020204020204" pitchFamily="34" charset="-122"/>
            </a:endParaRPr>
          </a:p>
          <a:p>
            <a:pPr marL="0" indent="0" defTabSz="388620">
              <a:spcBef>
                <a:spcPts val="0"/>
              </a:spcBef>
              <a:buSzTx/>
              <a:buNone/>
              <a:defRPr sz="1700">
                <a:solidFill>
                  <a:schemeClr val="accent2"/>
                </a:solidFill>
              </a:defRPr>
            </a:pPr>
            <a:endParaRPr sz="2600" b="1" dirty="0">
              <a:solidFill>
                <a:srgbClr val="7030A0"/>
              </a:solidFill>
              <a:latin typeface="微软雅黑" panose="020B0503020204020204" pitchFamily="34" charset="-122"/>
              <a:ea typeface="微软雅黑" panose="020B0503020204020204" pitchFamily="34" charset="-122"/>
            </a:endParaRPr>
          </a:p>
          <a:p>
            <a:pPr marL="0" indent="0" defTabSz="388620">
              <a:spcBef>
                <a:spcPts val="0"/>
              </a:spcBef>
              <a:buSzTx/>
              <a:buNone/>
              <a:defRPr sz="1700">
                <a:solidFill>
                  <a:schemeClr val="accent2"/>
                </a:solidFill>
              </a:defRPr>
            </a:pPr>
            <a:r>
              <a:rPr lang="en-US" altLang="zh-CN" sz="2600" b="1" dirty="0">
                <a:solidFill>
                  <a:srgbClr val="7030A0"/>
                </a:solidFill>
                <a:latin typeface="微软雅黑" panose="020B0503020204020204" pitchFamily="34" charset="-122"/>
                <a:ea typeface="微软雅黑" panose="020B0503020204020204" pitchFamily="34" charset="-122"/>
              </a:rPr>
              <a:t>2.</a:t>
            </a:r>
            <a:r>
              <a:rPr sz="2600" b="1" dirty="0">
                <a:solidFill>
                  <a:srgbClr val="7030A0"/>
                </a:solidFill>
                <a:latin typeface="微软雅黑" panose="020B0503020204020204" pitchFamily="34" charset="-122"/>
                <a:ea typeface="微软雅黑" panose="020B0503020204020204" pitchFamily="34" charset="-122"/>
              </a:rPr>
              <a:t>You have the right to consult an attorney before speaking to the police and to have an attorney present during questioning now or in the future.</a:t>
            </a:r>
            <a:endParaRPr sz="2600" b="1" dirty="0">
              <a:solidFill>
                <a:srgbClr val="7030A0"/>
              </a:solidFill>
              <a:latin typeface="微软雅黑" panose="020B0503020204020204" pitchFamily="34" charset="-122"/>
              <a:ea typeface="微软雅黑" panose="020B0503020204020204" pitchFamily="34" charset="-122"/>
            </a:endParaRPr>
          </a:p>
          <a:p>
            <a:pPr marL="0" indent="0" defTabSz="388620">
              <a:spcBef>
                <a:spcPts val="0"/>
              </a:spcBef>
              <a:buSzTx/>
              <a:buNone/>
              <a:defRPr sz="1700">
                <a:solidFill>
                  <a:schemeClr val="accent2"/>
                </a:solidFill>
              </a:defRPr>
            </a:pPr>
            <a:endParaRPr sz="2600" b="1" dirty="0">
              <a:solidFill>
                <a:srgbClr val="7030A0"/>
              </a:solidFill>
              <a:latin typeface="微软雅黑" panose="020B0503020204020204" pitchFamily="34" charset="-122"/>
              <a:ea typeface="微软雅黑" panose="020B0503020204020204" pitchFamily="34" charset="-122"/>
            </a:endParaRPr>
          </a:p>
          <a:p>
            <a:pPr marL="0" indent="0" defTabSz="388620">
              <a:spcBef>
                <a:spcPts val="0"/>
              </a:spcBef>
              <a:buSzTx/>
              <a:buNone/>
              <a:defRPr sz="1700">
                <a:solidFill>
                  <a:schemeClr val="accent2"/>
                </a:solidFill>
              </a:defRPr>
            </a:pPr>
            <a:r>
              <a:rPr lang="en-US" altLang="zh-CN" sz="2600" b="1" dirty="0">
                <a:solidFill>
                  <a:srgbClr val="7030A0"/>
                </a:solidFill>
                <a:latin typeface="微软雅黑" panose="020B0503020204020204" pitchFamily="34" charset="-122"/>
                <a:ea typeface="微软雅黑" panose="020B0503020204020204" pitchFamily="34" charset="-122"/>
              </a:rPr>
              <a:t>3.</a:t>
            </a:r>
            <a:r>
              <a:rPr sz="2600" b="1" dirty="0">
                <a:solidFill>
                  <a:srgbClr val="7030A0"/>
                </a:solidFill>
                <a:latin typeface="微软雅黑" panose="020B0503020204020204" pitchFamily="34" charset="-122"/>
                <a:ea typeface="微软雅黑" panose="020B0503020204020204" pitchFamily="34" charset="-122"/>
              </a:rPr>
              <a:t>If you cannot afford an attorney, one will be appointed for you before any questioning if you wish.</a:t>
            </a:r>
            <a:endParaRPr sz="2600" b="1" dirty="0">
              <a:solidFill>
                <a:srgbClr val="7030A0"/>
              </a:solidFill>
              <a:latin typeface="微软雅黑" panose="020B0503020204020204" pitchFamily="34" charset="-122"/>
              <a:ea typeface="微软雅黑" panose="020B0503020204020204" pitchFamily="34" charset="-122"/>
            </a:endParaRPr>
          </a:p>
          <a:p>
            <a:pPr marL="0" indent="0" defTabSz="388620">
              <a:spcBef>
                <a:spcPts val="0"/>
              </a:spcBef>
              <a:buSzTx/>
              <a:buNone/>
              <a:defRPr sz="1700">
                <a:solidFill>
                  <a:schemeClr val="accent2"/>
                </a:solidFill>
              </a:defRPr>
            </a:pPr>
            <a:endParaRPr sz="2600" b="1" dirty="0">
              <a:solidFill>
                <a:srgbClr val="7030A0"/>
              </a:solidFill>
              <a:latin typeface="微软雅黑" panose="020B0503020204020204" pitchFamily="34" charset="-122"/>
              <a:ea typeface="微软雅黑" panose="020B0503020204020204" pitchFamily="34" charset="-122"/>
            </a:endParaRPr>
          </a:p>
          <a:p>
            <a:pPr marL="0" indent="0" defTabSz="388620">
              <a:spcBef>
                <a:spcPts val="0"/>
              </a:spcBef>
              <a:buSzTx/>
              <a:buNone/>
              <a:defRPr sz="1700">
                <a:solidFill>
                  <a:schemeClr val="accent2"/>
                </a:solidFill>
              </a:defRPr>
            </a:pPr>
            <a:r>
              <a:rPr lang="en-US" altLang="zh-CN" sz="2600" b="1" dirty="0">
                <a:solidFill>
                  <a:srgbClr val="7030A0"/>
                </a:solidFill>
                <a:latin typeface="微软雅黑" panose="020B0503020204020204" pitchFamily="34" charset="-122"/>
                <a:ea typeface="微软雅黑" panose="020B0503020204020204" pitchFamily="34" charset="-122"/>
              </a:rPr>
              <a:t>4.</a:t>
            </a:r>
            <a:r>
              <a:rPr sz="2600" b="1" dirty="0">
                <a:solidFill>
                  <a:srgbClr val="7030A0"/>
                </a:solidFill>
                <a:latin typeface="微软雅黑" panose="020B0503020204020204" pitchFamily="34" charset="-122"/>
                <a:ea typeface="微软雅黑" panose="020B0503020204020204" pitchFamily="34" charset="-122"/>
              </a:rPr>
              <a:t>If you decide to answer questions now without an attorney present you will still have the right to stop answering at any time until you talk to an attorney.</a:t>
            </a:r>
            <a:endParaRPr sz="2600" b="1" dirty="0">
              <a:solidFill>
                <a:srgbClr val="7030A0"/>
              </a:solidFill>
              <a:latin typeface="微软雅黑" panose="020B0503020204020204" pitchFamily="34" charset="-122"/>
              <a:ea typeface="微软雅黑" panose="020B0503020204020204" pitchFamily="34" charset="-122"/>
            </a:endParaRPr>
          </a:p>
          <a:p>
            <a:pPr marL="0" indent="0" defTabSz="388620">
              <a:spcBef>
                <a:spcPts val="0"/>
              </a:spcBef>
              <a:buSzTx/>
              <a:buNone/>
              <a:defRPr sz="1700">
                <a:solidFill>
                  <a:schemeClr val="accent2"/>
                </a:solidFill>
              </a:defRPr>
            </a:pPr>
            <a:endParaRPr sz="2600" b="1" dirty="0">
              <a:solidFill>
                <a:srgbClr val="7030A0"/>
              </a:solidFill>
              <a:latin typeface="微软雅黑" panose="020B0503020204020204" pitchFamily="34" charset="-122"/>
              <a:ea typeface="微软雅黑" panose="020B0503020204020204" pitchFamily="34" charset="-122"/>
            </a:endParaRPr>
          </a:p>
          <a:p>
            <a:pPr marL="0" indent="0" defTabSz="388620">
              <a:spcBef>
                <a:spcPts val="0"/>
              </a:spcBef>
              <a:buSzTx/>
              <a:buNone/>
              <a:defRPr sz="1700">
                <a:solidFill>
                  <a:schemeClr val="accent2"/>
                </a:solidFill>
              </a:defRPr>
            </a:pPr>
            <a:r>
              <a:rPr lang="en-US" altLang="zh-CN" sz="2600" b="1" dirty="0">
                <a:solidFill>
                  <a:srgbClr val="7030A0"/>
                </a:solidFill>
                <a:latin typeface="微软雅黑" panose="020B0503020204020204" pitchFamily="34" charset="-122"/>
                <a:ea typeface="微软雅黑" panose="020B0503020204020204" pitchFamily="34" charset="-122"/>
              </a:rPr>
              <a:t>5.</a:t>
            </a:r>
            <a:r>
              <a:rPr sz="2600" b="1" dirty="0">
                <a:solidFill>
                  <a:srgbClr val="7030A0"/>
                </a:solidFill>
                <a:latin typeface="微软雅黑" panose="020B0503020204020204" pitchFamily="34" charset="-122"/>
                <a:ea typeface="微软雅黑" panose="020B0503020204020204" pitchFamily="34" charset="-122"/>
              </a:rPr>
              <a:t>Knowing and understanding your rights as I have explained them to you, are you willing to answer my questions without an attorney present?</a:t>
            </a:r>
            <a:endParaRPr sz="2600" b="1" dirty="0">
              <a:solidFill>
                <a:srgbClr val="7030A0"/>
              </a:solidFill>
              <a:latin typeface="微软雅黑" panose="020B0503020204020204" pitchFamily="34" charset="-122"/>
              <a:ea typeface="微软雅黑" panose="020B0503020204020204" pitchFamily="34" charset="-122"/>
            </a:endParaRPr>
          </a:p>
          <a:p>
            <a:pPr marL="0" indent="0" defTabSz="388620">
              <a:spcBef>
                <a:spcPts val="0"/>
              </a:spcBef>
              <a:buSzTx/>
              <a:buNone/>
              <a:defRPr sz="1700">
                <a:solidFill>
                  <a:srgbClr val="323333"/>
                </a:solidFill>
                <a:latin typeface="Verdana" panose="020B0604030504040204"/>
                <a:ea typeface="Verdana" panose="020B0604030504040204"/>
                <a:cs typeface="Verdana" panose="020B0604030504040204"/>
                <a:sym typeface="Verdana" panose="020B0604030504040204"/>
              </a:defRPr>
            </a:pPr>
            <a:endParaRPr sz="2600" b="1" dirty="0">
              <a:solidFill>
                <a:srgbClr val="7030A0"/>
              </a:solidFill>
              <a:latin typeface="微软雅黑" panose="020B0503020204020204" pitchFamily="34" charset="-122"/>
              <a:ea typeface="微软雅黑" panose="020B0503020204020204" pitchFamily="34" charset="-122"/>
            </a:endParaRPr>
          </a:p>
          <a:p>
            <a:pPr marL="0" indent="0" defTabSz="388620">
              <a:spcBef>
                <a:spcPts val="0"/>
              </a:spcBef>
              <a:buSzTx/>
              <a:buNone/>
              <a:defRPr sz="1700">
                <a:solidFill>
                  <a:srgbClr val="323333"/>
                </a:solidFill>
              </a:defRPr>
            </a:pPr>
            <a:endParaRPr dirty="0"/>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Shape 94"/>
          <p:cNvSpPr>
            <a:spLocks noGrp="1"/>
          </p:cNvSpPr>
          <p:nvPr>
            <p:ph type="title"/>
          </p:nvPr>
        </p:nvSpPr>
        <p:spPr>
          <a:xfrm>
            <a:off x="301625" y="609600"/>
            <a:ext cx="8540750" cy="442823"/>
          </a:xfrm>
          <a:prstGeom prst="rect">
            <a:avLst/>
          </a:prstGeom>
        </p:spPr>
        <p:txBody>
          <a:bodyPr>
            <a:normAutofit fontScale="90000"/>
          </a:bodyPr>
          <a:lstStyle/>
          <a:p>
            <a:endParaRPr dirty="0"/>
          </a:p>
        </p:txBody>
      </p:sp>
      <p:sp>
        <p:nvSpPr>
          <p:cNvPr id="95" name="Shape 95"/>
          <p:cNvSpPr>
            <a:spLocks noGrp="1"/>
          </p:cNvSpPr>
          <p:nvPr>
            <p:ph type="body" idx="1"/>
          </p:nvPr>
        </p:nvSpPr>
        <p:spPr>
          <a:xfrm>
            <a:off x="184030" y="1127186"/>
            <a:ext cx="8798944" cy="4897228"/>
          </a:xfrm>
          <a:prstGeom prst="rect">
            <a:avLst/>
          </a:prstGeom>
        </p:spPr>
        <p:txBody>
          <a:bodyPr/>
          <a:lstStyle/>
          <a:p>
            <a:pPr marL="0" indent="0" defTabSz="457200">
              <a:spcBef>
                <a:spcPts val="0"/>
              </a:spcBef>
              <a:buSzTx/>
              <a:buNone/>
              <a:defRPr sz="2200">
                <a:solidFill>
                  <a:schemeClr val="accent2"/>
                </a:solidFill>
              </a:defRPr>
            </a:pPr>
            <a:r>
              <a:rPr b="1" dirty="0" err="1">
                <a:solidFill>
                  <a:srgbClr val="002060"/>
                </a:solidFill>
              </a:rPr>
              <a:t>宪法要求我告知你以下权利</a:t>
            </a:r>
            <a:r>
              <a:rPr b="1" dirty="0">
                <a:solidFill>
                  <a:srgbClr val="002060"/>
                </a:solidFill>
              </a:rPr>
              <a:t>：</a:t>
            </a:r>
            <a:endParaRPr b="1" dirty="0">
              <a:solidFill>
                <a:srgbClr val="002060"/>
              </a:solidFill>
            </a:endParaRPr>
          </a:p>
          <a:p>
            <a:pPr marL="0" indent="0" defTabSz="457200">
              <a:spcBef>
                <a:spcPts val="0"/>
              </a:spcBef>
              <a:buSzTx/>
              <a:buNone/>
              <a:defRPr sz="2200">
                <a:solidFill>
                  <a:schemeClr val="accent2"/>
                </a:solidFill>
              </a:defRPr>
            </a:pPr>
            <a:r>
              <a:rPr b="1" dirty="0">
                <a:solidFill>
                  <a:srgbClr val="002060"/>
                </a:solidFill>
              </a:rPr>
              <a:t>1、你有权保持沉默，你对任何一个警察所说的一切都将可能被作为法庭对你不利的证据。</a:t>
            </a:r>
            <a:endParaRPr b="1" dirty="0">
              <a:solidFill>
                <a:srgbClr val="002060"/>
              </a:solidFill>
            </a:endParaRPr>
          </a:p>
          <a:p>
            <a:pPr marL="0" indent="0" defTabSz="457200">
              <a:spcBef>
                <a:spcPts val="0"/>
              </a:spcBef>
              <a:buSzTx/>
              <a:buNone/>
              <a:defRPr sz="2200">
                <a:solidFill>
                  <a:schemeClr val="accent2"/>
                </a:solidFill>
              </a:defRPr>
            </a:pPr>
            <a:r>
              <a:rPr b="1" dirty="0">
                <a:solidFill>
                  <a:srgbClr val="002060"/>
                </a:solidFill>
              </a:rPr>
              <a:t>2、你有权利在接受警察询问之前委托律师，他（她）可以陪伴你受讯问的全过程。</a:t>
            </a:r>
            <a:endParaRPr b="1" dirty="0">
              <a:solidFill>
                <a:srgbClr val="002060"/>
              </a:solidFill>
            </a:endParaRPr>
          </a:p>
          <a:p>
            <a:pPr marL="0" indent="0" defTabSz="457200">
              <a:spcBef>
                <a:spcPts val="0"/>
              </a:spcBef>
              <a:buSzTx/>
              <a:buNone/>
              <a:defRPr sz="2200">
                <a:solidFill>
                  <a:schemeClr val="accent2"/>
                </a:solidFill>
              </a:defRPr>
            </a:pPr>
            <a:r>
              <a:rPr b="1" dirty="0">
                <a:solidFill>
                  <a:srgbClr val="002060"/>
                </a:solidFill>
              </a:rPr>
              <a:t>3、如果你付不起律师费，只要你愿意，在所有询问之前将免费为你提供一名律师。</a:t>
            </a:r>
            <a:endParaRPr b="1" dirty="0">
              <a:solidFill>
                <a:srgbClr val="002060"/>
              </a:solidFill>
            </a:endParaRPr>
          </a:p>
          <a:p>
            <a:pPr marL="0" indent="0" defTabSz="457200">
              <a:spcBef>
                <a:spcPts val="0"/>
              </a:spcBef>
              <a:buSzTx/>
              <a:buNone/>
              <a:defRPr sz="2200">
                <a:solidFill>
                  <a:schemeClr val="accent2"/>
                </a:solidFill>
              </a:defRPr>
            </a:pPr>
            <a:r>
              <a:rPr b="1" dirty="0">
                <a:solidFill>
                  <a:srgbClr val="002060"/>
                </a:solidFill>
              </a:rPr>
              <a:t>4、如果你不愿意回答问题，你在任何时间都可以终止谈话。</a:t>
            </a:r>
            <a:endParaRPr b="1" dirty="0">
              <a:solidFill>
                <a:srgbClr val="002060"/>
              </a:solidFill>
            </a:endParaRPr>
          </a:p>
          <a:p>
            <a:pPr marL="0" indent="0" defTabSz="457200">
              <a:spcBef>
                <a:spcPts val="0"/>
              </a:spcBef>
              <a:buSzTx/>
              <a:buNone/>
              <a:defRPr sz="2200">
                <a:solidFill>
                  <a:schemeClr val="accent2"/>
                </a:solidFill>
              </a:defRPr>
            </a:pPr>
            <a:r>
              <a:rPr b="1" dirty="0">
                <a:solidFill>
                  <a:srgbClr val="002060"/>
                </a:solidFill>
              </a:rPr>
              <a:t>5、如果你希望跟你对律师谈话，你可以在任何时间停止回答问题，并且你可以让律师一直伴随你询问的全过程。</a:t>
            </a:r>
            <a:endParaRPr b="1" dirty="0">
              <a:solidFill>
                <a:srgbClr val="002060"/>
              </a:solidFill>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1625" y="609600"/>
            <a:ext cx="8540750" cy="684362"/>
          </a:xfrm>
        </p:spPr>
        <p:txBody>
          <a:bodyPr>
            <a:normAutofit/>
          </a:bodyPr>
          <a:lstStyle/>
          <a:p>
            <a:r>
              <a:rPr lang="zh-CN" altLang="en-US" sz="2800" b="1" dirty="0"/>
              <a:t>证据裁判原则与非法证据的排除原则</a:t>
            </a:r>
            <a:endParaRPr lang="zh-CN" altLang="en-US" sz="2800" b="1" dirty="0"/>
          </a:p>
        </p:txBody>
      </p:sp>
      <p:sp>
        <p:nvSpPr>
          <p:cNvPr id="3" name="文本占位符 2"/>
          <p:cNvSpPr>
            <a:spLocks noGrp="1"/>
          </p:cNvSpPr>
          <p:nvPr>
            <p:ph type="body" idx="1"/>
          </p:nvPr>
        </p:nvSpPr>
        <p:spPr>
          <a:xfrm>
            <a:off x="301625" y="1426234"/>
            <a:ext cx="8540750" cy="4672941"/>
          </a:xfrm>
        </p:spPr>
        <p:txBody>
          <a:bodyPr>
            <a:normAutofit fontScale="55000" lnSpcReduction="20000"/>
          </a:bodyPr>
          <a:lstStyle/>
          <a:p>
            <a:pPr indent="304800" algn="just">
              <a:tabLst>
                <a:tab pos="266700" algn="l"/>
                <a:tab pos="533400" algn="l"/>
                <a:tab pos="800100" algn="l"/>
                <a:tab pos="1066800" algn="l"/>
                <a:tab pos="1333500" algn="l"/>
                <a:tab pos="1600200" algn="l"/>
                <a:tab pos="1866900" algn="l"/>
                <a:tab pos="2133600" algn="l"/>
                <a:tab pos="2400300" algn="l"/>
                <a:tab pos="2667000" algn="l"/>
                <a:tab pos="2933700" algn="l"/>
                <a:tab pos="3200400" algn="l"/>
                <a:tab pos="3467100" algn="l"/>
                <a:tab pos="3733800" algn="l"/>
                <a:tab pos="4000500" algn="l"/>
                <a:tab pos="4267200" algn="l"/>
                <a:tab pos="4533900" algn="l"/>
                <a:tab pos="4800600" algn="l"/>
                <a:tab pos="5067300" algn="l"/>
                <a:tab pos="5334000" algn="l"/>
                <a:tab pos="5600700" algn="l"/>
                <a:tab pos="5798820" algn="l"/>
              </a:tabLst>
            </a:pPr>
            <a:r>
              <a:rPr lang="zh-CN" altLang="zh-CN" b="1" kern="100" dirty="0">
                <a:solidFill>
                  <a:srgbClr val="000000"/>
                </a:solidFill>
                <a:uFill>
                  <a:solidFill>
                    <a:srgbClr val="000000"/>
                  </a:solidFill>
                </a:uFill>
                <a:latin typeface="Arial Unicode MS" panose="020B0604020202020204" charset="-122"/>
                <a:ea typeface="Times New Roman" panose="02020603050405020304" pitchFamily="18" charset="0"/>
                <a:cs typeface="Arial Unicode MS" panose="020B0604020202020204" charset="-122"/>
              </a:rPr>
              <a:t> </a:t>
            </a:r>
            <a:r>
              <a:rPr lang="zh-CN" altLang="zh-CN" b="1" kern="100" dirty="0">
                <a:solidFill>
                  <a:srgbClr val="FF2C21"/>
                </a:solidFill>
                <a:uFill>
                  <a:solidFill>
                    <a:srgbClr val="000000"/>
                  </a:solidFill>
                </a:uFill>
                <a:latin typeface="Arial Unicode MS" panose="020B0604020202020204" charset="-122"/>
                <a:ea typeface="Arial Unicode MS" panose="020B0604020202020204" charset="-122"/>
                <a:cs typeface="Arial Unicode MS" panose="020B0604020202020204" charset="-122"/>
              </a:rPr>
              <a:t>第</a:t>
            </a:r>
            <a:r>
              <a:rPr lang="zh-TW" altLang="zh-CN" b="1" kern="100" dirty="0">
                <a:solidFill>
                  <a:srgbClr val="FF2C21"/>
                </a:solidFill>
                <a:uFill>
                  <a:solidFill>
                    <a:srgbClr val="000000"/>
                  </a:solidFill>
                </a:uFill>
                <a:latin typeface="Arial Unicode MS" panose="020B0604020202020204" charset="-122"/>
                <a:ea typeface="Times New Roman" panose="02020603050405020304" pitchFamily="18" charset="0"/>
                <a:cs typeface="Arial Unicode MS" panose="020B0604020202020204" charset="-122"/>
              </a:rPr>
              <a:t>53</a:t>
            </a:r>
            <a:r>
              <a:rPr lang="zh-TW" altLang="zh-CN" b="1" kern="100" dirty="0">
                <a:solidFill>
                  <a:srgbClr val="FF2C21"/>
                </a:solidFill>
                <a:uFill>
                  <a:solidFill>
                    <a:srgbClr val="000000"/>
                  </a:solidFill>
                </a:uFill>
                <a:latin typeface="Arial Unicode MS" panose="020B0604020202020204" charset="-122"/>
                <a:ea typeface="Arial Unicode MS" panose="020B0604020202020204" charset="-122"/>
                <a:cs typeface="Arial Unicode MS" panose="020B0604020202020204" charset="-122"/>
              </a:rPr>
              <a:t>条</a:t>
            </a:r>
            <a:r>
              <a:rPr lang="zh-TW" altLang="zh-CN" b="1" kern="100" dirty="0">
                <a:solidFill>
                  <a:srgbClr val="000000"/>
                </a:solidFill>
                <a:uFill>
                  <a:solidFill>
                    <a:srgbClr val="000000"/>
                  </a:solidFill>
                </a:uFill>
                <a:latin typeface="Arial Unicode MS" panose="020B0604020202020204" charset="-122"/>
                <a:ea typeface="Times New Roman" panose="02020603050405020304" pitchFamily="18" charset="0"/>
                <a:cs typeface="Arial Unicode MS" panose="020B0604020202020204" charset="-122"/>
              </a:rPr>
              <a:t> </a:t>
            </a:r>
            <a:r>
              <a:rPr lang="zh-TW" altLang="zh-CN"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rPr>
              <a:t>对一切案件的判处都要重证据，重调查研究，不轻信口供。只有被告人供述，没有其他证据的，不能认定被告人有罪和处以刑罚；没有被告人供述，证据确实、充分的，可以认定被告人有罪和处以刑罚。</a:t>
            </a:r>
            <a:endParaRPr lang="zh-CN" altLang="zh-CN" sz="1600"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endParaRPr>
          </a:p>
          <a:p>
            <a:pPr marL="0" indent="0">
              <a:buNone/>
            </a:pPr>
            <a:r>
              <a:rPr lang="en-US" altLang="zh-TW" b="1" dirty="0">
                <a:solidFill>
                  <a:srgbClr val="323232"/>
                </a:solidFill>
                <a:uFill>
                  <a:solidFill>
                    <a:srgbClr val="000000"/>
                  </a:solidFill>
                </a:uFill>
                <a:latin typeface="Arial Unicode MS" panose="020B0604020202020204" charset="-122"/>
                <a:ea typeface="Arial Unicode MS" panose="020B0604020202020204" charset="-122"/>
                <a:cs typeface="Arial Unicode MS" panose="020B0604020202020204" charset="-122"/>
              </a:rPr>
              <a:t>       </a:t>
            </a:r>
            <a:r>
              <a:rPr lang="zh-TW" altLang="zh-CN" b="1" dirty="0">
                <a:solidFill>
                  <a:srgbClr val="323232"/>
                </a:solidFill>
                <a:uFill>
                  <a:solidFill>
                    <a:srgbClr val="000000"/>
                  </a:solidFill>
                </a:uFill>
                <a:latin typeface="Arial Unicode MS" panose="020B0604020202020204" charset="-122"/>
                <a:ea typeface="Arial Unicode MS" panose="020B0604020202020204" charset="-122"/>
                <a:cs typeface="Arial Unicode MS" panose="020B0604020202020204" charset="-122"/>
              </a:rPr>
              <a:t>证据确实、充分，应当符合以下条件：</a:t>
            </a:r>
            <a:endParaRPr lang="en-US" altLang="zh-TW" sz="1800" b="1"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endParaRPr>
          </a:p>
          <a:p>
            <a:pPr marL="0" indent="0">
              <a:buNone/>
            </a:pPr>
            <a:r>
              <a:rPr lang="en-US" altLang="zh-TW" sz="1800" b="1"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rPr>
              <a:t>       </a:t>
            </a:r>
            <a:r>
              <a:rPr lang="zh-TW" altLang="zh-CN" b="1" dirty="0">
                <a:solidFill>
                  <a:srgbClr val="323232"/>
                </a:solidFill>
                <a:uFill>
                  <a:solidFill>
                    <a:srgbClr val="000000"/>
                  </a:solidFill>
                </a:uFill>
                <a:latin typeface="Arial Unicode MS" panose="020B0604020202020204" charset="-122"/>
                <a:ea typeface="Arial Unicode MS" panose="020B0604020202020204" charset="-122"/>
                <a:cs typeface="Arial Unicode MS" panose="020B0604020202020204" charset="-122"/>
              </a:rPr>
              <a:t>（一）定罪量刑的事实都有证据证明；</a:t>
            </a:r>
            <a:endParaRPr lang="zh-CN" altLang="zh-CN" sz="1800" b="1" dirty="0">
              <a:solidFill>
                <a:srgbClr val="000000"/>
              </a:solidFill>
              <a:uFill>
                <a:solidFill>
                  <a:srgbClr val="000000"/>
                </a:solidFill>
              </a:uFill>
              <a:latin typeface="Arial Unicode MS" panose="020B0604020202020204" charset="-122"/>
              <a:ea typeface="Helvetica" pitchFamily="34" charset="0"/>
              <a:cs typeface="Arial Unicode MS" panose="020B0604020202020204" charset="-122"/>
            </a:endParaRPr>
          </a:p>
          <a:p>
            <a:pPr marL="0" indent="0">
              <a:buNone/>
            </a:pPr>
            <a:r>
              <a:rPr lang="en-US" altLang="zh-TW" b="1" dirty="0">
                <a:solidFill>
                  <a:srgbClr val="323232"/>
                </a:solidFill>
                <a:uFill>
                  <a:solidFill>
                    <a:srgbClr val="000000"/>
                  </a:solidFill>
                </a:uFill>
                <a:latin typeface="Arial Unicode MS" panose="020B0604020202020204" charset="-122"/>
                <a:ea typeface="Arial Unicode MS" panose="020B0604020202020204" charset="-122"/>
                <a:cs typeface="Arial Unicode MS" panose="020B0604020202020204" charset="-122"/>
              </a:rPr>
              <a:t>    </a:t>
            </a:r>
            <a:r>
              <a:rPr lang="zh-TW" altLang="zh-CN" b="1" dirty="0">
                <a:solidFill>
                  <a:srgbClr val="323232"/>
                </a:solidFill>
                <a:uFill>
                  <a:solidFill>
                    <a:srgbClr val="000000"/>
                  </a:solidFill>
                </a:uFill>
                <a:latin typeface="Arial Unicode MS" panose="020B0604020202020204" charset="-122"/>
                <a:ea typeface="Arial Unicode MS" panose="020B0604020202020204" charset="-122"/>
                <a:cs typeface="Arial Unicode MS" panose="020B0604020202020204" charset="-122"/>
              </a:rPr>
              <a:t>（二）据以定案的证据均经法定程序查证属实；</a:t>
            </a:r>
            <a:endParaRPr lang="zh-CN" altLang="zh-CN" sz="1800" b="1" dirty="0">
              <a:solidFill>
                <a:srgbClr val="000000"/>
              </a:solidFill>
              <a:uFill>
                <a:solidFill>
                  <a:srgbClr val="000000"/>
                </a:solidFill>
              </a:uFill>
              <a:latin typeface="Arial Unicode MS" panose="020B0604020202020204" charset="-122"/>
              <a:ea typeface="Helvetica" pitchFamily="34" charset="0"/>
              <a:cs typeface="Arial Unicode MS" panose="020B0604020202020204" charset="-122"/>
            </a:endParaRPr>
          </a:p>
          <a:p>
            <a:pPr marL="0" indent="0">
              <a:buNone/>
            </a:pPr>
            <a:r>
              <a:rPr lang="en-US" altLang="zh-TW" b="1" dirty="0">
                <a:solidFill>
                  <a:srgbClr val="323232"/>
                </a:solidFill>
                <a:uFill>
                  <a:solidFill>
                    <a:srgbClr val="000000"/>
                  </a:solidFill>
                </a:uFill>
                <a:latin typeface="Arial Unicode MS" panose="020B0604020202020204" charset="-122"/>
                <a:ea typeface="Arial Unicode MS" panose="020B0604020202020204" charset="-122"/>
                <a:cs typeface="Arial Unicode MS" panose="020B0604020202020204" charset="-122"/>
              </a:rPr>
              <a:t>    </a:t>
            </a:r>
            <a:r>
              <a:rPr lang="zh-TW" altLang="zh-CN" b="1" dirty="0">
                <a:solidFill>
                  <a:srgbClr val="323232"/>
                </a:solidFill>
                <a:uFill>
                  <a:solidFill>
                    <a:srgbClr val="000000"/>
                  </a:solidFill>
                </a:uFill>
                <a:latin typeface="Arial Unicode MS" panose="020B0604020202020204" charset="-122"/>
                <a:ea typeface="Arial Unicode MS" panose="020B0604020202020204" charset="-122"/>
                <a:cs typeface="Arial Unicode MS" panose="020B0604020202020204" charset="-122"/>
              </a:rPr>
              <a:t>（三）综合全案证据，对所认定事实已排除合理怀疑。</a:t>
            </a:r>
            <a:endParaRPr lang="en-US" altLang="zh-TW" b="1" dirty="0">
              <a:solidFill>
                <a:srgbClr val="323232"/>
              </a:solidFill>
              <a:uFill>
                <a:solidFill>
                  <a:srgbClr val="000000"/>
                </a:solidFill>
              </a:uFill>
              <a:latin typeface="Arial Unicode MS" panose="020B0604020202020204" charset="-122"/>
              <a:ea typeface="Arial Unicode MS" panose="020B0604020202020204" charset="-122"/>
              <a:cs typeface="Arial Unicode MS" panose="020B0604020202020204" charset="-122"/>
            </a:endParaRPr>
          </a:p>
          <a:p>
            <a:pPr marL="0" indent="0">
              <a:buNone/>
            </a:pPr>
            <a:r>
              <a:rPr lang="en-US" altLang="zh-TW" b="1" dirty="0">
                <a:solidFill>
                  <a:srgbClr val="FF2C21"/>
                </a:solidFill>
                <a:uFill>
                  <a:solidFill>
                    <a:srgbClr val="000000"/>
                  </a:solidFill>
                </a:uFill>
                <a:latin typeface="Arial Unicode MS" panose="020B0604020202020204" charset="-122"/>
                <a:ea typeface="Arial Unicode MS" panose="020B0604020202020204" charset="-122"/>
                <a:cs typeface="Arial Unicode MS" panose="020B0604020202020204" charset="-122"/>
              </a:rPr>
              <a:t>       </a:t>
            </a:r>
            <a:r>
              <a:rPr lang="zh-TW" altLang="zh-CN" b="1" dirty="0">
                <a:solidFill>
                  <a:srgbClr val="FF2C21"/>
                </a:solidFill>
                <a:uFill>
                  <a:solidFill>
                    <a:srgbClr val="000000"/>
                  </a:solidFill>
                </a:uFill>
                <a:latin typeface="Arial Unicode MS" panose="020B0604020202020204" charset="-122"/>
                <a:ea typeface="Arial Unicode MS" panose="020B0604020202020204" charset="-122"/>
                <a:cs typeface="Arial Unicode MS" panose="020B0604020202020204" charset="-122"/>
              </a:rPr>
              <a:t>（证据裁判原则）</a:t>
            </a:r>
            <a:endParaRPr lang="zh-CN" altLang="zh-CN" sz="1800" b="1" dirty="0">
              <a:solidFill>
                <a:srgbClr val="000000"/>
              </a:solidFill>
              <a:uFill>
                <a:solidFill>
                  <a:srgbClr val="000000"/>
                </a:solidFill>
              </a:uFill>
              <a:latin typeface="Arial Unicode MS" panose="020B0604020202020204" charset="-122"/>
              <a:ea typeface="Helvetica" pitchFamily="34" charset="0"/>
              <a:cs typeface="Arial Unicode MS" panose="020B0604020202020204" charset="-122"/>
            </a:endParaRPr>
          </a:p>
          <a:p>
            <a:r>
              <a:rPr lang="zh-TW" altLang="zh-CN" b="1" dirty="0">
                <a:solidFill>
                  <a:srgbClr val="323232"/>
                </a:solidFill>
                <a:uFill>
                  <a:solidFill>
                    <a:srgbClr val="000000"/>
                  </a:solidFill>
                </a:uFill>
                <a:latin typeface="Arial Unicode MS" panose="020B0604020202020204" charset="-122"/>
                <a:ea typeface="Helvetica" pitchFamily="34" charset="0"/>
                <a:cs typeface="Arial Unicode MS" panose="020B0604020202020204" charset="-122"/>
              </a:rPr>
              <a:t>   </a:t>
            </a:r>
            <a:r>
              <a:rPr lang="zh-TW" altLang="zh-CN" b="1" dirty="0">
                <a:solidFill>
                  <a:srgbClr val="FF2C21"/>
                </a:solidFill>
                <a:uFill>
                  <a:solidFill>
                    <a:srgbClr val="000000"/>
                  </a:solidFill>
                </a:uFill>
                <a:latin typeface="Arial Unicode MS" panose="020B0604020202020204" charset="-122"/>
                <a:ea typeface="Arial Unicode MS" panose="020B0604020202020204" charset="-122"/>
                <a:cs typeface="Arial Unicode MS" panose="020B0604020202020204" charset="-122"/>
              </a:rPr>
              <a:t>第</a:t>
            </a:r>
            <a:r>
              <a:rPr lang="zh-TW" altLang="zh-CN" b="1" dirty="0">
                <a:solidFill>
                  <a:srgbClr val="FF2C21"/>
                </a:solidFill>
                <a:uFill>
                  <a:solidFill>
                    <a:srgbClr val="000000"/>
                  </a:solidFill>
                </a:uFill>
                <a:latin typeface="Arial Unicode MS" panose="020B0604020202020204" charset="-122"/>
                <a:ea typeface="Helvetica" pitchFamily="34" charset="0"/>
                <a:cs typeface="Arial Unicode MS" panose="020B0604020202020204" charset="-122"/>
              </a:rPr>
              <a:t>54</a:t>
            </a:r>
            <a:r>
              <a:rPr lang="zh-TW" altLang="zh-CN" b="1" dirty="0">
                <a:solidFill>
                  <a:srgbClr val="FF2C21"/>
                </a:solidFill>
                <a:uFill>
                  <a:solidFill>
                    <a:srgbClr val="000000"/>
                  </a:solidFill>
                </a:uFill>
                <a:latin typeface="Arial Unicode MS" panose="020B0604020202020204" charset="-122"/>
                <a:ea typeface="Arial Unicode MS" panose="020B0604020202020204" charset="-122"/>
                <a:cs typeface="Arial Unicode MS" panose="020B0604020202020204" charset="-122"/>
              </a:rPr>
              <a:t>条</a:t>
            </a:r>
            <a:r>
              <a:rPr lang="zh-TW" altLang="zh-CN" b="1" dirty="0">
                <a:solidFill>
                  <a:srgbClr val="323232"/>
                </a:solidFill>
                <a:uFill>
                  <a:solidFill>
                    <a:srgbClr val="000000"/>
                  </a:solidFill>
                </a:uFill>
                <a:latin typeface="Arial Unicode MS" panose="020B0604020202020204" charset="-122"/>
                <a:ea typeface="Helvetica" pitchFamily="34" charset="0"/>
                <a:cs typeface="Arial Unicode MS" panose="020B0604020202020204" charset="-122"/>
              </a:rPr>
              <a:t> </a:t>
            </a:r>
            <a:r>
              <a:rPr lang="zh-TW" altLang="zh-CN" b="1" dirty="0">
                <a:solidFill>
                  <a:srgbClr val="323232"/>
                </a:solidFill>
                <a:uFill>
                  <a:solidFill>
                    <a:srgbClr val="000000"/>
                  </a:solidFill>
                </a:uFill>
                <a:latin typeface="Arial Unicode MS" panose="020B0604020202020204" charset="-122"/>
                <a:ea typeface="Arial Unicode MS" panose="020B0604020202020204" charset="-122"/>
                <a:cs typeface="Arial Unicode MS" panose="020B0604020202020204" charset="-122"/>
              </a:rPr>
              <a:t>采用刑讯逼供等非法方法收集的犯罪嫌疑人、被告人供述和采用暴力、威胁等非法方法收集的证人证言、被害人陈述，应当予以排除。收集物证、书证不符合法定程序，可能严重影响司法公正的，应当予以补正或者作出合理解释；不能补正或者作出合理解释的，对该证据应当予以排除。</a:t>
            </a:r>
            <a:endParaRPr lang="zh-CN" altLang="zh-CN" sz="1800" b="1" dirty="0">
              <a:solidFill>
                <a:srgbClr val="000000"/>
              </a:solidFill>
              <a:uFill>
                <a:solidFill>
                  <a:srgbClr val="000000"/>
                </a:solidFill>
              </a:uFill>
              <a:latin typeface="Arial Unicode MS" panose="020B0604020202020204" charset="-122"/>
              <a:ea typeface="Helvetica" pitchFamily="34" charset="0"/>
              <a:cs typeface="Arial Unicode MS" panose="020B0604020202020204" charset="-122"/>
            </a:endParaRPr>
          </a:p>
          <a:p>
            <a:pPr marL="0" indent="0">
              <a:buNone/>
            </a:pPr>
            <a:r>
              <a:rPr lang="en-US" altLang="zh-TW" b="1" dirty="0">
                <a:solidFill>
                  <a:srgbClr val="323232"/>
                </a:solidFill>
                <a:uFill>
                  <a:solidFill>
                    <a:srgbClr val="000000"/>
                  </a:solidFill>
                </a:uFill>
                <a:latin typeface="Arial Unicode MS" panose="020B0604020202020204" charset="-122"/>
                <a:ea typeface="Arial Unicode MS" panose="020B0604020202020204" charset="-122"/>
                <a:cs typeface="Arial Unicode MS" panose="020B0604020202020204" charset="-122"/>
              </a:rPr>
              <a:t>     </a:t>
            </a:r>
            <a:r>
              <a:rPr lang="zh-TW" altLang="zh-CN" b="1" dirty="0">
                <a:solidFill>
                  <a:srgbClr val="323232"/>
                </a:solidFill>
                <a:uFill>
                  <a:solidFill>
                    <a:srgbClr val="000000"/>
                  </a:solidFill>
                </a:uFill>
                <a:latin typeface="Arial Unicode MS" panose="020B0604020202020204" charset="-122"/>
                <a:ea typeface="Arial Unicode MS" panose="020B0604020202020204" charset="-122"/>
                <a:cs typeface="Arial Unicode MS" panose="020B0604020202020204" charset="-122"/>
              </a:rPr>
              <a:t>在侦查、审查起诉、审判时发现有应当排除的证据的，应当依法予以排除，不得作为起诉意见、起诉决定和判决的依据。</a:t>
            </a:r>
            <a:endParaRPr lang="en-US" altLang="zh-TW" b="1" dirty="0">
              <a:solidFill>
                <a:srgbClr val="323232"/>
              </a:solidFill>
              <a:uFill>
                <a:solidFill>
                  <a:srgbClr val="000000"/>
                </a:solidFill>
              </a:uFill>
              <a:latin typeface="Arial Unicode MS" panose="020B0604020202020204" charset="-122"/>
              <a:ea typeface="Arial Unicode MS" panose="020B0604020202020204" charset="-122"/>
              <a:cs typeface="Arial Unicode MS" panose="020B0604020202020204" charset="-122"/>
            </a:endParaRPr>
          </a:p>
          <a:p>
            <a:pPr marL="0" indent="0">
              <a:buNone/>
            </a:pPr>
            <a:r>
              <a:rPr lang="en-US" altLang="zh-TW" b="1" dirty="0">
                <a:solidFill>
                  <a:srgbClr val="323232"/>
                </a:solidFill>
                <a:uFill>
                  <a:solidFill>
                    <a:srgbClr val="000000"/>
                  </a:solidFill>
                </a:uFill>
                <a:latin typeface="Arial Unicode MS" panose="020B0604020202020204" charset="-122"/>
                <a:ea typeface="Arial Unicode MS" panose="020B0604020202020204" charset="-122"/>
                <a:cs typeface="Arial Unicode MS" panose="020B0604020202020204" charset="-122"/>
              </a:rPr>
              <a:t>     </a:t>
            </a:r>
            <a:r>
              <a:rPr lang="zh-TW" altLang="zh-CN" b="1" dirty="0">
                <a:solidFill>
                  <a:srgbClr val="323232"/>
                </a:solidFill>
                <a:uFill>
                  <a:solidFill>
                    <a:srgbClr val="000000"/>
                  </a:solidFill>
                </a:uFill>
                <a:latin typeface="Arial Unicode MS" panose="020B0604020202020204" charset="-122"/>
                <a:ea typeface="Arial Unicode MS" panose="020B0604020202020204" charset="-122"/>
                <a:cs typeface="Arial Unicode MS" panose="020B0604020202020204" charset="-122"/>
              </a:rPr>
              <a:t>（</a:t>
            </a:r>
            <a:r>
              <a:rPr lang="zh-TW" altLang="zh-CN" b="1" dirty="0">
                <a:solidFill>
                  <a:srgbClr val="FF2C21"/>
                </a:solidFill>
                <a:uFill>
                  <a:solidFill>
                    <a:srgbClr val="000000"/>
                  </a:solidFill>
                </a:uFill>
                <a:latin typeface="Arial Unicode MS" panose="020B0604020202020204" charset="-122"/>
                <a:ea typeface="Arial Unicode MS" panose="020B0604020202020204" charset="-122"/>
                <a:cs typeface="Arial Unicode MS" panose="020B0604020202020204" charset="-122"/>
              </a:rPr>
              <a:t>非法证据排除规则）</a:t>
            </a:r>
            <a:endParaRPr lang="zh-CN" altLang="zh-CN" sz="1800" b="1" dirty="0">
              <a:solidFill>
                <a:srgbClr val="000000"/>
              </a:solidFill>
              <a:uFill>
                <a:solidFill>
                  <a:srgbClr val="000000"/>
                </a:solidFill>
              </a:uFill>
              <a:latin typeface="Arial Unicode MS" panose="020B0604020202020204" charset="-122"/>
              <a:ea typeface="Helvetica" pitchFamily="34" charset="0"/>
              <a:cs typeface="Arial Unicode MS" panose="020B0604020202020204" charset="-122"/>
            </a:endParaRPr>
          </a:p>
          <a:p>
            <a:endParaRPr lang="zh-CN" altLang="en-US" dirty="0"/>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1625" y="707365"/>
            <a:ext cx="8540750" cy="562155"/>
          </a:xfrm>
        </p:spPr>
        <p:txBody>
          <a:bodyPr>
            <a:normAutofit/>
          </a:bodyPr>
          <a:lstStyle/>
          <a:p>
            <a:r>
              <a:rPr lang="zh-CN" altLang="en-US" sz="2800" b="1" dirty="0"/>
              <a:t>疑罪从无原则</a:t>
            </a:r>
            <a:endParaRPr lang="zh-CN" altLang="en-US" sz="2800" b="1" dirty="0"/>
          </a:p>
        </p:txBody>
      </p:sp>
      <p:sp>
        <p:nvSpPr>
          <p:cNvPr id="3" name="文本占位符 2"/>
          <p:cNvSpPr>
            <a:spLocks noGrp="1"/>
          </p:cNvSpPr>
          <p:nvPr>
            <p:ph type="body" idx="1"/>
          </p:nvPr>
        </p:nvSpPr>
        <p:spPr>
          <a:xfrm>
            <a:off x="301625" y="1420484"/>
            <a:ext cx="8540750" cy="4678692"/>
          </a:xfrm>
        </p:spPr>
        <p:txBody>
          <a:bodyPr>
            <a:normAutofit/>
          </a:bodyPr>
          <a:lstStyle/>
          <a:p>
            <a:r>
              <a:rPr lang="zh-TW" altLang="zh-CN" sz="2400" b="1" dirty="0">
                <a:solidFill>
                  <a:srgbClr val="FF2C21"/>
                </a:solidFill>
                <a:uFill>
                  <a:solidFill>
                    <a:srgbClr val="000000"/>
                  </a:solidFill>
                </a:uFill>
                <a:latin typeface="Arial Unicode MS" panose="020B0604020202020204" charset="-122"/>
                <a:ea typeface="Arial Unicode MS" panose="020B0604020202020204" charset="-122"/>
                <a:cs typeface="Arial Unicode MS" panose="020B0604020202020204" charset="-122"/>
              </a:rPr>
              <a:t>第</a:t>
            </a:r>
            <a:r>
              <a:rPr lang="zh-TW" altLang="zh-CN" sz="2400" b="1" dirty="0">
                <a:solidFill>
                  <a:srgbClr val="FF2C21"/>
                </a:solidFill>
                <a:uFill>
                  <a:solidFill>
                    <a:srgbClr val="000000"/>
                  </a:solidFill>
                </a:uFill>
                <a:latin typeface="Arial Unicode MS" panose="020B0604020202020204" charset="-122"/>
                <a:ea typeface="Helvetica" pitchFamily="34" charset="0"/>
                <a:cs typeface="Arial Unicode MS" panose="020B0604020202020204" charset="-122"/>
              </a:rPr>
              <a:t>195</a:t>
            </a:r>
            <a:r>
              <a:rPr lang="zh-TW" altLang="zh-CN" sz="2400" b="1" dirty="0">
                <a:solidFill>
                  <a:srgbClr val="FF2C21"/>
                </a:solidFill>
                <a:uFill>
                  <a:solidFill>
                    <a:srgbClr val="000000"/>
                  </a:solidFill>
                </a:uFill>
                <a:latin typeface="Arial Unicode MS" panose="020B0604020202020204" charset="-122"/>
                <a:ea typeface="Arial Unicode MS" panose="020B0604020202020204" charset="-122"/>
                <a:cs typeface="Arial Unicode MS" panose="020B0604020202020204" charset="-122"/>
              </a:rPr>
              <a:t>条</a:t>
            </a:r>
            <a:r>
              <a:rPr lang="zh-TW" altLang="zh-CN" sz="2400" b="1" dirty="0">
                <a:solidFill>
                  <a:srgbClr val="FF2C21"/>
                </a:solidFill>
                <a:uFill>
                  <a:solidFill>
                    <a:srgbClr val="000000"/>
                  </a:solidFill>
                </a:uFill>
                <a:latin typeface="Arial Unicode MS" panose="020B0604020202020204" charset="-122"/>
                <a:ea typeface="Helvetica" pitchFamily="34" charset="0"/>
                <a:cs typeface="Arial Unicode MS" panose="020B0604020202020204" charset="-122"/>
              </a:rPr>
              <a:t>  </a:t>
            </a:r>
            <a:r>
              <a:rPr lang="zh-TW" altLang="zh-CN" sz="2400" b="1" dirty="0">
                <a:solidFill>
                  <a:srgbClr val="323232"/>
                </a:solidFill>
                <a:uFill>
                  <a:solidFill>
                    <a:srgbClr val="000000"/>
                  </a:solidFill>
                </a:uFill>
                <a:latin typeface="Arial Unicode MS" panose="020B0604020202020204" charset="-122"/>
                <a:ea typeface="Arial Unicode MS" panose="020B0604020202020204" charset="-122"/>
                <a:cs typeface="Arial Unicode MS" panose="020B0604020202020204" charset="-122"/>
              </a:rPr>
              <a:t>在被告人最后陈述后，审判长宣布休庭，合议庭进行评议，根据已经查明的事实、证据和有关的法律规定，分别作出以下判决：</a:t>
            </a:r>
            <a:endParaRPr lang="zh-CN" altLang="zh-CN" sz="2400" b="1" dirty="0">
              <a:solidFill>
                <a:srgbClr val="000000"/>
              </a:solidFill>
              <a:uFill>
                <a:solidFill>
                  <a:srgbClr val="000000"/>
                </a:solidFill>
              </a:uFill>
              <a:latin typeface="Arial Unicode MS" panose="020B0604020202020204" charset="-122"/>
              <a:ea typeface="Helvetica" pitchFamily="34" charset="0"/>
              <a:cs typeface="Arial Unicode MS" panose="020B0604020202020204" charset="-122"/>
            </a:endParaRPr>
          </a:p>
          <a:p>
            <a:r>
              <a:rPr lang="zh-TW" altLang="zh-CN" sz="2400" b="1" dirty="0">
                <a:solidFill>
                  <a:srgbClr val="323232"/>
                </a:solidFill>
                <a:uFill>
                  <a:solidFill>
                    <a:srgbClr val="000000"/>
                  </a:solidFill>
                </a:uFill>
                <a:latin typeface="Arial Unicode MS" panose="020B0604020202020204" charset="-122"/>
                <a:ea typeface="Arial Unicode MS" panose="020B0604020202020204" charset="-122"/>
                <a:cs typeface="Arial Unicode MS" panose="020B0604020202020204" charset="-122"/>
              </a:rPr>
              <a:t>　　（一）案件事实清楚，证据确实、充分，依据法律认定被告人有罪的，应当作出有罪判决；</a:t>
            </a:r>
            <a:endParaRPr lang="zh-CN" altLang="zh-CN" sz="2400" b="1" dirty="0">
              <a:solidFill>
                <a:srgbClr val="000000"/>
              </a:solidFill>
              <a:uFill>
                <a:solidFill>
                  <a:srgbClr val="000000"/>
                </a:solidFill>
              </a:uFill>
              <a:latin typeface="Arial Unicode MS" panose="020B0604020202020204" charset="-122"/>
              <a:ea typeface="Helvetica" pitchFamily="34" charset="0"/>
              <a:cs typeface="Arial Unicode MS" panose="020B0604020202020204" charset="-122"/>
            </a:endParaRPr>
          </a:p>
          <a:p>
            <a:r>
              <a:rPr lang="zh-TW" altLang="zh-CN" sz="2400" b="1" dirty="0">
                <a:solidFill>
                  <a:srgbClr val="323232"/>
                </a:solidFill>
                <a:uFill>
                  <a:solidFill>
                    <a:srgbClr val="000000"/>
                  </a:solidFill>
                </a:uFill>
                <a:latin typeface="Arial Unicode MS" panose="020B0604020202020204" charset="-122"/>
                <a:ea typeface="Arial Unicode MS" panose="020B0604020202020204" charset="-122"/>
                <a:cs typeface="Arial Unicode MS" panose="020B0604020202020204" charset="-122"/>
              </a:rPr>
              <a:t>　　（二）依据法律认定被告人无罪的，应当作出无罪判决；</a:t>
            </a:r>
            <a:endParaRPr lang="zh-CN" altLang="zh-CN" sz="2400" b="1" dirty="0">
              <a:solidFill>
                <a:srgbClr val="000000"/>
              </a:solidFill>
              <a:uFill>
                <a:solidFill>
                  <a:srgbClr val="000000"/>
                </a:solidFill>
              </a:uFill>
              <a:latin typeface="Arial Unicode MS" panose="020B0604020202020204" charset="-122"/>
              <a:ea typeface="Helvetica" pitchFamily="34" charset="0"/>
              <a:cs typeface="Arial Unicode MS" panose="020B0604020202020204" charset="-122"/>
            </a:endParaRPr>
          </a:p>
          <a:p>
            <a:r>
              <a:rPr lang="zh-TW" altLang="zh-CN" sz="2400" b="1" dirty="0">
                <a:solidFill>
                  <a:srgbClr val="323232"/>
                </a:solidFill>
                <a:uFill>
                  <a:solidFill>
                    <a:srgbClr val="000000"/>
                  </a:solidFill>
                </a:uFill>
                <a:latin typeface="Arial Unicode MS" panose="020B0604020202020204" charset="-122"/>
                <a:ea typeface="Arial Unicode MS" panose="020B0604020202020204" charset="-122"/>
                <a:cs typeface="Arial Unicode MS" panose="020B0604020202020204" charset="-122"/>
              </a:rPr>
              <a:t>　　（三）证据不足，不能认定被告人有罪的，应当作出证据不足、指控的犯罪不能成立的无罪判决。</a:t>
            </a:r>
            <a:endParaRPr lang="en-US" altLang="zh-TW" sz="2400" b="1" dirty="0">
              <a:solidFill>
                <a:srgbClr val="323232"/>
              </a:solidFill>
              <a:uFill>
                <a:solidFill>
                  <a:srgbClr val="000000"/>
                </a:solidFill>
              </a:uFill>
              <a:latin typeface="Arial Unicode MS" panose="020B0604020202020204" charset="-122"/>
              <a:ea typeface="Arial Unicode MS" panose="020B0604020202020204" charset="-122"/>
              <a:cs typeface="Arial Unicode MS" panose="020B0604020202020204" charset="-122"/>
            </a:endParaRPr>
          </a:p>
          <a:p>
            <a:r>
              <a:rPr lang="en-US" altLang="zh-TW" sz="2400" b="1" dirty="0">
                <a:solidFill>
                  <a:srgbClr val="323232"/>
                </a:solidFill>
                <a:uFill>
                  <a:solidFill>
                    <a:srgbClr val="000000"/>
                  </a:solidFill>
                </a:uFill>
                <a:latin typeface="Arial Unicode MS" panose="020B0604020202020204" charset="-122"/>
                <a:ea typeface="Arial Unicode MS" panose="020B0604020202020204" charset="-122"/>
                <a:cs typeface="Arial Unicode MS" panose="020B0604020202020204" charset="-122"/>
              </a:rPr>
              <a:t>    </a:t>
            </a:r>
            <a:r>
              <a:rPr lang="zh-TW" altLang="zh-CN" sz="2400" b="1" dirty="0">
                <a:solidFill>
                  <a:srgbClr val="FF0000"/>
                </a:solidFill>
                <a:uFill>
                  <a:solidFill>
                    <a:srgbClr val="000000"/>
                  </a:solidFill>
                </a:uFill>
                <a:latin typeface="Arial Unicode MS" panose="020B0604020202020204" charset="-122"/>
                <a:ea typeface="Arial Unicode MS" panose="020B0604020202020204" charset="-122"/>
                <a:cs typeface="Arial Unicode MS" panose="020B0604020202020204" charset="-122"/>
              </a:rPr>
              <a:t>（疑</a:t>
            </a:r>
            <a:r>
              <a:rPr lang="zh-TW" altLang="zh-CN" sz="2400" b="1" dirty="0">
                <a:solidFill>
                  <a:srgbClr val="FF2C21"/>
                </a:solidFill>
                <a:uFill>
                  <a:solidFill>
                    <a:srgbClr val="000000"/>
                  </a:solidFill>
                </a:uFill>
                <a:latin typeface="Arial Unicode MS" panose="020B0604020202020204" charset="-122"/>
                <a:ea typeface="Arial Unicode MS" panose="020B0604020202020204" charset="-122"/>
                <a:cs typeface="Arial Unicode MS" panose="020B0604020202020204" charset="-122"/>
              </a:rPr>
              <a:t>罪从无）</a:t>
            </a:r>
            <a:endParaRPr lang="zh-CN" altLang="zh-CN" sz="2400" b="1" dirty="0">
              <a:solidFill>
                <a:srgbClr val="000000"/>
              </a:solidFill>
              <a:uFill>
                <a:solidFill>
                  <a:srgbClr val="000000"/>
                </a:solidFill>
              </a:uFill>
              <a:latin typeface="Arial Unicode MS" panose="020B0604020202020204" charset="-122"/>
              <a:ea typeface="Helvetica" pitchFamily="34" charset="0"/>
              <a:cs typeface="Arial Unicode MS" panose="020B0604020202020204" charset="-122"/>
            </a:endParaRPr>
          </a:p>
          <a:p>
            <a:endParaRPr lang="zh-CN" altLang="en-US" dirty="0"/>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1625" y="609600"/>
            <a:ext cx="8540750" cy="684362"/>
          </a:xfrm>
        </p:spPr>
        <p:txBody>
          <a:bodyPr>
            <a:normAutofit/>
          </a:bodyPr>
          <a:lstStyle/>
          <a:p>
            <a:r>
              <a:rPr lang="zh-CN" altLang="en-US" sz="3200" b="1" dirty="0">
                <a:solidFill>
                  <a:srgbClr val="00B050"/>
                </a:solidFill>
                <a:latin typeface="微软雅黑" panose="020B0503020204020204" pitchFamily="34" charset="-122"/>
                <a:ea typeface="微软雅黑" panose="020B0503020204020204" pitchFamily="34" charset="-122"/>
              </a:rPr>
              <a:t>杨乃武与小白菜案</a:t>
            </a:r>
            <a:endParaRPr lang="zh-CN" altLang="en-US" sz="3200" b="1" dirty="0">
              <a:solidFill>
                <a:srgbClr val="00B050"/>
              </a:solidFill>
              <a:latin typeface="微软雅黑" panose="020B0503020204020204" pitchFamily="34" charset="-122"/>
              <a:ea typeface="微软雅黑" panose="020B0503020204020204" pitchFamily="34" charset="-122"/>
            </a:endParaRPr>
          </a:p>
        </p:txBody>
      </p:sp>
      <p:sp>
        <p:nvSpPr>
          <p:cNvPr id="3" name="文本占位符 2"/>
          <p:cNvSpPr>
            <a:spLocks noGrp="1"/>
          </p:cNvSpPr>
          <p:nvPr>
            <p:ph type="body" idx="1"/>
          </p:nvPr>
        </p:nvSpPr>
        <p:spPr>
          <a:xfrm>
            <a:off x="301625" y="1293962"/>
            <a:ext cx="8540750" cy="4805213"/>
          </a:xfrm>
        </p:spPr>
        <p:txBody>
          <a:bodyPr>
            <a:normAutofit/>
          </a:bodyPr>
          <a:lstStyle/>
          <a:p>
            <a:r>
              <a:rPr lang="zh-CN" altLang="en-US" sz="2000" dirty="0">
                <a:solidFill>
                  <a:srgbClr val="444444"/>
                </a:solidFill>
                <a:latin typeface="Arial" panose="020B0704020202020204" pitchFamily="34" charset="0"/>
              </a:rPr>
              <a:t>  </a:t>
            </a:r>
            <a:r>
              <a:rPr lang="zh-CN" altLang="en-US" sz="2000" b="1" dirty="0">
                <a:solidFill>
                  <a:srgbClr val="002060"/>
                </a:solidFill>
                <a:latin typeface="微软雅黑" panose="020B0503020204020204" pitchFamily="34" charset="-122"/>
                <a:ea typeface="微软雅黑" panose="020B0503020204020204" pitchFamily="34" charset="-122"/>
              </a:rPr>
              <a:t>清同治十二年（公元</a:t>
            </a:r>
            <a:r>
              <a:rPr lang="en-US" altLang="zh-CN" sz="2000" b="1" dirty="0">
                <a:solidFill>
                  <a:srgbClr val="002060"/>
                </a:solidFill>
                <a:latin typeface="微软雅黑" panose="020B0503020204020204" pitchFamily="34" charset="-122"/>
                <a:ea typeface="微软雅黑" panose="020B0503020204020204" pitchFamily="34" charset="-122"/>
              </a:rPr>
              <a:t>1873</a:t>
            </a:r>
            <a:r>
              <a:rPr lang="zh-CN" altLang="en-US" sz="2000" b="1" dirty="0">
                <a:solidFill>
                  <a:srgbClr val="002060"/>
                </a:solidFill>
                <a:latin typeface="微软雅黑" panose="020B0503020204020204" pitchFamily="34" charset="-122"/>
                <a:ea typeface="微软雅黑" panose="020B0503020204020204" pitchFamily="34" charset="-122"/>
              </a:rPr>
              <a:t>年）</a:t>
            </a:r>
            <a:r>
              <a:rPr lang="en-US" altLang="zh-CN" sz="2000" b="1" dirty="0">
                <a:solidFill>
                  <a:srgbClr val="002060"/>
                </a:solidFill>
                <a:latin typeface="微软雅黑" panose="020B0503020204020204" pitchFamily="34" charset="-122"/>
                <a:ea typeface="微软雅黑" panose="020B0503020204020204" pitchFamily="34" charset="-122"/>
              </a:rPr>
              <a:t>10</a:t>
            </a:r>
            <a:r>
              <a:rPr lang="zh-CN" altLang="en-US" sz="2000" b="1" dirty="0">
                <a:solidFill>
                  <a:srgbClr val="002060"/>
                </a:solidFill>
                <a:latin typeface="微软雅黑" panose="020B0503020204020204" pitchFamily="34" charset="-122"/>
                <a:ea typeface="微软雅黑" panose="020B0503020204020204" pitchFamily="34" charset="-122"/>
              </a:rPr>
              <a:t>月</a:t>
            </a:r>
            <a:r>
              <a:rPr lang="en-US" altLang="zh-CN" sz="2000" b="1" dirty="0">
                <a:solidFill>
                  <a:srgbClr val="002060"/>
                </a:solidFill>
                <a:latin typeface="微软雅黑" panose="020B0503020204020204" pitchFamily="34" charset="-122"/>
                <a:ea typeface="微软雅黑" panose="020B0503020204020204" pitchFamily="34" charset="-122"/>
              </a:rPr>
              <a:t>9</a:t>
            </a:r>
            <a:r>
              <a:rPr lang="zh-CN" altLang="en-US" sz="2000" b="1" dirty="0">
                <a:solidFill>
                  <a:srgbClr val="002060"/>
                </a:solidFill>
                <a:latin typeface="微软雅黑" panose="020B0503020204020204" pitchFamily="34" charset="-122"/>
                <a:ea typeface="微软雅黑" panose="020B0503020204020204" pitchFamily="34" charset="-122"/>
              </a:rPr>
              <a:t>日，浙江省余杭县所在地余杭镇发生一起命案。这天早饭后不久，豆腐店伙</a:t>
            </a:r>
            <a:r>
              <a:rPr lang="zh-CN" altLang="en-US" sz="2000" b="1" dirty="0">
                <a:solidFill>
                  <a:schemeClr val="bg2"/>
                </a:solidFill>
                <a:latin typeface="微软雅黑" panose="020B0503020204020204" pitchFamily="34" charset="-122"/>
                <a:ea typeface="微软雅黑" panose="020B0503020204020204" pitchFamily="34" charset="-122"/>
              </a:rPr>
              <a:t>计</a:t>
            </a:r>
            <a:r>
              <a:rPr lang="zh-CN" altLang="en-US" sz="2000" b="1" dirty="0">
                <a:solidFill>
                  <a:srgbClr val="00B050"/>
                </a:solidFill>
                <a:latin typeface="微软雅黑" panose="020B0503020204020204" pitchFamily="34" charset="-122"/>
                <a:ea typeface="微软雅黑" panose="020B0503020204020204" pitchFamily="34" charset="-122"/>
              </a:rPr>
              <a:t>葛品连</a:t>
            </a:r>
            <a:r>
              <a:rPr lang="zh-CN" altLang="en-US" sz="2000" b="1" dirty="0">
                <a:solidFill>
                  <a:srgbClr val="002060"/>
                </a:solidFill>
                <a:latin typeface="微软雅黑" panose="020B0503020204020204" pitchFamily="34" charset="-122"/>
                <a:ea typeface="微软雅黑" panose="020B0503020204020204" pitchFamily="34" charset="-122"/>
              </a:rPr>
              <a:t>突感身体不适回家，途中数次呕吐。大约早饭也未吃，便在糕点店买了粉团吃。到了家门口，还呕吐不止。到家后就躺到了床上，他自以为又得了流火疾，便要妻子</a:t>
            </a:r>
            <a:r>
              <a:rPr lang="zh-CN" altLang="en-US" sz="2000" b="1" dirty="0">
                <a:solidFill>
                  <a:srgbClr val="0070C0"/>
                </a:solidFill>
                <a:latin typeface="微软雅黑" panose="020B0503020204020204" pitchFamily="34" charset="-122"/>
                <a:ea typeface="微软雅黑" panose="020B0503020204020204" pitchFamily="34" charset="-122"/>
              </a:rPr>
              <a:t>毕秀姑</a:t>
            </a:r>
            <a:r>
              <a:rPr lang="zh-CN" altLang="en-US" sz="2000" b="1" dirty="0">
                <a:solidFill>
                  <a:srgbClr val="002060"/>
                </a:solidFill>
                <a:latin typeface="微软雅黑" panose="020B0503020204020204" pitchFamily="34" charset="-122"/>
                <a:ea typeface="微软雅黑" panose="020B0503020204020204" pitchFamily="34" charset="-122"/>
              </a:rPr>
              <a:t>（因人长得漂亮，又常穿绿衣白裙，被美称为“小白菜”）买桂圆和东洋参煎服。葛品连服用后并未见好，病情反而更为沉重。午后，</a:t>
            </a:r>
            <a:r>
              <a:rPr lang="zh-CN" altLang="en-US" sz="2000" b="1" dirty="0">
                <a:solidFill>
                  <a:srgbClr val="00B050"/>
                </a:solidFill>
                <a:latin typeface="微软雅黑" panose="020B0503020204020204" pitchFamily="34" charset="-122"/>
                <a:ea typeface="微软雅黑" panose="020B0503020204020204" pitchFamily="34" charset="-122"/>
              </a:rPr>
              <a:t>葛品连病情沉重。延至申时，命赴黄泉。</a:t>
            </a:r>
            <a:br>
              <a:rPr lang="zh-CN" altLang="en-US" sz="2000" b="1" dirty="0">
                <a:solidFill>
                  <a:srgbClr val="00B050"/>
                </a:solidFill>
                <a:latin typeface="微软雅黑" panose="020B0503020204020204" pitchFamily="34" charset="-122"/>
                <a:ea typeface="微软雅黑" panose="020B0503020204020204" pitchFamily="34" charset="-122"/>
              </a:rPr>
            </a:br>
            <a:r>
              <a:rPr lang="zh-CN" altLang="en-US" sz="2000" b="1" dirty="0">
                <a:solidFill>
                  <a:srgbClr val="002060"/>
                </a:solidFill>
                <a:latin typeface="微软雅黑" panose="020B0503020204020204" pitchFamily="34" charset="-122"/>
                <a:ea typeface="微软雅黑" panose="020B0503020204020204" pitchFamily="34" charset="-122"/>
              </a:rPr>
              <a:t>　葛品连死后的第二天晚上，尸体的口、鼻内竟流出血水。葛品连的义母</a:t>
            </a:r>
            <a:r>
              <a:rPr lang="zh-CN" altLang="en-US" sz="2000" b="1" dirty="0">
                <a:solidFill>
                  <a:srgbClr val="00B050"/>
                </a:solidFill>
                <a:latin typeface="微软雅黑" panose="020B0503020204020204" pitchFamily="34" charset="-122"/>
                <a:ea typeface="微软雅黑" panose="020B0503020204020204" pitchFamily="34" charset="-122"/>
              </a:rPr>
              <a:t>冯许氏</a:t>
            </a:r>
            <a:r>
              <a:rPr lang="zh-CN" altLang="en-US" sz="2000" b="1" dirty="0">
                <a:solidFill>
                  <a:srgbClr val="002060"/>
                </a:solidFill>
                <a:latin typeface="微软雅黑" panose="020B0503020204020204" pitchFamily="34" charset="-122"/>
                <a:ea typeface="微软雅黑" panose="020B0503020204020204" pitchFamily="34" charset="-122"/>
              </a:rPr>
              <a:t>见后</a:t>
            </a:r>
            <a:r>
              <a:rPr lang="zh-CN" altLang="en-US" sz="2000" b="1" dirty="0">
                <a:solidFill>
                  <a:srgbClr val="00B050"/>
                </a:solidFill>
                <a:latin typeface="微软雅黑" panose="020B0503020204020204" pitchFamily="34" charset="-122"/>
                <a:ea typeface="微软雅黑" panose="020B0503020204020204" pitchFamily="34" charset="-122"/>
              </a:rPr>
              <a:t>怀疑葛品连是中毒而死，</a:t>
            </a:r>
            <a:r>
              <a:rPr lang="zh-CN" altLang="en-US" sz="2000" b="1" dirty="0">
                <a:solidFill>
                  <a:srgbClr val="002060"/>
                </a:solidFill>
                <a:latin typeface="微软雅黑" panose="020B0503020204020204" pitchFamily="34" charset="-122"/>
                <a:ea typeface="微软雅黑" panose="020B0503020204020204" pitchFamily="34" charset="-122"/>
              </a:rPr>
              <a:t>便与沈喻氏等众亲友商议报官，请求官府前来验尸，惩治凶手。</a:t>
            </a:r>
            <a:endParaRPr lang="en-US" altLang="zh-CN" sz="2000" b="1" dirty="0">
              <a:solidFill>
                <a:srgbClr val="002060"/>
              </a:solidFill>
              <a:latin typeface="微软雅黑" panose="020B0503020204020204" pitchFamily="34" charset="-122"/>
              <a:ea typeface="微软雅黑" panose="020B0503020204020204" pitchFamily="34" charset="-122"/>
            </a:endParaRPr>
          </a:p>
          <a:p>
            <a:r>
              <a:rPr lang="zh-CN" altLang="en-US" sz="2000" b="1" dirty="0">
                <a:solidFill>
                  <a:srgbClr val="002060"/>
                </a:solidFill>
                <a:latin typeface="微软雅黑" panose="020B0503020204020204" pitchFamily="34" charset="-122"/>
                <a:ea typeface="微软雅黑" panose="020B0503020204020204" pitchFamily="34" charset="-122"/>
              </a:rPr>
              <a:t>余杭知县</a:t>
            </a:r>
            <a:r>
              <a:rPr lang="zh-CN" altLang="en-US" sz="2000" b="1" dirty="0">
                <a:solidFill>
                  <a:srgbClr val="00B050"/>
                </a:solidFill>
                <a:latin typeface="微软雅黑" panose="020B0503020204020204" pitchFamily="34" charset="-122"/>
                <a:ea typeface="微软雅黑" panose="020B0503020204020204" pitchFamily="34" charset="-122"/>
              </a:rPr>
              <a:t>刘锡彤</a:t>
            </a:r>
            <a:r>
              <a:rPr lang="zh-CN" altLang="en-US" sz="2000" b="1" dirty="0">
                <a:solidFill>
                  <a:srgbClr val="002060"/>
                </a:solidFill>
                <a:latin typeface="微软雅黑" panose="020B0503020204020204" pitchFamily="34" charset="-122"/>
                <a:ea typeface="微软雅黑" panose="020B0503020204020204" pitchFamily="34" charset="-122"/>
              </a:rPr>
              <a:t>将小白菜带回县衙后，对其进行</a:t>
            </a:r>
            <a:r>
              <a:rPr lang="zh-CN" altLang="en-US" sz="2000" b="1" dirty="0">
                <a:solidFill>
                  <a:srgbClr val="00B050"/>
                </a:solidFill>
                <a:latin typeface="微软雅黑" panose="020B0503020204020204" pitchFamily="34" charset="-122"/>
                <a:ea typeface="微软雅黑" panose="020B0503020204020204" pitchFamily="34" charset="-122"/>
              </a:rPr>
              <a:t>严刑拷打</a:t>
            </a:r>
            <a:r>
              <a:rPr lang="zh-CN" altLang="en-US" sz="2000" b="1" dirty="0">
                <a:solidFill>
                  <a:srgbClr val="002060"/>
                </a:solidFill>
                <a:latin typeface="微软雅黑" panose="020B0503020204020204" pitchFamily="34" charset="-122"/>
                <a:ea typeface="微软雅黑" panose="020B0503020204020204" pitchFamily="34" charset="-122"/>
              </a:rPr>
              <a:t>。据当年</a:t>
            </a:r>
            <a:r>
              <a:rPr lang="en-US" altLang="zh-CN" sz="2000" b="1" dirty="0">
                <a:solidFill>
                  <a:srgbClr val="002060"/>
                </a:solidFill>
                <a:latin typeface="微软雅黑" panose="020B0503020204020204" pitchFamily="34" charset="-122"/>
                <a:ea typeface="微软雅黑" panose="020B0503020204020204" pitchFamily="34" charset="-122"/>
              </a:rPr>
              <a:t>《</a:t>
            </a:r>
            <a:r>
              <a:rPr lang="zh-CN" altLang="en-US" sz="2000" b="1" dirty="0">
                <a:solidFill>
                  <a:srgbClr val="002060"/>
                </a:solidFill>
                <a:latin typeface="微软雅黑" panose="020B0503020204020204" pitchFamily="34" charset="-122"/>
                <a:ea typeface="微软雅黑" panose="020B0503020204020204" pitchFamily="34" charset="-122"/>
              </a:rPr>
              <a:t>申报</a:t>
            </a:r>
            <a:r>
              <a:rPr lang="en-US" altLang="zh-CN" sz="2000" b="1" dirty="0">
                <a:solidFill>
                  <a:srgbClr val="002060"/>
                </a:solidFill>
                <a:latin typeface="微软雅黑" panose="020B0503020204020204" pitchFamily="34" charset="-122"/>
                <a:ea typeface="微软雅黑" panose="020B0503020204020204" pitchFamily="34" charset="-122"/>
              </a:rPr>
              <a:t>》</a:t>
            </a:r>
            <a:r>
              <a:rPr lang="zh-CN" altLang="en-US" sz="2000" b="1" dirty="0">
                <a:solidFill>
                  <a:srgbClr val="002060"/>
                </a:solidFill>
                <a:latin typeface="微软雅黑" panose="020B0503020204020204" pitchFamily="34" charset="-122"/>
                <a:ea typeface="微软雅黑" panose="020B0503020204020204" pitchFamily="34" charset="-122"/>
              </a:rPr>
              <a:t>载，小白菜受的刑是“烧红铁丝刺乳，锡龙滚水浇背”。酷刑之下，小白菜在生不如死的情况下，</a:t>
            </a:r>
            <a:r>
              <a:rPr lang="zh-CN" altLang="en-US" sz="2000" b="1" dirty="0">
                <a:solidFill>
                  <a:srgbClr val="00B050"/>
                </a:solidFill>
                <a:latin typeface="微软雅黑" panose="020B0503020204020204" pitchFamily="34" charset="-122"/>
                <a:ea typeface="微软雅黑" panose="020B0503020204020204" pitchFamily="34" charset="-122"/>
              </a:rPr>
              <a:t>违心按照知县刘锡彤的诱导作了“与杨乃武系因奸情”而“谋害亲夫”的供述。</a:t>
            </a:r>
            <a:endParaRPr lang="zh-CN" altLang="en-US" sz="2000" b="1" dirty="0">
              <a:solidFill>
                <a:srgbClr val="00B050"/>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1625" y="609600"/>
            <a:ext cx="8540750" cy="580845"/>
          </a:xfrm>
        </p:spPr>
        <p:txBody>
          <a:bodyPr>
            <a:normAutofit fontScale="90000"/>
          </a:bodyPr>
          <a:lstStyle/>
          <a:p>
            <a:endParaRPr lang="zh-CN" altLang="en-US" dirty="0"/>
          </a:p>
        </p:txBody>
      </p:sp>
      <p:sp>
        <p:nvSpPr>
          <p:cNvPr id="3" name="文本占位符 2"/>
          <p:cNvSpPr>
            <a:spLocks noGrp="1"/>
          </p:cNvSpPr>
          <p:nvPr>
            <p:ph type="body" idx="1"/>
          </p:nvPr>
        </p:nvSpPr>
        <p:spPr>
          <a:xfrm>
            <a:off x="201283" y="1351472"/>
            <a:ext cx="8641092" cy="4747703"/>
          </a:xfrm>
        </p:spPr>
        <p:txBody>
          <a:bodyPr>
            <a:normAutofit/>
          </a:bodyPr>
          <a:lstStyle/>
          <a:p>
            <a:r>
              <a:rPr lang="zh-CN" altLang="en-US" sz="1800" b="1" dirty="0">
                <a:solidFill>
                  <a:srgbClr val="00B050"/>
                </a:solidFill>
                <a:latin typeface="微软雅黑" panose="020B0503020204020204" pitchFamily="34" charset="-122"/>
                <a:ea typeface="微软雅黑" panose="020B0503020204020204" pitchFamily="34" charset="-122"/>
              </a:rPr>
              <a:t>知府</a:t>
            </a:r>
            <a:r>
              <a:rPr lang="zh-CN" altLang="en-US" sz="1800" b="1" dirty="0">
                <a:solidFill>
                  <a:srgbClr val="FF0000"/>
                </a:solidFill>
                <a:latin typeface="微软雅黑" panose="020B0503020204020204" pitchFamily="34" charset="-122"/>
                <a:ea typeface="微软雅黑" panose="020B0503020204020204" pitchFamily="34" charset="-122"/>
              </a:rPr>
              <a:t>陈鲁</a:t>
            </a:r>
            <a:r>
              <a:rPr lang="zh-CN" altLang="en-US" sz="1800" b="1" dirty="0">
                <a:solidFill>
                  <a:srgbClr val="00B050"/>
                </a:solidFill>
                <a:latin typeface="微软雅黑" panose="020B0503020204020204" pitchFamily="34" charset="-122"/>
                <a:ea typeface="微软雅黑" panose="020B0503020204020204" pitchFamily="34" charset="-122"/>
              </a:rPr>
              <a:t>在圣请革去</a:t>
            </a:r>
            <a:r>
              <a:rPr lang="zh-CN" altLang="en-US" sz="1800" b="1" dirty="0">
                <a:solidFill>
                  <a:srgbClr val="FF0000"/>
                </a:solidFill>
                <a:latin typeface="微软雅黑" panose="020B0503020204020204" pitchFamily="34" charset="-122"/>
                <a:ea typeface="微软雅黑" panose="020B0503020204020204" pitchFamily="34" charset="-122"/>
              </a:rPr>
              <a:t>杨乃武</a:t>
            </a:r>
            <a:r>
              <a:rPr lang="zh-CN" altLang="en-US" sz="1800" b="1" dirty="0">
                <a:solidFill>
                  <a:srgbClr val="00B050"/>
                </a:solidFill>
                <a:latin typeface="微软雅黑" panose="020B0503020204020204" pitchFamily="34" charset="-122"/>
                <a:ea typeface="微软雅黑" panose="020B0503020204020204" pitchFamily="34" charset="-122"/>
              </a:rPr>
              <a:t>“举人”的御批后，便</a:t>
            </a:r>
            <a:r>
              <a:rPr lang="zh-CN" altLang="en-US" sz="1800" b="1" dirty="0">
                <a:solidFill>
                  <a:srgbClr val="002060"/>
                </a:solidFill>
                <a:latin typeface="微软雅黑" panose="020B0503020204020204" pitchFamily="34" charset="-122"/>
                <a:ea typeface="微软雅黑" panose="020B0503020204020204" pitchFamily="34" charset="-122"/>
              </a:rPr>
              <a:t>动用大刑</a:t>
            </a:r>
            <a:r>
              <a:rPr lang="zh-CN" altLang="en-US" sz="1800" b="1" dirty="0">
                <a:solidFill>
                  <a:srgbClr val="00B050"/>
                </a:solidFill>
                <a:latin typeface="微软雅黑" panose="020B0503020204020204" pitchFamily="34" charset="-122"/>
                <a:ea typeface="微软雅黑" panose="020B0503020204020204" pitchFamily="34" charset="-122"/>
              </a:rPr>
              <a:t>，杨乃武</a:t>
            </a:r>
            <a:r>
              <a:rPr lang="zh-CN" altLang="en-US" sz="1800" b="1" dirty="0">
                <a:solidFill>
                  <a:srgbClr val="FF0000"/>
                </a:solidFill>
                <a:latin typeface="微软雅黑" panose="020B0503020204020204" pitchFamily="34" charset="-122"/>
                <a:ea typeface="微软雅黑" panose="020B0503020204020204" pitchFamily="34" charset="-122"/>
              </a:rPr>
              <a:t>熬刑不过，</a:t>
            </a:r>
            <a:r>
              <a:rPr lang="zh-CN" altLang="en-US" sz="1800" b="1" dirty="0">
                <a:solidFill>
                  <a:srgbClr val="00B050"/>
                </a:solidFill>
                <a:latin typeface="微软雅黑" panose="020B0503020204020204" pitchFamily="34" charset="-122"/>
                <a:ea typeface="微软雅黑" panose="020B0503020204020204" pitchFamily="34" charset="-122"/>
              </a:rPr>
              <a:t>只得承认与小白菜因奸谋毒杀人之事。　</a:t>
            </a:r>
            <a:endParaRPr lang="zh-CN" altLang="en-US" sz="1800" b="1" dirty="0">
              <a:solidFill>
                <a:srgbClr val="00B050"/>
              </a:solidFill>
              <a:latin typeface="微软雅黑" panose="020B0503020204020204" pitchFamily="34" charset="-122"/>
              <a:ea typeface="微软雅黑" panose="020B0503020204020204" pitchFamily="34" charset="-122"/>
            </a:endParaRPr>
          </a:p>
          <a:p>
            <a:r>
              <a:rPr lang="zh-CN" altLang="en-US" sz="1800" b="1" dirty="0">
                <a:solidFill>
                  <a:srgbClr val="00B050"/>
                </a:solidFill>
                <a:latin typeface="微软雅黑" panose="020B0503020204020204" pitchFamily="34" charset="-122"/>
                <a:ea typeface="微软雅黑" panose="020B0503020204020204" pitchFamily="34" charset="-122"/>
              </a:rPr>
              <a:t>同治</a:t>
            </a:r>
            <a:r>
              <a:rPr lang="en-US" altLang="zh-CN" sz="1800" b="1" dirty="0">
                <a:solidFill>
                  <a:srgbClr val="00B050"/>
                </a:solidFill>
                <a:latin typeface="微软雅黑" panose="020B0503020204020204" pitchFamily="34" charset="-122"/>
                <a:ea typeface="微软雅黑" panose="020B0503020204020204" pitchFamily="34" charset="-122"/>
              </a:rPr>
              <a:t>12</a:t>
            </a:r>
            <a:r>
              <a:rPr lang="zh-CN" altLang="en-US" sz="1800" b="1" dirty="0">
                <a:solidFill>
                  <a:srgbClr val="00B050"/>
                </a:solidFill>
                <a:latin typeface="微软雅黑" panose="020B0503020204020204" pitchFamily="34" charset="-122"/>
                <a:ea typeface="微软雅黑" panose="020B0503020204020204" pitchFamily="34" charset="-122"/>
              </a:rPr>
              <a:t>年</a:t>
            </a:r>
            <a:r>
              <a:rPr lang="en-US" altLang="zh-CN" sz="1800" b="1" dirty="0">
                <a:solidFill>
                  <a:srgbClr val="00B050"/>
                </a:solidFill>
                <a:latin typeface="微软雅黑" panose="020B0503020204020204" pitchFamily="34" charset="-122"/>
                <a:ea typeface="微软雅黑" panose="020B0503020204020204" pitchFamily="34" charset="-122"/>
              </a:rPr>
              <a:t>11</a:t>
            </a:r>
            <a:r>
              <a:rPr lang="zh-CN" altLang="en-US" sz="1800" b="1" dirty="0">
                <a:solidFill>
                  <a:srgbClr val="00B050"/>
                </a:solidFill>
                <a:latin typeface="微软雅黑" panose="020B0503020204020204" pitchFamily="34" charset="-122"/>
                <a:ea typeface="微软雅黑" panose="020B0503020204020204" pitchFamily="34" charset="-122"/>
              </a:rPr>
              <a:t>月初</a:t>
            </a:r>
            <a:r>
              <a:rPr lang="en-US" altLang="zh-CN" sz="1800" b="1" dirty="0">
                <a:solidFill>
                  <a:srgbClr val="00B050"/>
                </a:solidFill>
                <a:latin typeface="微软雅黑" panose="020B0503020204020204" pitchFamily="34" charset="-122"/>
                <a:ea typeface="微软雅黑" panose="020B0503020204020204" pitchFamily="34" charset="-122"/>
              </a:rPr>
              <a:t>6</a:t>
            </a:r>
            <a:r>
              <a:rPr lang="zh-CN" altLang="en-US" sz="1800" b="1" dirty="0">
                <a:solidFill>
                  <a:srgbClr val="00B050"/>
                </a:solidFill>
                <a:latin typeface="微软雅黑" panose="020B0503020204020204" pitchFamily="34" charset="-122"/>
                <a:ea typeface="微软雅黑" panose="020B0503020204020204" pitchFamily="34" charset="-122"/>
              </a:rPr>
              <a:t>日，杭州知府</a:t>
            </a:r>
            <a:r>
              <a:rPr lang="zh-CN" altLang="en-US" sz="1800" b="1" dirty="0">
                <a:solidFill>
                  <a:srgbClr val="FF0000"/>
                </a:solidFill>
                <a:latin typeface="微软雅黑" panose="020B0503020204020204" pitchFamily="34" charset="-122"/>
                <a:ea typeface="微软雅黑" panose="020B0503020204020204" pitchFamily="34" charset="-122"/>
              </a:rPr>
              <a:t>陈鲁</a:t>
            </a:r>
            <a:r>
              <a:rPr lang="zh-CN" altLang="en-US" sz="1800" b="1" dirty="0">
                <a:solidFill>
                  <a:srgbClr val="00B050"/>
                </a:solidFill>
                <a:latin typeface="微软雅黑" panose="020B0503020204020204" pitchFamily="34" charset="-122"/>
                <a:ea typeface="微软雅黑" panose="020B0503020204020204" pitchFamily="34" charset="-122"/>
              </a:rPr>
              <a:t>作出判决，以因奸谋杀亲夫罪</a:t>
            </a:r>
            <a:r>
              <a:rPr lang="zh-CN" altLang="en-US" sz="1800" b="1" dirty="0">
                <a:solidFill>
                  <a:srgbClr val="FF0000"/>
                </a:solidFill>
                <a:latin typeface="微软雅黑" panose="020B0503020204020204" pitchFamily="34" charset="-122"/>
                <a:ea typeface="微软雅黑" panose="020B0503020204020204" pitchFamily="34" charset="-122"/>
              </a:rPr>
              <a:t>处小白菜凌迟之刑</a:t>
            </a:r>
            <a:r>
              <a:rPr lang="zh-CN" altLang="en-US" sz="1800" b="1" dirty="0">
                <a:solidFill>
                  <a:srgbClr val="00B050"/>
                </a:solidFill>
                <a:latin typeface="微软雅黑" panose="020B0503020204020204" pitchFamily="34" charset="-122"/>
                <a:ea typeface="微软雅黑" panose="020B0503020204020204" pitchFamily="34" charset="-122"/>
              </a:rPr>
              <a:t>，以授意谋害他人亲夫处</a:t>
            </a:r>
            <a:r>
              <a:rPr lang="zh-CN" altLang="en-US" sz="1800" b="1" dirty="0">
                <a:solidFill>
                  <a:srgbClr val="FF0000"/>
                </a:solidFill>
                <a:latin typeface="微软雅黑" panose="020B0503020204020204" pitchFamily="34" charset="-122"/>
                <a:ea typeface="微软雅黑" panose="020B0503020204020204" pitchFamily="34" charset="-122"/>
              </a:rPr>
              <a:t>杨乃武斩立决</a:t>
            </a:r>
            <a:r>
              <a:rPr lang="zh-CN" altLang="en-US" sz="1800" b="1" dirty="0">
                <a:solidFill>
                  <a:srgbClr val="00B050"/>
                </a:solidFill>
                <a:latin typeface="微软雅黑" panose="020B0503020204020204" pitchFamily="34" charset="-122"/>
                <a:ea typeface="微软雅黑" panose="020B0503020204020204" pitchFamily="34" charset="-122"/>
              </a:rPr>
              <a:t>，上报浙江</a:t>
            </a:r>
            <a:r>
              <a:rPr lang="zh-CN" altLang="en-US" sz="1800" b="1" dirty="0">
                <a:solidFill>
                  <a:srgbClr val="FF0000"/>
                </a:solidFill>
                <a:latin typeface="微软雅黑" panose="020B0503020204020204" pitchFamily="34" charset="-122"/>
                <a:ea typeface="微软雅黑" panose="020B0503020204020204" pitchFamily="34" charset="-122"/>
              </a:rPr>
              <a:t>按察使</a:t>
            </a:r>
            <a:r>
              <a:rPr lang="zh-CN" altLang="en-US" sz="1800" b="1" dirty="0">
                <a:solidFill>
                  <a:srgbClr val="00B050"/>
                </a:solidFill>
                <a:latin typeface="微软雅黑" panose="020B0503020204020204" pitchFamily="34" charset="-122"/>
                <a:ea typeface="微软雅黑" panose="020B0503020204020204" pitchFamily="34" charset="-122"/>
              </a:rPr>
              <a:t>。</a:t>
            </a:r>
            <a:endParaRPr lang="en-US" altLang="zh-CN" sz="1800" b="1" dirty="0">
              <a:solidFill>
                <a:srgbClr val="00B050"/>
              </a:solidFill>
              <a:latin typeface="微软雅黑" panose="020B0503020204020204" pitchFamily="34" charset="-122"/>
              <a:ea typeface="微软雅黑" panose="020B0503020204020204" pitchFamily="34" charset="-122"/>
            </a:endParaRPr>
          </a:p>
          <a:p>
            <a:r>
              <a:rPr lang="zh-CN" altLang="en-US" sz="1800" b="1" dirty="0">
                <a:solidFill>
                  <a:srgbClr val="00B050"/>
                </a:solidFill>
                <a:latin typeface="微软雅黑" panose="020B0503020204020204" pitchFamily="34" charset="-122"/>
                <a:ea typeface="微软雅黑" panose="020B0503020204020204" pitchFamily="34" charset="-122"/>
              </a:rPr>
              <a:t>浙江</a:t>
            </a:r>
            <a:r>
              <a:rPr lang="zh-CN" altLang="en-US" sz="1800" b="1" dirty="0">
                <a:solidFill>
                  <a:srgbClr val="FF0000"/>
                </a:solidFill>
                <a:latin typeface="微软雅黑" panose="020B0503020204020204" pitchFamily="34" charset="-122"/>
                <a:ea typeface="微软雅黑" panose="020B0503020204020204" pitchFamily="34" charset="-122"/>
              </a:rPr>
              <a:t>按察使蒯贺荪</a:t>
            </a:r>
            <a:r>
              <a:rPr lang="zh-CN" altLang="en-US" sz="1800" b="1" dirty="0">
                <a:solidFill>
                  <a:srgbClr val="00B050"/>
                </a:solidFill>
                <a:latin typeface="微软雅黑" panose="020B0503020204020204" pitchFamily="34" charset="-122"/>
                <a:ea typeface="微软雅黑" panose="020B0503020204020204" pitchFamily="34" charset="-122"/>
              </a:rPr>
              <a:t>开始</a:t>
            </a:r>
            <a:r>
              <a:rPr lang="zh-CN" altLang="en-US" sz="1800" b="1" dirty="0">
                <a:solidFill>
                  <a:srgbClr val="002060"/>
                </a:solidFill>
                <a:latin typeface="微软雅黑" panose="020B0503020204020204" pitchFamily="34" charset="-122"/>
                <a:ea typeface="微软雅黑" panose="020B0503020204020204" pitchFamily="34" charset="-122"/>
              </a:rPr>
              <a:t>觉得案有可疑。</a:t>
            </a:r>
            <a:r>
              <a:rPr lang="zh-CN" altLang="en-US" sz="1800" b="1" dirty="0">
                <a:solidFill>
                  <a:srgbClr val="00B050"/>
                </a:solidFill>
                <a:latin typeface="微软雅黑" panose="020B0503020204020204" pitchFamily="34" charset="-122"/>
                <a:ea typeface="微软雅黑" panose="020B0503020204020204" pitchFamily="34" charset="-122"/>
              </a:rPr>
              <a:t>他找来刘锡彤，询及本案的经过情况，是否有不正常的情况。刘锡彤向按察使拍胸脯保证，说此案铁证如山，绝无冤屈。蒯贺荪见此，也就放心了。遂将案件按照杭州知府的意见上报浙江</a:t>
            </a:r>
            <a:r>
              <a:rPr lang="zh-CN" altLang="en-US" sz="1800" b="1" dirty="0">
                <a:solidFill>
                  <a:srgbClr val="FF0000"/>
                </a:solidFill>
                <a:latin typeface="微软雅黑" panose="020B0503020204020204" pitchFamily="34" charset="-122"/>
                <a:ea typeface="微软雅黑" panose="020B0503020204020204" pitchFamily="34" charset="-122"/>
              </a:rPr>
              <a:t>巡抚杨昌浚</a:t>
            </a:r>
            <a:r>
              <a:rPr lang="zh-CN" altLang="en-US" sz="1800" b="1" dirty="0">
                <a:solidFill>
                  <a:srgbClr val="00B050"/>
                </a:solidFill>
                <a:latin typeface="微软雅黑" panose="020B0503020204020204" pitchFamily="34" charset="-122"/>
                <a:ea typeface="微软雅黑" panose="020B0503020204020204" pitchFamily="34" charset="-122"/>
              </a:rPr>
              <a:t>。</a:t>
            </a:r>
            <a:endParaRPr lang="en-US" altLang="zh-CN" sz="1800" b="1" dirty="0">
              <a:solidFill>
                <a:srgbClr val="00B050"/>
              </a:solidFill>
              <a:latin typeface="微软雅黑" panose="020B0503020204020204" pitchFamily="34" charset="-122"/>
              <a:ea typeface="微软雅黑" panose="020B0503020204020204" pitchFamily="34" charset="-122"/>
            </a:endParaRPr>
          </a:p>
          <a:p>
            <a:r>
              <a:rPr lang="zh-CN" altLang="en-US" sz="1800" b="1" dirty="0">
                <a:solidFill>
                  <a:srgbClr val="00B050"/>
                </a:solidFill>
                <a:latin typeface="微软雅黑" panose="020B0503020204020204" pitchFamily="34" charset="-122"/>
                <a:ea typeface="微软雅黑" panose="020B0503020204020204" pitchFamily="34" charset="-122"/>
              </a:rPr>
              <a:t>在此期间，杨乃武在狱中，书写了</a:t>
            </a:r>
            <a:r>
              <a:rPr lang="zh-CN" altLang="en-US" sz="1800" b="1" dirty="0">
                <a:solidFill>
                  <a:srgbClr val="002060"/>
                </a:solidFill>
                <a:latin typeface="微软雅黑" panose="020B0503020204020204" pitchFamily="34" charset="-122"/>
                <a:ea typeface="微软雅黑" panose="020B0503020204020204" pitchFamily="34" charset="-122"/>
              </a:rPr>
              <a:t>关于自己是被屈打成招的申诉材料</a:t>
            </a:r>
            <a:r>
              <a:rPr lang="zh-CN" altLang="en-US" sz="1800" b="1" dirty="0">
                <a:solidFill>
                  <a:srgbClr val="00B050"/>
                </a:solidFill>
                <a:latin typeface="微软雅黑" panose="020B0503020204020204" pitchFamily="34" charset="-122"/>
                <a:ea typeface="微软雅黑" panose="020B0503020204020204" pitchFamily="34" charset="-122"/>
              </a:rPr>
              <a:t>，由其妻</a:t>
            </a:r>
            <a:r>
              <a:rPr lang="zh-CN" altLang="en-US" sz="1800" b="1" dirty="0">
                <a:solidFill>
                  <a:srgbClr val="FF0000"/>
                </a:solidFill>
                <a:latin typeface="微软雅黑" panose="020B0503020204020204" pitchFamily="34" charset="-122"/>
                <a:ea typeface="微软雅黑" panose="020B0503020204020204" pitchFamily="34" charset="-122"/>
              </a:rPr>
              <a:t>詹彩凤</a:t>
            </a:r>
            <a:r>
              <a:rPr lang="zh-CN" altLang="en-US" sz="1800" b="1" dirty="0">
                <a:solidFill>
                  <a:srgbClr val="00B050"/>
                </a:solidFill>
                <a:latin typeface="微软雅黑" panose="020B0503020204020204" pitchFamily="34" charset="-122"/>
                <a:ea typeface="微软雅黑" panose="020B0503020204020204" pitchFamily="34" charset="-122"/>
              </a:rPr>
              <a:t>向杭州各衙门申诉，但没有引起浙江巡抚及臬司等地方官员的重视；就到</a:t>
            </a:r>
            <a:r>
              <a:rPr lang="zh-CN" altLang="en-US" sz="1800" b="1" dirty="0">
                <a:solidFill>
                  <a:srgbClr val="002060"/>
                </a:solidFill>
                <a:latin typeface="微软雅黑" panose="020B0503020204020204" pitchFamily="34" charset="-122"/>
                <a:ea typeface="微软雅黑" panose="020B0503020204020204" pitchFamily="34" charset="-122"/>
              </a:rPr>
              <a:t>京城告御状。</a:t>
            </a:r>
            <a:endParaRPr lang="en-US" altLang="zh-CN" sz="1800" b="1" dirty="0">
              <a:solidFill>
                <a:srgbClr val="002060"/>
              </a:solidFill>
              <a:latin typeface="微软雅黑" panose="020B0503020204020204" pitchFamily="34" charset="-122"/>
              <a:ea typeface="微软雅黑" panose="020B0503020204020204" pitchFamily="34" charset="-122"/>
            </a:endParaRPr>
          </a:p>
          <a:p>
            <a:r>
              <a:rPr lang="zh-CN" altLang="en-US" sz="1800" b="1" dirty="0">
                <a:solidFill>
                  <a:srgbClr val="00B050"/>
                </a:solidFill>
                <a:latin typeface="微软雅黑" panose="020B0503020204020204" pitchFamily="34" charset="-122"/>
                <a:ea typeface="微软雅黑" panose="020B0503020204020204" pitchFamily="34" charset="-122"/>
              </a:rPr>
              <a:t>光绪二年（</a:t>
            </a:r>
            <a:r>
              <a:rPr lang="en-US" altLang="zh-CN" sz="1800" b="1" dirty="0">
                <a:solidFill>
                  <a:srgbClr val="00B050"/>
                </a:solidFill>
                <a:latin typeface="微软雅黑" panose="020B0503020204020204" pitchFamily="34" charset="-122"/>
                <a:ea typeface="微软雅黑" panose="020B0503020204020204" pitchFamily="34" charset="-122"/>
              </a:rPr>
              <a:t>1876</a:t>
            </a:r>
            <a:r>
              <a:rPr lang="zh-CN" altLang="en-US" sz="1800" b="1" dirty="0">
                <a:solidFill>
                  <a:srgbClr val="00B050"/>
                </a:solidFill>
                <a:latin typeface="微软雅黑" panose="020B0503020204020204" pitchFamily="34" charset="-122"/>
                <a:ea typeface="微软雅黑" panose="020B0503020204020204" pitchFamily="34" charset="-122"/>
              </a:rPr>
              <a:t>年）</a:t>
            </a:r>
            <a:r>
              <a:rPr lang="en-US" altLang="zh-CN" sz="1800" b="1" dirty="0">
                <a:solidFill>
                  <a:srgbClr val="00B050"/>
                </a:solidFill>
                <a:latin typeface="微软雅黑" panose="020B0503020204020204" pitchFamily="34" charset="-122"/>
                <a:ea typeface="微软雅黑" panose="020B0503020204020204" pitchFamily="34" charset="-122"/>
              </a:rPr>
              <a:t>12</a:t>
            </a:r>
            <a:r>
              <a:rPr lang="zh-CN" altLang="en-US" sz="1800" b="1" dirty="0">
                <a:solidFill>
                  <a:srgbClr val="00B050"/>
                </a:solidFill>
                <a:latin typeface="微软雅黑" panose="020B0503020204020204" pitchFamily="34" charset="-122"/>
                <a:ea typeface="微软雅黑" panose="020B0503020204020204" pitchFamily="34" charset="-122"/>
              </a:rPr>
              <a:t>月</a:t>
            </a:r>
            <a:r>
              <a:rPr lang="en-US" altLang="zh-CN" sz="1800" b="1" dirty="0">
                <a:solidFill>
                  <a:srgbClr val="00B050"/>
                </a:solidFill>
                <a:latin typeface="微软雅黑" panose="020B0503020204020204" pitchFamily="34" charset="-122"/>
                <a:ea typeface="微软雅黑" panose="020B0503020204020204" pitchFamily="34" charset="-122"/>
              </a:rPr>
              <a:t>9</a:t>
            </a:r>
            <a:r>
              <a:rPr lang="zh-CN" altLang="en-US" sz="1800" b="1" dirty="0">
                <a:solidFill>
                  <a:srgbClr val="00B050"/>
                </a:solidFill>
                <a:latin typeface="微软雅黑" panose="020B0503020204020204" pitchFamily="34" charset="-122"/>
                <a:ea typeface="微软雅黑" panose="020B0503020204020204" pitchFamily="34" charset="-122"/>
              </a:rPr>
              <a:t>日，</a:t>
            </a:r>
            <a:r>
              <a:rPr lang="zh-CN" altLang="en-US" sz="1800" b="1" dirty="0">
                <a:solidFill>
                  <a:srgbClr val="FF0000"/>
                </a:solidFill>
                <a:latin typeface="微软雅黑" panose="020B0503020204020204" pitchFamily="34" charset="-122"/>
                <a:ea typeface="微软雅黑" panose="020B0503020204020204" pitchFamily="34" charset="-122"/>
              </a:rPr>
              <a:t>刑部</a:t>
            </a:r>
            <a:r>
              <a:rPr lang="zh-CN" altLang="en-US" sz="1800" b="1" dirty="0">
                <a:solidFill>
                  <a:srgbClr val="00B050"/>
                </a:solidFill>
                <a:latin typeface="微软雅黑" panose="020B0503020204020204" pitchFamily="34" charset="-122"/>
                <a:ea typeface="微软雅黑" panose="020B0503020204020204" pitchFamily="34" charset="-122"/>
              </a:rPr>
              <a:t>在北京海会寺开棺验尸。</a:t>
            </a:r>
            <a:endParaRPr lang="zh-CN" altLang="en-US" sz="1800" b="1" dirty="0">
              <a:solidFill>
                <a:srgbClr val="00B050"/>
              </a:solidFill>
              <a:latin typeface="微软雅黑" panose="020B0503020204020204" pitchFamily="34" charset="-122"/>
              <a:ea typeface="微软雅黑" panose="020B0503020204020204" pitchFamily="34" charset="-122"/>
            </a:endParaRPr>
          </a:p>
          <a:p>
            <a:r>
              <a:rPr lang="zh-CN" altLang="en-US" sz="1800" b="1" dirty="0">
                <a:solidFill>
                  <a:srgbClr val="00B050"/>
                </a:solidFill>
                <a:latin typeface="微软雅黑" panose="020B0503020204020204" pitchFamily="34" charset="-122"/>
                <a:ea typeface="微软雅黑" panose="020B0503020204020204" pitchFamily="34" charset="-122"/>
              </a:rPr>
              <a:t>清朝最大规模的由“</a:t>
            </a:r>
            <a:r>
              <a:rPr lang="zh-CN" altLang="en-US" sz="1800" b="1" dirty="0">
                <a:solidFill>
                  <a:srgbClr val="FF0000"/>
                </a:solidFill>
                <a:latin typeface="微软雅黑" panose="020B0503020204020204" pitchFamily="34" charset="-122"/>
                <a:ea typeface="微软雅黑" panose="020B0503020204020204" pitchFamily="34" charset="-122"/>
              </a:rPr>
              <a:t>刑部尚书主审、户部和礼部尚书陪审、醇亲王和刑部侍郎听审</a:t>
            </a:r>
            <a:r>
              <a:rPr lang="zh-CN" altLang="en-US" sz="1800" b="1" dirty="0">
                <a:solidFill>
                  <a:srgbClr val="00B050"/>
                </a:solidFill>
                <a:latin typeface="微软雅黑" panose="020B0503020204020204" pitchFamily="34" charset="-122"/>
                <a:ea typeface="微软雅黑" panose="020B0503020204020204" pitchFamily="34" charset="-122"/>
              </a:rPr>
              <a:t>”的审判开始了：经查证，</a:t>
            </a:r>
            <a:r>
              <a:rPr lang="zh-CN" altLang="en-US" sz="1800" b="1" dirty="0">
                <a:solidFill>
                  <a:srgbClr val="002060"/>
                </a:solidFill>
                <a:latin typeface="微软雅黑" panose="020B0503020204020204" pitchFamily="34" charset="-122"/>
                <a:ea typeface="微软雅黑" panose="020B0503020204020204" pitchFamily="34" charset="-122"/>
              </a:rPr>
              <a:t>案发时杨乃武不在余杭的证词属实</a:t>
            </a:r>
            <a:r>
              <a:rPr lang="zh-CN" altLang="en-US" sz="1800" b="1" dirty="0">
                <a:solidFill>
                  <a:srgbClr val="00B050"/>
                </a:solidFill>
                <a:latin typeface="微软雅黑" panose="020B0503020204020204" pitchFamily="34" charset="-122"/>
                <a:ea typeface="微软雅黑" panose="020B0503020204020204" pitchFamily="34" charset="-122"/>
              </a:rPr>
              <a:t>；另外开馆验尸，确认</a:t>
            </a:r>
            <a:r>
              <a:rPr lang="zh-CN" altLang="en-US" sz="1800" b="1" dirty="0">
                <a:solidFill>
                  <a:srgbClr val="002060"/>
                </a:solidFill>
                <a:latin typeface="微软雅黑" panose="020B0503020204020204" pitchFamily="34" charset="-122"/>
                <a:ea typeface="微软雅黑" panose="020B0503020204020204" pitchFamily="34" charset="-122"/>
              </a:rPr>
              <a:t>尸体中并无有毒成分，确认死者并非服毒而是病死</a:t>
            </a:r>
            <a:r>
              <a:rPr lang="zh-CN" altLang="en-US" sz="1800" b="1" dirty="0">
                <a:solidFill>
                  <a:srgbClr val="00B050"/>
                </a:solidFill>
                <a:latin typeface="微软雅黑" panose="020B0503020204020204" pitchFamily="34" charset="-122"/>
                <a:ea typeface="微软雅黑" panose="020B0503020204020204" pitchFamily="34" charset="-122"/>
              </a:rPr>
              <a:t>，杨乃武小白菜“有罪”的证据缺乏。据此可断：</a:t>
            </a:r>
            <a:r>
              <a:rPr lang="zh-CN" altLang="en-US" sz="1800" b="1" dirty="0">
                <a:solidFill>
                  <a:srgbClr val="FF0000"/>
                </a:solidFill>
                <a:latin typeface="微软雅黑" panose="020B0503020204020204" pitchFamily="34" charset="-122"/>
                <a:ea typeface="微软雅黑" panose="020B0503020204020204" pitchFamily="34" charset="-122"/>
              </a:rPr>
              <a:t>杨乃武和小白菜确系冤枉，当庭宣布无罪释放</a:t>
            </a:r>
            <a:r>
              <a:rPr lang="zh-CN" altLang="en-US" sz="1800" b="1" dirty="0">
                <a:solidFill>
                  <a:srgbClr val="00B050"/>
                </a:solidFill>
                <a:latin typeface="微软雅黑" panose="020B0503020204020204" pitchFamily="34" charset="-122"/>
                <a:ea typeface="微软雅黑" panose="020B0503020204020204" pitchFamily="34" charset="-122"/>
              </a:rPr>
              <a:t>。</a:t>
            </a:r>
            <a:endParaRPr lang="zh-CN" altLang="en-US" sz="1800" b="1" dirty="0">
              <a:solidFill>
                <a:srgbClr val="00B050"/>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1625" y="609600"/>
            <a:ext cx="8540750" cy="626853"/>
          </a:xfrm>
        </p:spPr>
        <p:txBody>
          <a:bodyPr>
            <a:normAutofit fontScale="90000"/>
          </a:bodyPr>
          <a:lstStyle/>
          <a:p>
            <a:endParaRPr lang="zh-CN" altLang="en-US"/>
          </a:p>
        </p:txBody>
      </p:sp>
      <p:sp>
        <p:nvSpPr>
          <p:cNvPr id="3" name="文本占位符 2"/>
          <p:cNvSpPr>
            <a:spLocks noGrp="1"/>
          </p:cNvSpPr>
          <p:nvPr>
            <p:ph type="body" idx="1"/>
          </p:nvPr>
        </p:nvSpPr>
        <p:spPr>
          <a:xfrm>
            <a:off x="195532" y="1236454"/>
            <a:ext cx="8752935" cy="5101086"/>
          </a:xfrm>
        </p:spPr>
        <p:txBody>
          <a:bodyPr>
            <a:noAutofit/>
          </a:bodyPr>
          <a:lstStyle/>
          <a:p>
            <a:r>
              <a:rPr lang="zh-CN" altLang="en-US" sz="2000" dirty="0">
                <a:solidFill>
                  <a:schemeClr val="bg2"/>
                </a:solidFill>
                <a:latin typeface="宋体" pitchFamily="2" charset="-122"/>
                <a:ea typeface="宋体" pitchFamily="2" charset="-122"/>
              </a:rPr>
              <a:t> </a:t>
            </a:r>
            <a:r>
              <a:rPr lang="zh-CN" altLang="en-US" sz="2000" b="1" dirty="0">
                <a:solidFill>
                  <a:srgbClr val="00B050"/>
                </a:solidFill>
                <a:latin typeface="微软雅黑" panose="020B0503020204020204" pitchFamily="34" charset="-122"/>
                <a:ea typeface="微软雅黑" panose="020B0503020204020204" pitchFamily="34" charset="-122"/>
              </a:rPr>
              <a:t>朝廷根据“</a:t>
            </a:r>
            <a:r>
              <a:rPr lang="zh-CN" altLang="en-US" sz="2000" b="1" dirty="0">
                <a:solidFill>
                  <a:srgbClr val="FF0000"/>
                </a:solidFill>
                <a:latin typeface="微软雅黑" panose="020B0503020204020204" pitchFamily="34" charset="-122"/>
                <a:ea typeface="微软雅黑" panose="020B0503020204020204" pitchFamily="34" charset="-122"/>
              </a:rPr>
              <a:t>大清错案追究”的法律规定</a:t>
            </a:r>
            <a:r>
              <a:rPr lang="zh-CN" altLang="en-US" sz="2000" b="1" dirty="0">
                <a:solidFill>
                  <a:srgbClr val="00B050"/>
                </a:solidFill>
                <a:latin typeface="微软雅黑" panose="020B0503020204020204" pitchFamily="34" charset="-122"/>
                <a:ea typeface="微软雅黑" panose="020B0503020204020204" pitchFamily="34" charset="-122"/>
              </a:rPr>
              <a:t>，着刑部对本案相关枉法官员进行了严厉追责：</a:t>
            </a:r>
            <a:r>
              <a:rPr lang="en-US" altLang="zh-CN" sz="2000" b="1" dirty="0">
                <a:solidFill>
                  <a:srgbClr val="002060"/>
                </a:solidFill>
                <a:latin typeface="微软雅黑" panose="020B0503020204020204" pitchFamily="34" charset="-122"/>
                <a:ea typeface="微软雅黑" panose="020B0503020204020204" pitchFamily="34" charset="-122"/>
              </a:rPr>
              <a:t>100</a:t>
            </a:r>
            <a:r>
              <a:rPr lang="zh-CN" altLang="en-US" sz="2000" b="1" dirty="0">
                <a:solidFill>
                  <a:srgbClr val="002060"/>
                </a:solidFill>
                <a:latin typeface="微软雅黑" panose="020B0503020204020204" pitchFamily="34" charset="-122"/>
                <a:ea typeface="微软雅黑" panose="020B0503020204020204" pitchFamily="34" charset="-122"/>
              </a:rPr>
              <a:t>多名官员受到追责，违法情节较轻的官员被革除顶戴花翎，永不续用，三十多个违法情节较重的被革职、充军的处理，许多官员受到杖刑、撤职、流放、判刑等处罚。</a:t>
            </a:r>
            <a:endParaRPr lang="en-US" altLang="zh-CN" sz="2000" b="1" dirty="0">
              <a:solidFill>
                <a:srgbClr val="002060"/>
              </a:solidFill>
              <a:latin typeface="微软雅黑" panose="020B0503020204020204" pitchFamily="34" charset="-122"/>
              <a:ea typeface="微软雅黑" panose="020B0503020204020204" pitchFamily="34" charset="-122"/>
            </a:endParaRPr>
          </a:p>
          <a:p>
            <a:r>
              <a:rPr lang="zh-CN" altLang="en-US" sz="2000" b="1" dirty="0">
                <a:solidFill>
                  <a:srgbClr val="00B050"/>
                </a:solidFill>
                <a:latin typeface="微软雅黑" panose="020B0503020204020204" pitchFamily="34" charset="-122"/>
                <a:ea typeface="微软雅黑" panose="020B0503020204020204" pitchFamily="34" charset="-122"/>
              </a:rPr>
              <a:t>  余杭知县</a:t>
            </a:r>
            <a:r>
              <a:rPr lang="zh-CN" altLang="en-US" sz="2000" b="1" dirty="0">
                <a:solidFill>
                  <a:srgbClr val="FF0000"/>
                </a:solidFill>
                <a:latin typeface="微软雅黑" panose="020B0503020204020204" pitchFamily="34" charset="-122"/>
                <a:ea typeface="微软雅黑" panose="020B0503020204020204" pitchFamily="34" charset="-122"/>
              </a:rPr>
              <a:t>刘锡彤</a:t>
            </a:r>
            <a:r>
              <a:rPr lang="zh-CN" altLang="en-US" sz="2000" b="1" dirty="0">
                <a:solidFill>
                  <a:srgbClr val="00B050"/>
                </a:solidFill>
                <a:latin typeface="微软雅黑" panose="020B0503020204020204" pitchFamily="34" charset="-122"/>
                <a:ea typeface="微软雅黑" panose="020B0503020204020204" pitchFamily="34" charset="-122"/>
              </a:rPr>
              <a:t>被革去职务</a:t>
            </a:r>
            <a:r>
              <a:rPr lang="en-US" altLang="zh-CN" sz="2000" b="1" dirty="0">
                <a:solidFill>
                  <a:srgbClr val="00B050"/>
                </a:solidFill>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仗</a:t>
            </a:r>
            <a:r>
              <a:rPr lang="en-US" altLang="zh-CN" sz="2000" b="1" dirty="0">
                <a:solidFill>
                  <a:srgbClr val="FF0000"/>
                </a:solidFill>
                <a:latin typeface="微软雅黑" panose="020B0503020204020204" pitchFamily="34" charset="-122"/>
                <a:ea typeface="微软雅黑" panose="020B0503020204020204" pitchFamily="34" charset="-122"/>
              </a:rPr>
              <a:t>80</a:t>
            </a:r>
            <a:r>
              <a:rPr lang="zh-CN" altLang="en-US" sz="2000" b="1" dirty="0">
                <a:solidFill>
                  <a:srgbClr val="FF0000"/>
                </a:solidFill>
                <a:latin typeface="微软雅黑" panose="020B0503020204020204" pitchFamily="34" charset="-122"/>
                <a:ea typeface="微软雅黑" panose="020B0503020204020204" pitchFamily="34" charset="-122"/>
              </a:rPr>
              <a:t>，判无期徒刑，发往黑龙江赎罪、永远不得返籍；</a:t>
            </a:r>
            <a:endParaRPr lang="en-US" altLang="zh-CN" sz="2000" b="1" dirty="0">
              <a:solidFill>
                <a:srgbClr val="FF0000"/>
              </a:solidFill>
              <a:latin typeface="微软雅黑" panose="020B0503020204020204" pitchFamily="34" charset="-122"/>
              <a:ea typeface="微软雅黑" panose="020B0503020204020204" pitchFamily="34" charset="-122"/>
            </a:endParaRPr>
          </a:p>
          <a:p>
            <a:r>
              <a:rPr lang="en-US" altLang="zh-CN" sz="2000" b="1" dirty="0">
                <a:solidFill>
                  <a:srgbClr val="00B050"/>
                </a:solidFill>
                <a:latin typeface="微软雅黑" panose="020B0503020204020204" pitchFamily="34" charset="-122"/>
                <a:ea typeface="微软雅黑" panose="020B0503020204020204" pitchFamily="34" charset="-122"/>
              </a:rPr>
              <a:t>  </a:t>
            </a:r>
            <a:r>
              <a:rPr lang="zh-CN" altLang="en-US" sz="2000" b="1" dirty="0">
                <a:solidFill>
                  <a:srgbClr val="00B050"/>
                </a:solidFill>
                <a:latin typeface="微软雅黑" panose="020B0503020204020204" pitchFamily="34" charset="-122"/>
                <a:ea typeface="微软雅黑" panose="020B0503020204020204" pitchFamily="34" charset="-122"/>
              </a:rPr>
              <a:t>杭州知府</a:t>
            </a:r>
            <a:r>
              <a:rPr lang="zh-CN" altLang="en-US" sz="2000" b="1" dirty="0">
                <a:solidFill>
                  <a:srgbClr val="FF0000"/>
                </a:solidFill>
                <a:latin typeface="微软雅黑" panose="020B0503020204020204" pitchFamily="34" charset="-122"/>
                <a:ea typeface="微软雅黑" panose="020B0503020204020204" pitchFamily="34" charset="-122"/>
              </a:rPr>
              <a:t>陈鲁、宁波知府边葆诚、嘉兴知县罗子森、候补知县顾德恒、龚心潼、锡光草率定案，予以革职，永不录用；</a:t>
            </a:r>
            <a:endParaRPr lang="en-US" altLang="zh-CN" sz="2000" b="1" dirty="0">
              <a:solidFill>
                <a:srgbClr val="FF0000"/>
              </a:solidFill>
              <a:latin typeface="微软雅黑" panose="020B0503020204020204" pitchFamily="34" charset="-122"/>
              <a:ea typeface="微软雅黑" panose="020B0503020204020204" pitchFamily="34" charset="-122"/>
            </a:endParaRPr>
          </a:p>
          <a:p>
            <a:r>
              <a:rPr lang="en-US" altLang="zh-CN" sz="2000" b="1" dirty="0">
                <a:solidFill>
                  <a:srgbClr val="00B050"/>
                </a:solidFill>
                <a:latin typeface="微软雅黑" panose="020B0503020204020204" pitchFamily="34" charset="-122"/>
                <a:ea typeface="微软雅黑" panose="020B0503020204020204" pitchFamily="34" charset="-122"/>
              </a:rPr>
              <a:t>  </a:t>
            </a:r>
            <a:r>
              <a:rPr lang="zh-CN" altLang="en-US" sz="2000" b="1" dirty="0">
                <a:solidFill>
                  <a:srgbClr val="00B050"/>
                </a:solidFill>
                <a:latin typeface="微软雅黑" panose="020B0503020204020204" pitchFamily="34" charset="-122"/>
                <a:ea typeface="微软雅黑" panose="020B0503020204020204" pitchFamily="34" charset="-122"/>
              </a:rPr>
              <a:t>侍郎</a:t>
            </a:r>
            <a:r>
              <a:rPr lang="zh-CN" altLang="en-US" sz="2000" b="1" dirty="0">
                <a:solidFill>
                  <a:srgbClr val="FF0000"/>
                </a:solidFill>
                <a:latin typeface="微软雅黑" panose="020B0503020204020204" pitchFamily="34" charset="-122"/>
                <a:ea typeface="微软雅黑" panose="020B0503020204020204" pitchFamily="34" charset="-122"/>
              </a:rPr>
              <a:t>胡瑞澜、巡抚杨昌睿玩忽人命，也予以革职</a:t>
            </a:r>
            <a:r>
              <a:rPr lang="zh-CN" altLang="en-US" sz="2000" b="1" dirty="0">
                <a:solidFill>
                  <a:srgbClr val="00B050"/>
                </a:solidFill>
                <a:latin typeface="微软雅黑" panose="020B0503020204020204" pitchFamily="34" charset="-122"/>
                <a:ea typeface="微软雅黑" panose="020B0503020204020204" pitchFamily="34" charset="-122"/>
              </a:rPr>
              <a:t>；</a:t>
            </a:r>
            <a:endParaRPr lang="en-US" altLang="zh-CN" sz="2000" b="1" dirty="0">
              <a:solidFill>
                <a:srgbClr val="00B050"/>
              </a:solidFill>
              <a:latin typeface="微软雅黑" panose="020B0503020204020204" pitchFamily="34" charset="-122"/>
              <a:ea typeface="微软雅黑" panose="020B0503020204020204" pitchFamily="34" charset="-122"/>
            </a:endParaRPr>
          </a:p>
          <a:p>
            <a:r>
              <a:rPr lang="en-US" altLang="zh-CN" sz="2000" b="1" dirty="0">
                <a:solidFill>
                  <a:srgbClr val="00B050"/>
                </a:solidFill>
                <a:latin typeface="微软雅黑" panose="020B0503020204020204" pitchFamily="34" charset="-122"/>
                <a:ea typeface="微软雅黑" panose="020B0503020204020204" pitchFamily="34" charset="-122"/>
              </a:rPr>
              <a:t>  </a:t>
            </a:r>
            <a:r>
              <a:rPr lang="zh-CN" altLang="en-US" sz="2000" b="1" dirty="0">
                <a:solidFill>
                  <a:srgbClr val="00B050"/>
                </a:solidFill>
                <a:latin typeface="微软雅黑" panose="020B0503020204020204" pitchFamily="34" charset="-122"/>
                <a:ea typeface="微软雅黑" panose="020B0503020204020204" pitchFamily="34" charset="-122"/>
              </a:rPr>
              <a:t>其他人员仵作沈祥杖八十，徒二年．门丁沈彩泉杖一百，流放三千里．章浚革去训导之职．葛品连之母</a:t>
            </a:r>
            <a:r>
              <a:rPr lang="zh-CN" altLang="en-US" sz="2000" b="1" dirty="0">
                <a:solidFill>
                  <a:srgbClr val="FF0000"/>
                </a:solidFill>
                <a:latin typeface="微软雅黑" panose="020B0503020204020204" pitchFamily="34" charset="-122"/>
                <a:ea typeface="微软雅黑" panose="020B0503020204020204" pitchFamily="34" charset="-122"/>
              </a:rPr>
              <a:t>沈喻氏杖一百，徒四年。</a:t>
            </a:r>
            <a:endParaRPr lang="zh-CN" altLang="en-US" sz="2000" b="1" dirty="0">
              <a:solidFill>
                <a:srgbClr val="FF0000"/>
              </a:solidFill>
              <a:latin typeface="微软雅黑" panose="020B0503020204020204" pitchFamily="34" charset="-122"/>
              <a:ea typeface="微软雅黑" panose="020B0503020204020204" pitchFamily="34" charset="-122"/>
            </a:endParaRPr>
          </a:p>
          <a:p>
            <a:r>
              <a:rPr lang="zh-CN" altLang="en-US" sz="2000" b="1" dirty="0">
                <a:solidFill>
                  <a:srgbClr val="00B050"/>
                </a:solidFill>
                <a:latin typeface="微软雅黑" panose="020B0503020204020204" pitchFamily="34" charset="-122"/>
                <a:ea typeface="微软雅黑" panose="020B0503020204020204" pitchFamily="34" charset="-122"/>
              </a:rPr>
              <a:t>“杨乃武与小白菜”一案，始于同治</a:t>
            </a:r>
            <a:r>
              <a:rPr lang="en-US" altLang="zh-CN" sz="2000" b="1" dirty="0">
                <a:solidFill>
                  <a:srgbClr val="00B050"/>
                </a:solidFill>
                <a:latin typeface="微软雅黑" panose="020B0503020204020204" pitchFamily="34" charset="-122"/>
                <a:ea typeface="微软雅黑" panose="020B0503020204020204" pitchFamily="34" charset="-122"/>
              </a:rPr>
              <a:t>12</a:t>
            </a:r>
            <a:r>
              <a:rPr lang="zh-CN" altLang="en-US" sz="2000" b="1" dirty="0">
                <a:solidFill>
                  <a:srgbClr val="00B050"/>
                </a:solidFill>
                <a:latin typeface="微软雅黑" panose="020B0503020204020204" pitchFamily="34" charset="-122"/>
                <a:ea typeface="微软雅黑" panose="020B0503020204020204" pitchFamily="34" charset="-122"/>
              </a:rPr>
              <a:t>年（</a:t>
            </a:r>
            <a:r>
              <a:rPr lang="en-US" altLang="zh-CN" sz="2000" b="1" dirty="0">
                <a:solidFill>
                  <a:srgbClr val="00B050"/>
                </a:solidFill>
                <a:latin typeface="微软雅黑" panose="020B0503020204020204" pitchFamily="34" charset="-122"/>
                <a:ea typeface="微软雅黑" panose="020B0503020204020204" pitchFamily="34" charset="-122"/>
              </a:rPr>
              <a:t>1873</a:t>
            </a:r>
            <a:r>
              <a:rPr lang="zh-CN" altLang="en-US" sz="2000" b="1" dirty="0">
                <a:solidFill>
                  <a:srgbClr val="00B050"/>
                </a:solidFill>
                <a:latin typeface="微软雅黑" panose="020B0503020204020204" pitchFamily="34" charset="-122"/>
                <a:ea typeface="微软雅黑" panose="020B0503020204020204" pitchFamily="34" charset="-122"/>
              </a:rPr>
              <a:t>年）</a:t>
            </a:r>
            <a:r>
              <a:rPr lang="en-US" altLang="zh-CN" sz="2000" b="1" dirty="0">
                <a:solidFill>
                  <a:srgbClr val="00B050"/>
                </a:solidFill>
                <a:latin typeface="微软雅黑" panose="020B0503020204020204" pitchFamily="34" charset="-122"/>
                <a:ea typeface="微软雅黑" panose="020B0503020204020204" pitchFamily="34" charset="-122"/>
              </a:rPr>
              <a:t>10</a:t>
            </a:r>
            <a:r>
              <a:rPr lang="zh-CN" altLang="en-US" sz="2000" b="1" dirty="0">
                <a:solidFill>
                  <a:srgbClr val="00B050"/>
                </a:solidFill>
                <a:latin typeface="微软雅黑" panose="020B0503020204020204" pitchFamily="34" charset="-122"/>
                <a:ea typeface="微软雅黑" panose="020B0503020204020204" pitchFamily="34" charset="-122"/>
              </a:rPr>
              <a:t>月</a:t>
            </a:r>
            <a:r>
              <a:rPr lang="en-US" altLang="zh-CN" sz="2000" b="1" dirty="0">
                <a:solidFill>
                  <a:srgbClr val="00B050"/>
                </a:solidFill>
                <a:latin typeface="微软雅黑" panose="020B0503020204020204" pitchFamily="34" charset="-122"/>
                <a:ea typeface="微软雅黑" panose="020B0503020204020204" pitchFamily="34" charset="-122"/>
              </a:rPr>
              <a:t>11</a:t>
            </a:r>
            <a:r>
              <a:rPr lang="zh-CN" altLang="en-US" sz="2000" b="1" dirty="0">
                <a:solidFill>
                  <a:srgbClr val="00B050"/>
                </a:solidFill>
                <a:latin typeface="微软雅黑" panose="020B0503020204020204" pitchFamily="34" charset="-122"/>
                <a:ea typeface="微软雅黑" panose="020B0503020204020204" pitchFamily="34" charset="-122"/>
              </a:rPr>
              <a:t>日，止于光绪三年（</a:t>
            </a:r>
            <a:r>
              <a:rPr lang="en-US" altLang="zh-CN" sz="2000" b="1" dirty="0">
                <a:solidFill>
                  <a:srgbClr val="00B050"/>
                </a:solidFill>
                <a:latin typeface="微软雅黑" panose="020B0503020204020204" pitchFamily="34" charset="-122"/>
                <a:ea typeface="微软雅黑" panose="020B0503020204020204" pitchFamily="34" charset="-122"/>
              </a:rPr>
              <a:t>1877</a:t>
            </a:r>
            <a:r>
              <a:rPr lang="zh-CN" altLang="en-US" sz="2000" b="1" dirty="0">
                <a:solidFill>
                  <a:srgbClr val="00B050"/>
                </a:solidFill>
                <a:latin typeface="微软雅黑" panose="020B0503020204020204" pitchFamily="34" charset="-122"/>
                <a:ea typeface="微软雅黑" panose="020B0503020204020204" pitchFamily="34" charset="-122"/>
              </a:rPr>
              <a:t>年）</a:t>
            </a:r>
            <a:r>
              <a:rPr lang="en-US" altLang="zh-CN" sz="2000" b="1" dirty="0">
                <a:solidFill>
                  <a:srgbClr val="00B050"/>
                </a:solidFill>
                <a:latin typeface="微软雅黑" panose="020B0503020204020204" pitchFamily="34" charset="-122"/>
                <a:ea typeface="微软雅黑" panose="020B0503020204020204" pitchFamily="34" charset="-122"/>
              </a:rPr>
              <a:t>2</a:t>
            </a:r>
            <a:r>
              <a:rPr lang="zh-CN" altLang="en-US" sz="2000" b="1" dirty="0">
                <a:solidFill>
                  <a:srgbClr val="00B050"/>
                </a:solidFill>
                <a:latin typeface="微软雅黑" panose="020B0503020204020204" pitchFamily="34" charset="-122"/>
                <a:ea typeface="微软雅黑" panose="020B0503020204020204" pitchFamily="34" charset="-122"/>
              </a:rPr>
              <a:t>月</a:t>
            </a:r>
            <a:r>
              <a:rPr lang="en-US" altLang="zh-CN" sz="2000" b="1" dirty="0">
                <a:solidFill>
                  <a:srgbClr val="00B050"/>
                </a:solidFill>
                <a:latin typeface="微软雅黑" panose="020B0503020204020204" pitchFamily="34" charset="-122"/>
                <a:ea typeface="微软雅黑" panose="020B0503020204020204" pitchFamily="34" charset="-122"/>
              </a:rPr>
              <a:t>16</a:t>
            </a:r>
            <a:r>
              <a:rPr lang="zh-CN" altLang="en-US" sz="2000" b="1" dirty="0">
                <a:solidFill>
                  <a:srgbClr val="00B050"/>
                </a:solidFill>
                <a:latin typeface="微软雅黑" panose="020B0503020204020204" pitchFamily="34" charset="-122"/>
                <a:ea typeface="微软雅黑" panose="020B0503020204020204" pitchFamily="34" charset="-122"/>
              </a:rPr>
              <a:t>日，历时三年零四个月，先后历经县、府、按察司、省、刑部等七审七决，最终使案情得以昭雪；同时，受到追责的官员之众、处罚之严令朝野震惊。</a:t>
            </a:r>
            <a:endParaRPr lang="zh-CN" altLang="en-US" sz="2000" b="1" dirty="0">
              <a:solidFill>
                <a:srgbClr val="00B050"/>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342900" lvl="0">
              <a:spcBef>
                <a:spcPts val="700"/>
              </a:spcBef>
              <a:tabLst>
                <a:tab pos="266700" algn="l"/>
                <a:tab pos="533400" algn="l"/>
                <a:tab pos="800100" algn="l"/>
                <a:tab pos="1066800" algn="l"/>
                <a:tab pos="1333500" algn="l"/>
                <a:tab pos="1600200" algn="l"/>
                <a:tab pos="1866900" algn="l"/>
                <a:tab pos="2133600" algn="l"/>
                <a:tab pos="2400300" algn="l"/>
                <a:tab pos="2667000" algn="l"/>
                <a:tab pos="2933700" algn="l"/>
                <a:tab pos="3200400" algn="l"/>
                <a:tab pos="3467100" algn="l"/>
                <a:tab pos="3733800" algn="l"/>
                <a:tab pos="4000500" algn="l"/>
                <a:tab pos="4267200" algn="l"/>
                <a:tab pos="4533900" algn="l"/>
                <a:tab pos="4800600" algn="l"/>
                <a:tab pos="5067300" algn="l"/>
                <a:tab pos="5334000" algn="l"/>
                <a:tab pos="5600700" algn="l"/>
                <a:tab pos="5798820" algn="l"/>
              </a:tabLst>
            </a:pPr>
            <a:r>
              <a:rPr lang="zh-TW" altLang="zh-CN" sz="2700" b="1" kern="100" dirty="0">
                <a:solidFill>
                  <a:srgbClr val="FF2C21"/>
                </a:solidFill>
                <a:uFill>
                  <a:solidFill>
                    <a:srgbClr val="000000"/>
                  </a:solidFill>
                </a:uFill>
                <a:latin typeface="Arial Unicode MS" panose="020B0604020202020204" charset="-122"/>
                <a:ea typeface="Times New Roman" panose="02020603050405020304" pitchFamily="18" charset="0"/>
                <a:cs typeface="Arial Unicode MS" panose="020B0604020202020204" charset="-122"/>
              </a:rPr>
              <a:t>2013</a:t>
            </a:r>
            <a:r>
              <a:rPr lang="zh-TW" altLang="zh-CN" sz="2700" b="1" kern="100" dirty="0">
                <a:solidFill>
                  <a:srgbClr val="FF2C21"/>
                </a:solidFill>
                <a:uFill>
                  <a:solidFill>
                    <a:srgbClr val="000000"/>
                  </a:solidFill>
                </a:uFill>
                <a:latin typeface="Arial Unicode MS" panose="020B0604020202020204" charset="-122"/>
                <a:ea typeface="Arial Unicode MS" panose="020B0604020202020204" charset="-122"/>
                <a:cs typeface="Arial Unicode MS" panose="020B0604020202020204" charset="-122"/>
              </a:rPr>
              <a:t>年平反五大案</a:t>
            </a:r>
            <a:endParaRPr lang="zh-CN" altLang="en-US" b="1" dirty="0"/>
          </a:p>
        </p:txBody>
      </p:sp>
      <p:sp>
        <p:nvSpPr>
          <p:cNvPr id="3" name="文本占位符 2"/>
          <p:cNvSpPr>
            <a:spLocks noGrp="1"/>
          </p:cNvSpPr>
          <p:nvPr>
            <p:ph type="body" idx="1"/>
          </p:nvPr>
        </p:nvSpPr>
        <p:spPr/>
        <p:txBody>
          <a:bodyPr>
            <a:normAutofit/>
          </a:bodyPr>
          <a:lstStyle/>
          <a:p>
            <a:pPr indent="304800" algn="just">
              <a:tabLst>
                <a:tab pos="266700" algn="l"/>
                <a:tab pos="533400" algn="l"/>
                <a:tab pos="800100" algn="l"/>
                <a:tab pos="1066800" algn="l"/>
                <a:tab pos="1333500" algn="l"/>
                <a:tab pos="1600200" algn="l"/>
                <a:tab pos="1866900" algn="l"/>
                <a:tab pos="2133600" algn="l"/>
                <a:tab pos="2400300" algn="l"/>
                <a:tab pos="2667000" algn="l"/>
                <a:tab pos="2933700" algn="l"/>
                <a:tab pos="3200400" algn="l"/>
                <a:tab pos="3467100" algn="l"/>
                <a:tab pos="3733800" algn="l"/>
                <a:tab pos="4000500" algn="l"/>
                <a:tab pos="4267200" algn="l"/>
                <a:tab pos="4533900" algn="l"/>
                <a:tab pos="4800600" algn="l"/>
                <a:tab pos="5067300" algn="l"/>
                <a:tab pos="5334000" algn="l"/>
                <a:tab pos="5600700" algn="l"/>
                <a:tab pos="5798820" algn="l"/>
              </a:tabLst>
            </a:pPr>
            <a:r>
              <a:rPr lang="en-US" altLang="zh-CN" sz="2200" b="1" kern="100" dirty="0">
                <a:solidFill>
                  <a:srgbClr val="000000"/>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1</a:t>
            </a:r>
            <a:r>
              <a:rPr lang="zh-TW" altLang="zh-CN" sz="2200"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rPr>
              <a:t>．张高平叔侄</a:t>
            </a:r>
            <a:r>
              <a:rPr lang="zh-CN" altLang="zh-CN" sz="2200"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rPr>
              <a:t>案</a:t>
            </a:r>
            <a:r>
              <a:rPr lang="en-US" altLang="zh-CN" sz="2200" b="1" kern="100" dirty="0">
                <a:solidFill>
                  <a:srgbClr val="000000"/>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 </a:t>
            </a:r>
            <a:r>
              <a:rPr lang="zh-TW" altLang="zh-CN" sz="2200" b="1" kern="100" dirty="0">
                <a:solidFill>
                  <a:srgbClr val="000000"/>
                </a:solidFill>
                <a:uFill>
                  <a:solidFill>
                    <a:srgbClr val="000000"/>
                  </a:solidFill>
                </a:uFill>
                <a:latin typeface="Arial Unicode MS" panose="020B0604020202020204" charset="-122"/>
                <a:ea typeface="Times New Roman" panose="02020603050405020304" pitchFamily="18" charset="0"/>
                <a:cs typeface="Arial Unicode MS" panose="020B0604020202020204" charset="-122"/>
              </a:rPr>
              <a:t>——</a:t>
            </a:r>
            <a:r>
              <a:rPr lang="zh-TW" altLang="zh-CN" sz="2200"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rPr>
              <a:t>真凶出现</a:t>
            </a:r>
            <a:endParaRPr lang="zh-CN" altLang="zh-CN" sz="2200"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endParaRPr>
          </a:p>
          <a:p>
            <a:pPr indent="304800" algn="just">
              <a:tabLst>
                <a:tab pos="266700" algn="l"/>
                <a:tab pos="533400" algn="l"/>
                <a:tab pos="800100" algn="l"/>
                <a:tab pos="1066800" algn="l"/>
                <a:tab pos="1333500" algn="l"/>
                <a:tab pos="1600200" algn="l"/>
                <a:tab pos="1866900" algn="l"/>
                <a:tab pos="2133600" algn="l"/>
                <a:tab pos="2400300" algn="l"/>
                <a:tab pos="2667000" algn="l"/>
                <a:tab pos="2933700" algn="l"/>
                <a:tab pos="3200400" algn="l"/>
                <a:tab pos="3467100" algn="l"/>
                <a:tab pos="3733800" algn="l"/>
                <a:tab pos="4000500" algn="l"/>
                <a:tab pos="4267200" algn="l"/>
                <a:tab pos="4533900" algn="l"/>
                <a:tab pos="4800600" algn="l"/>
                <a:tab pos="5067300" algn="l"/>
                <a:tab pos="5334000" algn="l"/>
                <a:tab pos="5600700" algn="l"/>
                <a:tab pos="5798820" algn="l"/>
              </a:tabLst>
            </a:pPr>
            <a:r>
              <a:rPr lang="zh-TW" altLang="zh-CN" sz="2200"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rPr>
              <a:t>在宣判无罪的法庭上，张高平对法官说：</a:t>
            </a:r>
            <a:r>
              <a:rPr lang="zh-TW" altLang="zh-CN" sz="2200" b="1" kern="100" dirty="0">
                <a:solidFill>
                  <a:srgbClr val="000000"/>
                </a:solidFill>
                <a:uFill>
                  <a:solidFill>
                    <a:srgbClr val="000000"/>
                  </a:solidFill>
                </a:uFill>
                <a:latin typeface="Arial Unicode MS" panose="020B0604020202020204" charset="-122"/>
                <a:ea typeface="Times New Roman" panose="02020603050405020304" pitchFamily="18" charset="0"/>
                <a:cs typeface="Arial Unicode MS" panose="020B0604020202020204" charset="-122"/>
              </a:rPr>
              <a:t>“</a:t>
            </a:r>
            <a:r>
              <a:rPr lang="zh-TW" altLang="zh-CN" sz="2200"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rPr>
              <a:t>今天你们是法官、检察官，但你们的子孙不一定是法官、检察官。如果没有法律和制度的保障，你们的子孙很有可能和我一样被冤枉，徘徊在死刑的边缘</a:t>
            </a:r>
            <a:r>
              <a:rPr lang="en-US" altLang="zh-CN" sz="2200" b="1" kern="100" dirty="0">
                <a:solidFill>
                  <a:srgbClr val="000000"/>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a:t>
            </a:r>
            <a:r>
              <a:rPr lang="zh-CN" altLang="zh-CN" sz="2200"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rPr>
              <a:t>。</a:t>
            </a:r>
            <a:endParaRPr lang="zh-CN" altLang="zh-CN" sz="2200"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endParaRPr>
          </a:p>
          <a:p>
            <a:pPr indent="304800" algn="just">
              <a:tabLst>
                <a:tab pos="266700" algn="l"/>
                <a:tab pos="533400" algn="l"/>
                <a:tab pos="800100" algn="l"/>
                <a:tab pos="1066800" algn="l"/>
                <a:tab pos="1333500" algn="l"/>
                <a:tab pos="1600200" algn="l"/>
                <a:tab pos="1866900" algn="l"/>
                <a:tab pos="2133600" algn="l"/>
                <a:tab pos="2400300" algn="l"/>
                <a:tab pos="2667000" algn="l"/>
                <a:tab pos="2933700" algn="l"/>
                <a:tab pos="3200400" algn="l"/>
                <a:tab pos="3467100" algn="l"/>
                <a:tab pos="3733800" algn="l"/>
                <a:tab pos="4000500" algn="l"/>
                <a:tab pos="4267200" algn="l"/>
                <a:tab pos="4533900" algn="l"/>
                <a:tab pos="4800600" algn="l"/>
                <a:tab pos="5067300" algn="l"/>
                <a:tab pos="5334000" algn="l"/>
                <a:tab pos="5600700" algn="l"/>
                <a:tab pos="5798820" algn="l"/>
              </a:tabLst>
            </a:pPr>
            <a:r>
              <a:rPr lang="en-US" altLang="zh-CN" sz="2200" b="1" kern="100" dirty="0">
                <a:solidFill>
                  <a:srgbClr val="000000"/>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 2</a:t>
            </a:r>
            <a:r>
              <a:rPr lang="zh-TW" altLang="zh-CN" sz="2200"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rPr>
              <a:t>．李怀亮案</a:t>
            </a:r>
            <a:r>
              <a:rPr lang="zh-TW" altLang="zh-CN" sz="2200" b="1" kern="100" dirty="0">
                <a:solidFill>
                  <a:srgbClr val="000000"/>
                </a:solidFill>
                <a:uFill>
                  <a:solidFill>
                    <a:srgbClr val="000000"/>
                  </a:solidFill>
                </a:uFill>
                <a:latin typeface="Arial Unicode MS" panose="020B0604020202020204" charset="-122"/>
                <a:ea typeface="Times New Roman" panose="02020603050405020304" pitchFamily="18" charset="0"/>
                <a:cs typeface="Arial Unicode MS" panose="020B0604020202020204" charset="-122"/>
              </a:rPr>
              <a:t> </a:t>
            </a:r>
            <a:endParaRPr lang="zh-CN" altLang="zh-CN" sz="2200"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endParaRPr>
          </a:p>
          <a:p>
            <a:pPr indent="304800" algn="just">
              <a:tabLst>
                <a:tab pos="266700" algn="l"/>
                <a:tab pos="533400" algn="l"/>
                <a:tab pos="800100" algn="l"/>
                <a:tab pos="1066800" algn="l"/>
                <a:tab pos="1333500" algn="l"/>
                <a:tab pos="1600200" algn="l"/>
                <a:tab pos="1866900" algn="l"/>
                <a:tab pos="2133600" algn="l"/>
                <a:tab pos="2400300" algn="l"/>
                <a:tab pos="2667000" algn="l"/>
                <a:tab pos="2933700" algn="l"/>
                <a:tab pos="3200400" algn="l"/>
                <a:tab pos="3467100" algn="l"/>
                <a:tab pos="3733800" algn="l"/>
                <a:tab pos="4000500" algn="l"/>
                <a:tab pos="4267200" algn="l"/>
                <a:tab pos="4533900" algn="l"/>
                <a:tab pos="4800600" algn="l"/>
                <a:tab pos="5067300" algn="l"/>
                <a:tab pos="5334000" algn="l"/>
                <a:tab pos="5600700" algn="l"/>
                <a:tab pos="5798820" algn="l"/>
              </a:tabLst>
            </a:pPr>
            <a:r>
              <a:rPr lang="en-US" altLang="zh-CN" sz="2200" b="1" kern="100" dirty="0">
                <a:solidFill>
                  <a:srgbClr val="000000"/>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 3</a:t>
            </a:r>
            <a:r>
              <a:rPr lang="zh-TW" altLang="zh-CN" sz="2200"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rPr>
              <a:t>．吴昌龙案</a:t>
            </a:r>
            <a:r>
              <a:rPr lang="en-US" altLang="zh-CN" sz="2200" b="1" kern="100" dirty="0">
                <a:solidFill>
                  <a:srgbClr val="000000"/>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 </a:t>
            </a:r>
            <a:endParaRPr lang="zh-CN" altLang="zh-CN" sz="2200"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endParaRPr>
          </a:p>
          <a:p>
            <a:pPr indent="304800" algn="just">
              <a:tabLst>
                <a:tab pos="266700" algn="l"/>
                <a:tab pos="533400" algn="l"/>
                <a:tab pos="800100" algn="l"/>
                <a:tab pos="1066800" algn="l"/>
                <a:tab pos="1333500" algn="l"/>
                <a:tab pos="1600200" algn="l"/>
                <a:tab pos="1866900" algn="l"/>
                <a:tab pos="2133600" algn="l"/>
                <a:tab pos="2400300" algn="l"/>
                <a:tab pos="2667000" algn="l"/>
                <a:tab pos="2933700" algn="l"/>
                <a:tab pos="3200400" algn="l"/>
                <a:tab pos="3467100" algn="l"/>
                <a:tab pos="3733800" algn="l"/>
                <a:tab pos="4000500" algn="l"/>
                <a:tab pos="4267200" algn="l"/>
                <a:tab pos="4533900" algn="l"/>
                <a:tab pos="4800600" algn="l"/>
                <a:tab pos="5067300" algn="l"/>
                <a:tab pos="5334000" algn="l"/>
                <a:tab pos="5600700" algn="l"/>
                <a:tab pos="5798820" algn="l"/>
              </a:tabLst>
            </a:pPr>
            <a:r>
              <a:rPr lang="en-US" altLang="zh-CN" sz="2200" b="1" kern="100" dirty="0">
                <a:solidFill>
                  <a:srgbClr val="000000"/>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4</a:t>
            </a:r>
            <a:r>
              <a:rPr lang="zh-TW" altLang="zh-CN" sz="2200"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rPr>
              <a:t>．陈建阳案</a:t>
            </a:r>
            <a:r>
              <a:rPr lang="en-US" altLang="zh-CN" sz="2200" b="1" kern="100" dirty="0">
                <a:solidFill>
                  <a:srgbClr val="000000"/>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 </a:t>
            </a:r>
            <a:endParaRPr lang="zh-CN" altLang="zh-CN" sz="2200"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endParaRPr>
          </a:p>
          <a:p>
            <a:pPr indent="304800" algn="just">
              <a:tabLst>
                <a:tab pos="266700" algn="l"/>
                <a:tab pos="533400" algn="l"/>
                <a:tab pos="800100" algn="l"/>
                <a:tab pos="1066800" algn="l"/>
                <a:tab pos="1333500" algn="l"/>
                <a:tab pos="1600200" algn="l"/>
                <a:tab pos="1866900" algn="l"/>
                <a:tab pos="2133600" algn="l"/>
                <a:tab pos="2400300" algn="l"/>
                <a:tab pos="2667000" algn="l"/>
                <a:tab pos="2933700" algn="l"/>
                <a:tab pos="3200400" algn="l"/>
                <a:tab pos="3467100" algn="l"/>
                <a:tab pos="3733800" algn="l"/>
                <a:tab pos="4000500" algn="l"/>
                <a:tab pos="4267200" algn="l"/>
                <a:tab pos="4533900" algn="l"/>
                <a:tab pos="4800600" algn="l"/>
                <a:tab pos="5067300" algn="l"/>
                <a:tab pos="5334000" algn="l"/>
                <a:tab pos="5600700" algn="l"/>
                <a:tab pos="5798820" algn="l"/>
              </a:tabLst>
            </a:pPr>
            <a:r>
              <a:rPr lang="en-US" altLang="zh-CN" sz="2200" b="1" kern="100" dirty="0">
                <a:solidFill>
                  <a:srgbClr val="000000"/>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5</a:t>
            </a:r>
            <a:r>
              <a:rPr lang="zh-TW" altLang="zh-CN" sz="2200"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rPr>
              <a:t>．于英生案</a:t>
            </a:r>
            <a:endParaRPr lang="zh-CN" altLang="zh-CN" sz="2200"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endParaRPr>
          </a:p>
          <a:p>
            <a:endParaRPr lang="zh-CN" altLang="en-US" dirty="0"/>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342900" lvl="0" indent="304800">
              <a:spcBef>
                <a:spcPts val="700"/>
              </a:spcBef>
              <a:tabLst>
                <a:tab pos="266700" algn="l"/>
                <a:tab pos="533400" algn="l"/>
                <a:tab pos="800100" algn="l"/>
                <a:tab pos="1066800" algn="l"/>
                <a:tab pos="1333500" algn="l"/>
                <a:tab pos="1600200" algn="l"/>
                <a:tab pos="1866900" algn="l"/>
                <a:tab pos="2133600" algn="l"/>
                <a:tab pos="2400300" algn="l"/>
                <a:tab pos="2667000" algn="l"/>
                <a:tab pos="2933700" algn="l"/>
                <a:tab pos="3200400" algn="l"/>
                <a:tab pos="3467100" algn="l"/>
                <a:tab pos="3733800" algn="l"/>
                <a:tab pos="4000500" algn="l"/>
                <a:tab pos="4267200" algn="l"/>
                <a:tab pos="4533900" algn="l"/>
                <a:tab pos="4800600" algn="l"/>
                <a:tab pos="5067300" algn="l"/>
                <a:tab pos="5334000" algn="l"/>
                <a:tab pos="5600700" algn="l"/>
                <a:tab pos="5798820" algn="l"/>
              </a:tabLst>
            </a:pPr>
            <a:r>
              <a:rPr lang="en-US" altLang="zh-CN" sz="3000" b="1" kern="100" dirty="0">
                <a:solidFill>
                  <a:srgbClr val="FF2C21"/>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2014</a:t>
            </a:r>
            <a:r>
              <a:rPr lang="zh-CN" altLang="zh-CN" sz="3000" b="1" kern="100" dirty="0">
                <a:solidFill>
                  <a:srgbClr val="FF2C21"/>
                </a:solidFill>
                <a:uFill>
                  <a:solidFill>
                    <a:srgbClr val="000000"/>
                  </a:solidFill>
                </a:uFill>
                <a:latin typeface="Arial Unicode MS" panose="020B0604020202020204" charset="-122"/>
                <a:ea typeface="Arial Unicode MS" panose="020B0604020202020204" charset="-122"/>
                <a:cs typeface="Arial Unicode MS" panose="020B0604020202020204" charset="-122"/>
              </a:rPr>
              <a:t>年</a:t>
            </a:r>
            <a:r>
              <a:rPr lang="zh-TW" altLang="zh-CN" sz="3000" b="1" kern="100" dirty="0">
                <a:solidFill>
                  <a:srgbClr val="FF2C21"/>
                </a:solidFill>
                <a:uFill>
                  <a:solidFill>
                    <a:srgbClr val="000000"/>
                  </a:solidFill>
                </a:uFill>
                <a:latin typeface="Arial Unicode MS" panose="020B0604020202020204" charset="-122"/>
                <a:ea typeface="Arial Unicode MS" panose="020B0604020202020204" charset="-122"/>
                <a:cs typeface="Arial Unicode MS" panose="020B0604020202020204" charset="-122"/>
              </a:rPr>
              <a:t>七个冤案平反</a:t>
            </a:r>
            <a:endParaRPr lang="zh-CN" altLang="en-US" b="1" dirty="0"/>
          </a:p>
        </p:txBody>
      </p:sp>
      <p:sp>
        <p:nvSpPr>
          <p:cNvPr id="3" name="文本占位符 2"/>
          <p:cNvSpPr>
            <a:spLocks noGrp="1"/>
          </p:cNvSpPr>
          <p:nvPr>
            <p:ph type="body" idx="1"/>
          </p:nvPr>
        </p:nvSpPr>
        <p:spPr/>
        <p:txBody>
          <a:bodyPr>
            <a:normAutofit/>
          </a:bodyPr>
          <a:lstStyle/>
          <a:p>
            <a:pPr indent="304800" algn="just">
              <a:tabLst>
                <a:tab pos="266700" algn="l"/>
                <a:tab pos="533400" algn="l"/>
                <a:tab pos="800100" algn="l"/>
                <a:tab pos="1066800" algn="l"/>
                <a:tab pos="1333500" algn="l"/>
                <a:tab pos="1600200" algn="l"/>
                <a:tab pos="1866900" algn="l"/>
                <a:tab pos="2133600" algn="l"/>
                <a:tab pos="2400300" algn="l"/>
                <a:tab pos="2667000" algn="l"/>
                <a:tab pos="2933700" algn="l"/>
                <a:tab pos="3200400" algn="l"/>
                <a:tab pos="3467100" algn="l"/>
                <a:tab pos="3733800" algn="l"/>
                <a:tab pos="4000500" algn="l"/>
                <a:tab pos="4267200" algn="l"/>
                <a:tab pos="4533900" algn="l"/>
                <a:tab pos="4800600" algn="l"/>
                <a:tab pos="5067300" algn="l"/>
                <a:tab pos="5334000" algn="l"/>
                <a:tab pos="5600700" algn="l"/>
                <a:tab pos="5798820" algn="l"/>
              </a:tabLst>
            </a:pPr>
            <a:r>
              <a:rPr lang="en-US" altLang="zh-CN" b="1" kern="100" dirty="0">
                <a:solidFill>
                  <a:srgbClr val="000000"/>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1</a:t>
            </a:r>
            <a:r>
              <a:rPr lang="zh-TW" altLang="zh-CN"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rPr>
              <a:t>．张光祥案</a:t>
            </a:r>
            <a:r>
              <a:rPr lang="en-US" altLang="zh-CN" b="1" kern="100" dirty="0">
                <a:solidFill>
                  <a:srgbClr val="000000"/>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  </a:t>
            </a:r>
            <a:endParaRPr lang="zh-CN" altLang="zh-CN" sz="1600"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endParaRPr>
          </a:p>
          <a:p>
            <a:pPr indent="304800" algn="just">
              <a:tabLst>
                <a:tab pos="266700" algn="l"/>
                <a:tab pos="533400" algn="l"/>
                <a:tab pos="800100" algn="l"/>
                <a:tab pos="1066800" algn="l"/>
                <a:tab pos="1333500" algn="l"/>
                <a:tab pos="1600200" algn="l"/>
                <a:tab pos="1866900" algn="l"/>
                <a:tab pos="2133600" algn="l"/>
                <a:tab pos="2400300" algn="l"/>
                <a:tab pos="2667000" algn="l"/>
                <a:tab pos="2933700" algn="l"/>
                <a:tab pos="3200400" algn="l"/>
                <a:tab pos="3467100" algn="l"/>
                <a:tab pos="3733800" algn="l"/>
                <a:tab pos="4000500" algn="l"/>
                <a:tab pos="4267200" algn="l"/>
                <a:tab pos="4533900" algn="l"/>
                <a:tab pos="4800600" algn="l"/>
                <a:tab pos="5067300" algn="l"/>
                <a:tab pos="5334000" algn="l"/>
                <a:tab pos="5600700" algn="l"/>
                <a:tab pos="5798820" algn="l"/>
              </a:tabLst>
            </a:pPr>
            <a:r>
              <a:rPr lang="en-US" altLang="zh-CN" b="1" kern="100" dirty="0">
                <a:solidFill>
                  <a:srgbClr val="000000"/>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2</a:t>
            </a:r>
            <a:r>
              <a:rPr lang="ja-JP" altLang="zh-CN"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rPr>
              <a:t>．王江峰案</a:t>
            </a:r>
            <a:r>
              <a:rPr lang="ja-JP" altLang="zh-CN" b="1" kern="100" dirty="0">
                <a:solidFill>
                  <a:srgbClr val="000000"/>
                </a:solidFill>
                <a:uFill>
                  <a:solidFill>
                    <a:srgbClr val="000000"/>
                  </a:solidFill>
                </a:uFill>
                <a:latin typeface="Arial Unicode MS" panose="020B0604020202020204" charset="-122"/>
                <a:ea typeface="Times New Roman" panose="02020603050405020304" pitchFamily="18" charset="0"/>
                <a:cs typeface="Arial Unicode MS" panose="020B0604020202020204" charset="-122"/>
              </a:rPr>
              <a:t> </a:t>
            </a:r>
            <a:endParaRPr lang="zh-CN" altLang="zh-CN" sz="1600"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endParaRPr>
          </a:p>
          <a:p>
            <a:pPr indent="304800" algn="just">
              <a:tabLst>
                <a:tab pos="266700" algn="l"/>
                <a:tab pos="533400" algn="l"/>
                <a:tab pos="800100" algn="l"/>
                <a:tab pos="1066800" algn="l"/>
                <a:tab pos="1333500" algn="l"/>
                <a:tab pos="1600200" algn="l"/>
                <a:tab pos="1866900" algn="l"/>
                <a:tab pos="2133600" algn="l"/>
                <a:tab pos="2400300" algn="l"/>
                <a:tab pos="2667000" algn="l"/>
                <a:tab pos="2933700" algn="l"/>
                <a:tab pos="3200400" algn="l"/>
                <a:tab pos="3467100" algn="l"/>
                <a:tab pos="3733800" algn="l"/>
                <a:tab pos="4000500" algn="l"/>
                <a:tab pos="4267200" algn="l"/>
                <a:tab pos="4533900" algn="l"/>
                <a:tab pos="4800600" algn="l"/>
                <a:tab pos="5067300" algn="l"/>
                <a:tab pos="5334000" algn="l"/>
                <a:tab pos="5600700" algn="l"/>
                <a:tab pos="5798820" algn="l"/>
              </a:tabLst>
            </a:pPr>
            <a:r>
              <a:rPr lang="en-US" altLang="zh-CN" b="1" kern="100" dirty="0">
                <a:solidFill>
                  <a:srgbClr val="000000"/>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3</a:t>
            </a:r>
            <a:r>
              <a:rPr lang="zh-TW" altLang="zh-CN"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rPr>
              <a:t>．欧阳佳案</a:t>
            </a:r>
            <a:r>
              <a:rPr lang="zh-TW" altLang="zh-CN" b="1" kern="100" dirty="0">
                <a:solidFill>
                  <a:srgbClr val="000000"/>
                </a:solidFill>
                <a:uFill>
                  <a:solidFill>
                    <a:srgbClr val="000000"/>
                  </a:solidFill>
                </a:uFill>
                <a:latin typeface="Arial Unicode MS" panose="020B0604020202020204" charset="-122"/>
                <a:ea typeface="Times New Roman" panose="02020603050405020304" pitchFamily="18" charset="0"/>
                <a:cs typeface="Arial Unicode MS" panose="020B0604020202020204" charset="-122"/>
              </a:rPr>
              <a:t> </a:t>
            </a:r>
            <a:endParaRPr lang="zh-CN" altLang="zh-CN" sz="1600"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endParaRPr>
          </a:p>
          <a:p>
            <a:pPr indent="304800" algn="just">
              <a:tabLst>
                <a:tab pos="266700" algn="l"/>
                <a:tab pos="533400" algn="l"/>
                <a:tab pos="800100" algn="l"/>
                <a:tab pos="1066800" algn="l"/>
                <a:tab pos="1333500" algn="l"/>
                <a:tab pos="1600200" algn="l"/>
                <a:tab pos="1866900" algn="l"/>
                <a:tab pos="2133600" algn="l"/>
                <a:tab pos="2400300" algn="l"/>
                <a:tab pos="2667000" algn="l"/>
                <a:tab pos="2933700" algn="l"/>
                <a:tab pos="3200400" algn="l"/>
                <a:tab pos="3467100" algn="l"/>
                <a:tab pos="3733800" algn="l"/>
                <a:tab pos="4000500" algn="l"/>
                <a:tab pos="4267200" algn="l"/>
                <a:tab pos="4533900" algn="l"/>
                <a:tab pos="4800600" algn="l"/>
                <a:tab pos="5067300" algn="l"/>
                <a:tab pos="5334000" algn="l"/>
                <a:tab pos="5600700" algn="l"/>
                <a:tab pos="5798820" algn="l"/>
              </a:tabLst>
            </a:pPr>
            <a:r>
              <a:rPr lang="en-US" altLang="zh-CN" b="1" kern="100" dirty="0">
                <a:solidFill>
                  <a:srgbClr val="000000"/>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4</a:t>
            </a:r>
            <a:r>
              <a:rPr lang="zh-TW" altLang="zh-CN"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rPr>
              <a:t>．念斌案</a:t>
            </a:r>
            <a:r>
              <a:rPr lang="en-US" altLang="zh-CN" b="1" kern="100" dirty="0">
                <a:solidFill>
                  <a:srgbClr val="000000"/>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  </a:t>
            </a:r>
            <a:endParaRPr lang="zh-CN" altLang="zh-CN" sz="1600"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endParaRPr>
          </a:p>
          <a:p>
            <a:pPr indent="304800" algn="just">
              <a:tabLst>
                <a:tab pos="266700" algn="l"/>
                <a:tab pos="533400" algn="l"/>
                <a:tab pos="800100" algn="l"/>
                <a:tab pos="1066800" algn="l"/>
                <a:tab pos="1333500" algn="l"/>
                <a:tab pos="1600200" algn="l"/>
                <a:tab pos="1866900" algn="l"/>
                <a:tab pos="2133600" algn="l"/>
                <a:tab pos="2400300" algn="l"/>
                <a:tab pos="2667000" algn="l"/>
                <a:tab pos="2933700" algn="l"/>
                <a:tab pos="3200400" algn="l"/>
                <a:tab pos="3467100" algn="l"/>
                <a:tab pos="3733800" algn="l"/>
                <a:tab pos="4000500" algn="l"/>
                <a:tab pos="4267200" algn="l"/>
                <a:tab pos="4533900" algn="l"/>
                <a:tab pos="4800600" algn="l"/>
                <a:tab pos="5067300" algn="l"/>
                <a:tab pos="5334000" algn="l"/>
                <a:tab pos="5600700" algn="l"/>
                <a:tab pos="5798820" algn="l"/>
              </a:tabLst>
            </a:pPr>
            <a:r>
              <a:rPr lang="en-US" altLang="zh-CN" b="1" kern="100" dirty="0">
                <a:solidFill>
                  <a:srgbClr val="000000"/>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5</a:t>
            </a:r>
            <a:r>
              <a:rPr lang="zh-TW" altLang="zh-CN"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rPr>
              <a:t>．高如举案</a:t>
            </a:r>
            <a:r>
              <a:rPr lang="zh-TW" altLang="zh-CN" b="1" kern="100" dirty="0">
                <a:solidFill>
                  <a:srgbClr val="000000"/>
                </a:solidFill>
                <a:uFill>
                  <a:solidFill>
                    <a:srgbClr val="000000"/>
                  </a:solidFill>
                </a:uFill>
                <a:latin typeface="Arial Unicode MS" panose="020B0604020202020204" charset="-122"/>
                <a:ea typeface="Times New Roman" panose="02020603050405020304" pitchFamily="18" charset="0"/>
                <a:cs typeface="Arial Unicode MS" panose="020B0604020202020204" charset="-122"/>
              </a:rPr>
              <a:t> </a:t>
            </a:r>
            <a:endParaRPr lang="zh-CN" altLang="zh-CN" sz="1600"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endParaRPr>
          </a:p>
          <a:p>
            <a:pPr indent="304800" algn="just">
              <a:tabLst>
                <a:tab pos="266700" algn="l"/>
                <a:tab pos="533400" algn="l"/>
                <a:tab pos="800100" algn="l"/>
                <a:tab pos="1066800" algn="l"/>
                <a:tab pos="1333500" algn="l"/>
                <a:tab pos="1600200" algn="l"/>
                <a:tab pos="1866900" algn="l"/>
                <a:tab pos="2133600" algn="l"/>
                <a:tab pos="2400300" algn="l"/>
                <a:tab pos="2667000" algn="l"/>
                <a:tab pos="2933700" algn="l"/>
                <a:tab pos="3200400" algn="l"/>
                <a:tab pos="3467100" algn="l"/>
                <a:tab pos="3733800" algn="l"/>
                <a:tab pos="4000500" algn="l"/>
                <a:tab pos="4267200" algn="l"/>
                <a:tab pos="4533900" algn="l"/>
                <a:tab pos="4800600" algn="l"/>
                <a:tab pos="5067300" algn="l"/>
                <a:tab pos="5334000" algn="l"/>
                <a:tab pos="5600700" algn="l"/>
                <a:tab pos="5798820" algn="l"/>
              </a:tabLst>
            </a:pPr>
            <a:r>
              <a:rPr lang="en-US" altLang="zh-CN" b="1" kern="100" dirty="0">
                <a:solidFill>
                  <a:srgbClr val="000000"/>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 6</a:t>
            </a:r>
            <a:r>
              <a:rPr lang="zh-TW" altLang="zh-CN"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rPr>
              <a:t>．徐辉案</a:t>
            </a:r>
            <a:r>
              <a:rPr lang="en-US" altLang="zh-CN" b="1" kern="100" dirty="0">
                <a:solidFill>
                  <a:srgbClr val="000000"/>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 </a:t>
            </a:r>
            <a:endParaRPr lang="zh-CN" altLang="zh-CN" sz="1600"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endParaRPr>
          </a:p>
          <a:p>
            <a:pPr indent="304800" algn="just">
              <a:tabLst>
                <a:tab pos="266700" algn="l"/>
                <a:tab pos="533400" algn="l"/>
                <a:tab pos="800100" algn="l"/>
                <a:tab pos="1066800" algn="l"/>
                <a:tab pos="1333500" algn="l"/>
                <a:tab pos="1600200" algn="l"/>
                <a:tab pos="1866900" algn="l"/>
                <a:tab pos="2133600" algn="l"/>
                <a:tab pos="2400300" algn="l"/>
                <a:tab pos="2667000" algn="l"/>
                <a:tab pos="2933700" algn="l"/>
                <a:tab pos="3200400" algn="l"/>
                <a:tab pos="3467100" algn="l"/>
                <a:tab pos="3733800" algn="l"/>
                <a:tab pos="4000500" algn="l"/>
                <a:tab pos="4267200" algn="l"/>
                <a:tab pos="4533900" algn="l"/>
                <a:tab pos="4800600" algn="l"/>
                <a:tab pos="5067300" algn="l"/>
                <a:tab pos="5334000" algn="l"/>
                <a:tab pos="5600700" algn="l"/>
                <a:tab pos="5798820" algn="l"/>
              </a:tabLst>
            </a:pPr>
            <a:r>
              <a:rPr lang="en-US" altLang="zh-CN" b="1" kern="100" dirty="0">
                <a:solidFill>
                  <a:srgbClr val="000000"/>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7</a:t>
            </a:r>
            <a:r>
              <a:rPr lang="zh-TW" altLang="zh-CN"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rPr>
              <a:t>．呼格吉勒图案</a:t>
            </a:r>
            <a:r>
              <a:rPr lang="zh-TW" altLang="zh-CN" b="1" kern="100" dirty="0">
                <a:solidFill>
                  <a:srgbClr val="000000"/>
                </a:solidFill>
                <a:uFill>
                  <a:solidFill>
                    <a:srgbClr val="000000"/>
                  </a:solidFill>
                </a:uFill>
                <a:latin typeface="Arial Unicode MS" panose="020B0604020202020204" charset="-122"/>
                <a:ea typeface="Times New Roman" panose="02020603050405020304" pitchFamily="18" charset="0"/>
                <a:cs typeface="Arial Unicode MS" panose="020B0604020202020204" charset="-122"/>
              </a:rPr>
              <a:t>——</a:t>
            </a:r>
            <a:r>
              <a:rPr lang="zh-TW" altLang="zh-CN"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rPr>
              <a:t>真凶再现</a:t>
            </a:r>
            <a:endParaRPr lang="zh-CN" altLang="zh-CN" sz="1600" b="1" kern="100"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endParaRPr>
          </a:p>
          <a:p>
            <a:endParaRPr lang="zh-CN" altLang="en-US" dirty="0"/>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ja-JP" altLang="zh-CN" sz="2800" b="1" dirty="0">
                <a:solidFill>
                  <a:srgbClr val="9D44B8"/>
                </a:solidFill>
                <a:uFill>
                  <a:solidFill>
                    <a:srgbClr val="000000"/>
                  </a:solidFill>
                </a:uFill>
                <a:latin typeface="Arial Unicode MS" panose="020B0604020202020204" charset="-122"/>
                <a:ea typeface="Arial Unicode MS" panose="020B0604020202020204" charset="-122"/>
                <a:cs typeface="Arial Unicode MS" panose="020B0604020202020204" charset="-122"/>
              </a:rPr>
              <a:t>江平</a:t>
            </a:r>
            <a:r>
              <a:rPr lang="zh-TW" altLang="zh-CN" sz="2800" b="1" dirty="0">
                <a:solidFill>
                  <a:srgbClr val="9D44B8"/>
                </a:solidFill>
                <a:uFill>
                  <a:solidFill>
                    <a:srgbClr val="000000"/>
                  </a:solidFill>
                </a:uFill>
                <a:latin typeface="Arial Unicode MS" panose="020B0604020202020204" charset="-122"/>
                <a:ea typeface="Arial Unicode MS" panose="020B0604020202020204" charset="-122"/>
                <a:cs typeface="Arial Unicode MS" panose="020B0604020202020204" charset="-122"/>
              </a:rPr>
              <a:t>为呼格写的墓志铭</a:t>
            </a:r>
            <a:endParaRPr lang="zh-CN" altLang="en-US" sz="2800" b="1" dirty="0"/>
          </a:p>
        </p:txBody>
      </p:sp>
      <p:sp>
        <p:nvSpPr>
          <p:cNvPr id="3" name="文本占位符 2"/>
          <p:cNvSpPr>
            <a:spLocks noGrp="1"/>
          </p:cNvSpPr>
          <p:nvPr>
            <p:ph type="body" idx="1"/>
          </p:nvPr>
        </p:nvSpPr>
        <p:spPr/>
        <p:txBody>
          <a:bodyPr>
            <a:normAutofit fontScale="47500" lnSpcReduction="20000"/>
          </a:bodyPr>
          <a:lstStyle/>
          <a:p>
            <a:r>
              <a:rPr lang="zh-TW" altLang="zh-CN" dirty="0">
                <a:solidFill>
                  <a:srgbClr val="000000"/>
                </a:solidFill>
                <a:uFill>
                  <a:solidFill>
                    <a:srgbClr val="000000"/>
                  </a:solidFill>
                </a:uFill>
                <a:latin typeface="Arial Unicode MS" panose="020B0604020202020204" charset="-122"/>
                <a:ea typeface="Arial Unicode MS" panose="020B0604020202020204" charset="-122"/>
                <a:cs typeface="Arial Unicode MS" panose="020B0604020202020204" charset="-122"/>
              </a:rPr>
              <a:t>　</a:t>
            </a:r>
            <a:r>
              <a:rPr lang="zh-TW" altLang="zh-CN" sz="3800" dirty="0">
                <a:solidFill>
                  <a:srgbClr val="000000"/>
                </a:solidFill>
                <a:uFill>
                  <a:solidFill>
                    <a:srgbClr val="000000"/>
                  </a:solidFill>
                </a:uFill>
                <a:latin typeface="楷体" panose="02010609060101010101" pitchFamily="49" charset="-122"/>
                <a:ea typeface="楷体" panose="02010609060101010101" pitchFamily="49" charset="-122"/>
                <a:cs typeface="Arial Unicode MS" panose="020B0604020202020204" charset="-122"/>
              </a:rPr>
              <a:t>　 </a:t>
            </a:r>
            <a:r>
              <a:rPr lang="zh-TW" altLang="zh-CN" sz="3800" b="1" dirty="0">
                <a:solidFill>
                  <a:srgbClr val="9D44B8"/>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rPr>
              <a:t>呼格吉勒图，内蒙古呼和浩特人，一九七七年九月二十一日生。十八岁时，厄难倏降，蒙冤而死。</a:t>
            </a:r>
            <a:endParaRPr lang="zh-CN" altLang="zh-CN" sz="3800" b="1" dirty="0">
              <a:solidFill>
                <a:srgbClr val="000000"/>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endParaRPr>
          </a:p>
          <a:p>
            <a:r>
              <a:rPr lang="zh-TW" altLang="zh-CN" sz="3800" b="1" dirty="0">
                <a:solidFill>
                  <a:srgbClr val="9D44B8"/>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rPr>
              <a:t>　　 一九九六年四月九日夜，一女子被害身亡。呼格报案，被疑为凶手，后不堪厉刑而屈招，被判死刑。六月十日，毙。</a:t>
            </a:r>
            <a:endParaRPr lang="zh-CN" altLang="zh-CN" sz="3800" b="1" dirty="0">
              <a:solidFill>
                <a:srgbClr val="000000"/>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endParaRPr>
          </a:p>
          <a:p>
            <a:r>
              <a:rPr lang="zh-TW" altLang="zh-CN" sz="3800" b="1" dirty="0">
                <a:solidFill>
                  <a:srgbClr val="9D44B8"/>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rPr>
              <a:t>　　 呼格负罪名而草葬于野，父母忍辱十年，哀状不可言。二零零五年十月，命案真凶现身，呼格之冤方显于天下，令华夏震惊，然案牍尘封无所动。又逾九年，内蒙古自治区高级人民法院再审，二零一四年十二月十五日宣布呼格无罪。</a:t>
            </a:r>
            <a:endParaRPr lang="zh-CN" altLang="zh-CN" sz="3800" b="1" dirty="0">
              <a:solidFill>
                <a:srgbClr val="000000"/>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endParaRPr>
          </a:p>
          <a:p>
            <a:r>
              <a:rPr lang="zh-TW" altLang="zh-CN" sz="3800" b="1" dirty="0">
                <a:solidFill>
                  <a:srgbClr val="9D44B8"/>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rPr>
              <a:t>　　 优良的司法，乃国民之福。呼格其生也短，其命也悲，惜无此福，然以生命警示手持司法权柄者，应重证据，不臆断，重人权，不擅权，不为一时政治之权宜而弃法治与公正。</a:t>
            </a:r>
            <a:endParaRPr lang="zh-CN" altLang="zh-CN" sz="3800" b="1" dirty="0">
              <a:solidFill>
                <a:srgbClr val="000000"/>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endParaRPr>
          </a:p>
          <a:p>
            <a:r>
              <a:rPr lang="zh-TW" altLang="zh-CN" sz="3800" b="1" dirty="0">
                <a:solidFill>
                  <a:srgbClr val="000000"/>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rPr>
              <a:t>　</a:t>
            </a:r>
            <a:r>
              <a:rPr lang="zh-TW" altLang="zh-CN" sz="3800" b="1" dirty="0">
                <a:solidFill>
                  <a:srgbClr val="9D44B8"/>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rPr>
              <a:t>　 今重葬呼格，意在求之，以慰冤魂。</a:t>
            </a:r>
            <a:endParaRPr lang="zh-CN" altLang="zh-CN" sz="3800" b="1" dirty="0">
              <a:solidFill>
                <a:srgbClr val="000000"/>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endParaRPr>
          </a:p>
          <a:p>
            <a:r>
              <a:rPr lang="zh-TW" altLang="zh-CN" sz="3800" b="1" dirty="0">
                <a:solidFill>
                  <a:srgbClr val="9D44B8"/>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rPr>
              <a:t>　　 特立此碑。</a:t>
            </a:r>
            <a:endParaRPr lang="zh-CN" altLang="zh-CN" sz="3800" b="1" dirty="0">
              <a:solidFill>
                <a:srgbClr val="000000"/>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endParaRPr>
          </a:p>
          <a:p>
            <a:r>
              <a:rPr lang="zh-TW" altLang="zh-CN" sz="3800" b="1" dirty="0">
                <a:solidFill>
                  <a:srgbClr val="9D44B8"/>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rPr>
              <a:t>　　 </a:t>
            </a:r>
            <a:endParaRPr lang="zh-CN" altLang="zh-CN" sz="3800" b="1" dirty="0">
              <a:solidFill>
                <a:srgbClr val="000000"/>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endParaRPr>
          </a:p>
          <a:p>
            <a:r>
              <a:rPr lang="zh-TW" altLang="zh-CN" sz="3800" b="1" dirty="0">
                <a:solidFill>
                  <a:srgbClr val="9D44B8"/>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rPr>
              <a:t>　　 中国政法大学 </a:t>
            </a:r>
            <a:r>
              <a:rPr lang="ja-JP" altLang="zh-CN" sz="3800" b="1" dirty="0">
                <a:solidFill>
                  <a:srgbClr val="9D44B8"/>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rPr>
              <a:t>江平教授 </a:t>
            </a:r>
            <a:r>
              <a:rPr lang="zh-TW" altLang="zh-CN" sz="3800" b="1" dirty="0">
                <a:solidFill>
                  <a:srgbClr val="9D44B8"/>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rPr>
              <a:t>撰</a:t>
            </a:r>
            <a:endParaRPr lang="zh-CN" altLang="zh-CN" sz="3800" b="1" dirty="0">
              <a:solidFill>
                <a:srgbClr val="000000"/>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endParaRPr>
          </a:p>
          <a:p>
            <a:r>
              <a:rPr lang="zh-TW" altLang="zh-CN" sz="3800" b="1" dirty="0">
                <a:solidFill>
                  <a:srgbClr val="9D44B8"/>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rPr>
              <a:t>　　 二零一五年三月二十二日</a:t>
            </a:r>
            <a:endParaRPr lang="zh-CN" altLang="zh-CN" sz="3800" b="1" dirty="0">
              <a:solidFill>
                <a:srgbClr val="000000"/>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endParaRPr>
          </a:p>
          <a:p>
            <a:endParaRPr lang="zh-CN" altLang="en-US" dirty="0"/>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342900" lvl="0" indent="304800">
              <a:spcBef>
                <a:spcPts val="700"/>
              </a:spcBef>
              <a:tabLst>
                <a:tab pos="266700" algn="l"/>
                <a:tab pos="533400" algn="l"/>
                <a:tab pos="800100" algn="l"/>
                <a:tab pos="1066800" algn="l"/>
                <a:tab pos="1333500" algn="l"/>
                <a:tab pos="1600200" algn="l"/>
                <a:tab pos="1866900" algn="l"/>
                <a:tab pos="2133600" algn="l"/>
                <a:tab pos="2400300" algn="l"/>
                <a:tab pos="2667000" algn="l"/>
                <a:tab pos="2933700" algn="l"/>
                <a:tab pos="3200400" algn="l"/>
                <a:tab pos="3467100" algn="l"/>
                <a:tab pos="3733800" algn="l"/>
                <a:tab pos="4000500" algn="l"/>
                <a:tab pos="4267200" algn="l"/>
                <a:tab pos="4533900" algn="l"/>
                <a:tab pos="4800600" algn="l"/>
                <a:tab pos="5067300" algn="l"/>
                <a:tab pos="5334000" algn="l"/>
                <a:tab pos="5600700" algn="l"/>
                <a:tab pos="5798820" algn="l"/>
              </a:tabLst>
            </a:pPr>
            <a:r>
              <a:rPr lang="en-US" altLang="zh-CN" sz="3200" b="1" kern="100" dirty="0">
                <a:solidFill>
                  <a:srgbClr val="FF2C21"/>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2015</a:t>
            </a:r>
            <a:r>
              <a:rPr lang="zh-CN" altLang="zh-CN" sz="3200" b="1" kern="100" dirty="0">
                <a:solidFill>
                  <a:srgbClr val="FF2C21"/>
                </a:solidFill>
                <a:uFill>
                  <a:solidFill>
                    <a:srgbClr val="000000"/>
                  </a:solidFill>
                </a:uFill>
                <a:latin typeface="Arial Unicode MS" panose="020B0604020202020204" charset="-122"/>
                <a:ea typeface="Arial Unicode MS" panose="020B0604020202020204" charset="-122"/>
                <a:cs typeface="Arial Unicode MS" panose="020B0604020202020204" charset="-122"/>
              </a:rPr>
              <a:t>年</a:t>
            </a:r>
            <a:r>
              <a:rPr lang="zh-TW" altLang="zh-CN" sz="3200" b="1" kern="100" dirty="0">
                <a:solidFill>
                  <a:srgbClr val="FF2C21"/>
                </a:solidFill>
                <a:uFill>
                  <a:solidFill>
                    <a:srgbClr val="000000"/>
                  </a:solidFill>
                </a:uFill>
                <a:latin typeface="Arial Unicode MS" panose="020B0604020202020204" charset="-122"/>
                <a:ea typeface="Arial Unicode MS" panose="020B0604020202020204" charset="-122"/>
                <a:cs typeface="Arial Unicode MS" panose="020B0604020202020204" charset="-122"/>
              </a:rPr>
              <a:t>五个冤案予以平反</a:t>
            </a:r>
            <a:endParaRPr lang="zh-CN" altLang="en-US" b="1" dirty="0"/>
          </a:p>
        </p:txBody>
      </p:sp>
      <p:sp>
        <p:nvSpPr>
          <p:cNvPr id="3" name="文本占位符 2"/>
          <p:cNvSpPr>
            <a:spLocks noGrp="1"/>
          </p:cNvSpPr>
          <p:nvPr>
            <p:ph type="body" idx="1"/>
          </p:nvPr>
        </p:nvSpPr>
        <p:spPr/>
        <p:txBody>
          <a:bodyPr/>
          <a:lstStyle/>
          <a:p>
            <a:pPr indent="304800" algn="just">
              <a:tabLst>
                <a:tab pos="266700" algn="l"/>
                <a:tab pos="533400" algn="l"/>
                <a:tab pos="800100" algn="l"/>
                <a:tab pos="1066800" algn="l"/>
                <a:tab pos="1333500" algn="l"/>
                <a:tab pos="1600200" algn="l"/>
                <a:tab pos="1866900" algn="l"/>
                <a:tab pos="2133600" algn="l"/>
                <a:tab pos="2400300" algn="l"/>
                <a:tab pos="2667000" algn="l"/>
                <a:tab pos="2933700" algn="l"/>
                <a:tab pos="3200400" algn="l"/>
                <a:tab pos="3467100" algn="l"/>
                <a:tab pos="3733800" algn="l"/>
                <a:tab pos="4000500" algn="l"/>
                <a:tab pos="4267200" algn="l"/>
                <a:tab pos="4533900" algn="l"/>
                <a:tab pos="4800600" algn="l"/>
                <a:tab pos="5067300" algn="l"/>
                <a:tab pos="5334000" algn="l"/>
                <a:tab pos="5600700" algn="l"/>
                <a:tab pos="5798820" algn="l"/>
              </a:tabLst>
            </a:pPr>
            <a:r>
              <a:rPr lang="en-US" altLang="zh-CN" b="1" kern="100" dirty="0">
                <a:solidFill>
                  <a:srgbClr val="002060"/>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rPr>
              <a:t>1</a:t>
            </a:r>
            <a:r>
              <a:rPr lang="zh-TW" altLang="zh-CN" b="1" kern="100" dirty="0">
                <a:solidFill>
                  <a:srgbClr val="002060"/>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rPr>
              <a:t>．陈夏影案 </a:t>
            </a:r>
            <a:endParaRPr lang="zh-CN" altLang="zh-CN" sz="1600" b="1" kern="100" dirty="0">
              <a:solidFill>
                <a:srgbClr val="002060"/>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endParaRPr>
          </a:p>
          <a:p>
            <a:pPr indent="304800" algn="just">
              <a:tabLst>
                <a:tab pos="266700" algn="l"/>
                <a:tab pos="533400" algn="l"/>
                <a:tab pos="800100" algn="l"/>
                <a:tab pos="1066800" algn="l"/>
                <a:tab pos="1333500" algn="l"/>
                <a:tab pos="1600200" algn="l"/>
                <a:tab pos="1866900" algn="l"/>
                <a:tab pos="2133600" algn="l"/>
                <a:tab pos="2400300" algn="l"/>
                <a:tab pos="2667000" algn="l"/>
                <a:tab pos="2933700" algn="l"/>
                <a:tab pos="3200400" algn="l"/>
                <a:tab pos="3467100" algn="l"/>
                <a:tab pos="3733800" algn="l"/>
                <a:tab pos="4000500" algn="l"/>
                <a:tab pos="4267200" algn="l"/>
                <a:tab pos="4533900" algn="l"/>
                <a:tab pos="4800600" algn="l"/>
                <a:tab pos="5067300" algn="l"/>
                <a:tab pos="5334000" algn="l"/>
                <a:tab pos="5600700" algn="l"/>
                <a:tab pos="5798820" algn="l"/>
              </a:tabLst>
            </a:pPr>
            <a:r>
              <a:rPr lang="en-US" altLang="zh-CN" b="1" kern="100" dirty="0">
                <a:solidFill>
                  <a:srgbClr val="002060"/>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rPr>
              <a:t>2</a:t>
            </a:r>
            <a:r>
              <a:rPr lang="zh-TW" altLang="zh-CN" b="1" kern="100" dirty="0">
                <a:solidFill>
                  <a:srgbClr val="002060"/>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rPr>
              <a:t>．张虎案</a:t>
            </a:r>
            <a:endParaRPr lang="zh-CN" altLang="zh-CN" sz="1600" b="1" kern="100" dirty="0">
              <a:solidFill>
                <a:srgbClr val="002060"/>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endParaRPr>
          </a:p>
          <a:p>
            <a:pPr indent="304800" algn="just">
              <a:tabLst>
                <a:tab pos="266700" algn="l"/>
                <a:tab pos="533400" algn="l"/>
                <a:tab pos="800100" algn="l"/>
                <a:tab pos="1066800" algn="l"/>
                <a:tab pos="1333500" algn="l"/>
                <a:tab pos="1600200" algn="l"/>
                <a:tab pos="1866900" algn="l"/>
                <a:tab pos="2133600" algn="l"/>
                <a:tab pos="2400300" algn="l"/>
                <a:tab pos="2667000" algn="l"/>
                <a:tab pos="2933700" algn="l"/>
                <a:tab pos="3200400" algn="l"/>
                <a:tab pos="3467100" algn="l"/>
                <a:tab pos="3733800" algn="l"/>
                <a:tab pos="4000500" algn="l"/>
                <a:tab pos="4267200" algn="l"/>
                <a:tab pos="4533900" algn="l"/>
                <a:tab pos="4800600" algn="l"/>
                <a:tab pos="5067300" algn="l"/>
                <a:tab pos="5334000" algn="l"/>
                <a:tab pos="5600700" algn="l"/>
                <a:tab pos="5798820" algn="l"/>
              </a:tabLst>
            </a:pPr>
            <a:r>
              <a:rPr lang="en-US" altLang="zh-CN" b="1" kern="100" dirty="0">
                <a:solidFill>
                  <a:srgbClr val="002060"/>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rPr>
              <a:t> 3</a:t>
            </a:r>
            <a:r>
              <a:rPr lang="zh-TW" altLang="zh-CN" b="1" kern="100" dirty="0">
                <a:solidFill>
                  <a:srgbClr val="002060"/>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rPr>
              <a:t>．曾爱云</a:t>
            </a:r>
            <a:r>
              <a:rPr lang="en-US" altLang="zh-CN" b="1" kern="100" dirty="0">
                <a:solidFill>
                  <a:srgbClr val="002060"/>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rPr>
              <a:t>  </a:t>
            </a:r>
            <a:endParaRPr lang="zh-CN" altLang="zh-CN" sz="1600" b="1" kern="100" dirty="0">
              <a:solidFill>
                <a:srgbClr val="002060"/>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endParaRPr>
          </a:p>
          <a:p>
            <a:pPr indent="304800" algn="just">
              <a:tabLst>
                <a:tab pos="266700" algn="l"/>
                <a:tab pos="533400" algn="l"/>
                <a:tab pos="800100" algn="l"/>
                <a:tab pos="1066800" algn="l"/>
                <a:tab pos="1333500" algn="l"/>
                <a:tab pos="1600200" algn="l"/>
                <a:tab pos="1866900" algn="l"/>
                <a:tab pos="2133600" algn="l"/>
                <a:tab pos="2400300" algn="l"/>
                <a:tab pos="2667000" algn="l"/>
                <a:tab pos="2933700" algn="l"/>
                <a:tab pos="3200400" algn="l"/>
                <a:tab pos="3467100" algn="l"/>
                <a:tab pos="3733800" algn="l"/>
                <a:tab pos="4000500" algn="l"/>
                <a:tab pos="4267200" algn="l"/>
                <a:tab pos="4533900" algn="l"/>
                <a:tab pos="4800600" algn="l"/>
                <a:tab pos="5067300" algn="l"/>
                <a:tab pos="5334000" algn="l"/>
                <a:tab pos="5600700" algn="l"/>
                <a:tab pos="5798820" algn="l"/>
              </a:tabLst>
            </a:pPr>
            <a:r>
              <a:rPr lang="en-US" altLang="zh-CN" b="1" kern="100" dirty="0">
                <a:solidFill>
                  <a:srgbClr val="002060"/>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rPr>
              <a:t>4</a:t>
            </a:r>
            <a:r>
              <a:rPr lang="zh-TW" altLang="zh-CN" b="1" kern="100" dirty="0">
                <a:solidFill>
                  <a:srgbClr val="002060"/>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rPr>
              <a:t>．杨明案</a:t>
            </a:r>
            <a:r>
              <a:rPr lang="en-US" altLang="zh-CN" b="1" kern="100" dirty="0">
                <a:solidFill>
                  <a:srgbClr val="002060"/>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rPr>
              <a:t>  </a:t>
            </a:r>
            <a:endParaRPr lang="zh-CN" altLang="zh-CN" sz="1600" b="1" kern="100" dirty="0">
              <a:solidFill>
                <a:srgbClr val="002060"/>
              </a:solidFill>
              <a:uFill>
                <a:solidFill>
                  <a:srgbClr val="000000"/>
                </a:solidFill>
              </a:uFill>
              <a:latin typeface="微软雅黑" panose="020B0503020204020204" pitchFamily="34" charset="-122"/>
              <a:ea typeface="微软雅黑" panose="020B0503020204020204" pitchFamily="34" charset="-122"/>
              <a:cs typeface="Arial Unicode MS" panose="020B0604020202020204" charset="-122"/>
            </a:endParaRPr>
          </a:p>
          <a:p>
            <a:r>
              <a:rPr lang="en-US" altLang="zh-CN" b="1" dirty="0">
                <a:solidFill>
                  <a:srgbClr val="002060"/>
                </a:solidFill>
                <a:latin typeface="微软雅黑" panose="020B0503020204020204" pitchFamily="34" charset="-122"/>
                <a:ea typeface="微软雅黑" panose="020B0503020204020204" pitchFamily="34" charset="-122"/>
              </a:rPr>
              <a:t>5</a:t>
            </a:r>
            <a:r>
              <a:rPr lang="zh-TW" altLang="zh-CN" b="1"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．黄政耀案</a:t>
            </a:r>
            <a:r>
              <a:rPr lang="zh-TW" altLang="zh-CN" b="1" dirty="0">
                <a:solidFill>
                  <a:srgbClr val="002060"/>
                </a:solidFill>
                <a:latin typeface="微软雅黑" panose="020B0503020204020204" pitchFamily="34" charset="-122"/>
                <a:ea typeface="微软雅黑" panose="020B0503020204020204" pitchFamily="34" charset="-122"/>
              </a:rPr>
              <a:t> </a:t>
            </a:r>
            <a:endParaRPr lang="zh-CN" altLang="en-US" b="1"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200" b="1" kern="100" dirty="0">
                <a:solidFill>
                  <a:srgbClr val="FF2C21"/>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2016</a:t>
            </a:r>
            <a:r>
              <a:rPr lang="zh-CN" altLang="zh-CN" sz="3200" b="1" kern="100" dirty="0">
                <a:solidFill>
                  <a:srgbClr val="FF2C21"/>
                </a:solidFill>
                <a:uFill>
                  <a:solidFill>
                    <a:srgbClr val="000000"/>
                  </a:solidFill>
                </a:uFill>
                <a:latin typeface="Arial Unicode MS" panose="020B0604020202020204" charset="-122"/>
                <a:ea typeface="Arial Unicode MS" panose="020B0604020202020204" charset="-122"/>
                <a:cs typeface="Arial Unicode MS" panose="020B0604020202020204" charset="-122"/>
              </a:rPr>
              <a:t>年</a:t>
            </a:r>
            <a:r>
              <a:rPr lang="zh-CN" altLang="en-US" sz="3200" b="1" kern="100" dirty="0">
                <a:solidFill>
                  <a:srgbClr val="FF2C21"/>
                </a:solidFill>
                <a:uFill>
                  <a:solidFill>
                    <a:srgbClr val="000000"/>
                  </a:solidFill>
                </a:uFill>
                <a:latin typeface="Arial Unicode MS" panose="020B0604020202020204" charset="-122"/>
                <a:ea typeface="Arial Unicode MS" panose="020B0604020202020204" charset="-122"/>
                <a:cs typeface="Arial Unicode MS" panose="020B0604020202020204" charset="-122"/>
              </a:rPr>
              <a:t>八</a:t>
            </a:r>
            <a:r>
              <a:rPr lang="zh-TW" altLang="zh-CN" sz="3200" b="1" kern="100" dirty="0">
                <a:solidFill>
                  <a:srgbClr val="FF2C21"/>
                </a:solidFill>
                <a:uFill>
                  <a:solidFill>
                    <a:srgbClr val="000000"/>
                  </a:solidFill>
                </a:uFill>
                <a:latin typeface="Arial Unicode MS" panose="020B0604020202020204" charset="-122"/>
                <a:ea typeface="Arial Unicode MS" panose="020B0604020202020204" charset="-122"/>
                <a:cs typeface="Arial Unicode MS" panose="020B0604020202020204" charset="-122"/>
              </a:rPr>
              <a:t>个</a:t>
            </a:r>
            <a:r>
              <a:rPr lang="zh-CN" altLang="en-US" sz="3200" b="1" kern="100" dirty="0">
                <a:solidFill>
                  <a:srgbClr val="FF2C21"/>
                </a:solidFill>
                <a:uFill>
                  <a:solidFill>
                    <a:srgbClr val="000000"/>
                  </a:solidFill>
                </a:uFill>
                <a:latin typeface="Arial Unicode MS" panose="020B0604020202020204" charset="-122"/>
                <a:ea typeface="Arial Unicode MS" panose="020B0604020202020204" charset="-122"/>
                <a:cs typeface="Arial Unicode MS" panose="020B0604020202020204" charset="-122"/>
              </a:rPr>
              <a:t>冤案</a:t>
            </a:r>
            <a:endParaRPr lang="zh-CN" altLang="en-US" b="1" dirty="0"/>
          </a:p>
        </p:txBody>
      </p:sp>
      <p:sp>
        <p:nvSpPr>
          <p:cNvPr id="3" name="文本占位符 2"/>
          <p:cNvSpPr>
            <a:spLocks noGrp="1"/>
          </p:cNvSpPr>
          <p:nvPr>
            <p:ph type="body" idx="1"/>
          </p:nvPr>
        </p:nvSpPr>
        <p:spPr>
          <a:xfrm>
            <a:off x="301625" y="1905000"/>
            <a:ext cx="8540750" cy="4343400"/>
          </a:xfrm>
        </p:spPr>
        <p:txBody>
          <a:bodyPr>
            <a:normAutofit fontScale="92500" lnSpcReduction="10000"/>
          </a:bodyPr>
          <a:lstStyle/>
          <a:p>
            <a:pPr indent="0" algn="just">
              <a:buNone/>
              <a:tabLst>
                <a:tab pos="266700" algn="l"/>
                <a:tab pos="533400" algn="l"/>
                <a:tab pos="800100" algn="l"/>
                <a:tab pos="1066800" algn="l"/>
                <a:tab pos="1333500" algn="l"/>
                <a:tab pos="1600200" algn="l"/>
                <a:tab pos="1866900" algn="l"/>
                <a:tab pos="2133600" algn="l"/>
                <a:tab pos="2400300" algn="l"/>
                <a:tab pos="2667000" algn="l"/>
                <a:tab pos="2933700" algn="l"/>
                <a:tab pos="3200400" algn="l"/>
                <a:tab pos="3467100" algn="l"/>
                <a:tab pos="3733800" algn="l"/>
                <a:tab pos="4000500" algn="l"/>
                <a:tab pos="4267200" algn="l"/>
                <a:tab pos="4533900" algn="l"/>
                <a:tab pos="4800600" algn="l"/>
                <a:tab pos="5067300" algn="l"/>
                <a:tab pos="5334000" algn="l"/>
                <a:tab pos="5600700" algn="l"/>
                <a:tab pos="5798820" algn="l"/>
              </a:tabLst>
            </a:pPr>
            <a:r>
              <a:rPr lang="en-US" altLang="zh-TW" sz="2400" b="1" kern="100" dirty="0">
                <a:solidFill>
                  <a:srgbClr val="002060"/>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1</a:t>
            </a:r>
            <a:r>
              <a:rPr lang="zh-TW" altLang="zh-CN" sz="2400" b="1" kern="100" dirty="0">
                <a:solidFill>
                  <a:srgbClr val="002060"/>
                </a:solidFill>
                <a:uFill>
                  <a:solidFill>
                    <a:srgbClr val="000000"/>
                  </a:solidFill>
                </a:uFill>
                <a:latin typeface="Arial Unicode MS" panose="020B0604020202020204" charset="-122"/>
                <a:ea typeface="Arial Unicode MS" panose="020B0604020202020204" charset="-122"/>
                <a:cs typeface="Arial Unicode MS" panose="020B0604020202020204" charset="-122"/>
              </a:rPr>
              <a:t>．陈满案</a:t>
            </a:r>
            <a:r>
              <a:rPr lang="en-US" altLang="zh-CN" sz="2400" b="1" kern="100" dirty="0">
                <a:solidFill>
                  <a:srgbClr val="002060"/>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  </a:t>
            </a:r>
            <a:r>
              <a:rPr lang="zh-TW" altLang="zh-CN" sz="2400" b="1" kern="100" dirty="0">
                <a:solidFill>
                  <a:srgbClr val="002060"/>
                </a:solidFill>
                <a:uFill>
                  <a:solidFill>
                    <a:srgbClr val="000000"/>
                  </a:solidFill>
                </a:uFill>
                <a:latin typeface="Arial Unicode MS" panose="020B0604020202020204" charset="-122"/>
                <a:ea typeface="Times New Roman" panose="02020603050405020304" pitchFamily="18" charset="0"/>
                <a:cs typeface="Arial Unicode MS" panose="020B0604020202020204" charset="-122"/>
              </a:rPr>
              <a:t>——</a:t>
            </a:r>
            <a:r>
              <a:rPr lang="zh-TW" altLang="zh-CN" sz="2400" b="1" kern="100" dirty="0">
                <a:solidFill>
                  <a:srgbClr val="002060"/>
                </a:solidFill>
                <a:uFill>
                  <a:solidFill>
                    <a:srgbClr val="000000"/>
                  </a:solidFill>
                </a:uFill>
                <a:latin typeface="Arial Unicode MS" panose="020B0604020202020204" charset="-122"/>
                <a:ea typeface="Arial Unicode MS" panose="020B0604020202020204" charset="-122"/>
                <a:cs typeface="Arial Unicode MS" panose="020B0604020202020204" charset="-122"/>
              </a:rPr>
              <a:t>疑罪从无；</a:t>
            </a:r>
            <a:endParaRPr lang="en-US" altLang="zh-TW" sz="2400" b="1" kern="100" dirty="0">
              <a:solidFill>
                <a:srgbClr val="002060"/>
              </a:solidFill>
              <a:uFill>
                <a:solidFill>
                  <a:srgbClr val="000000"/>
                </a:solidFill>
              </a:uFill>
              <a:latin typeface="Arial Unicode MS" panose="020B0604020202020204" charset="-122"/>
              <a:ea typeface="Arial Unicode MS" panose="020B0604020202020204" charset="-122"/>
              <a:cs typeface="Arial Unicode MS" panose="020B0604020202020204" charset="-122"/>
            </a:endParaRPr>
          </a:p>
          <a:p>
            <a:pPr indent="0" algn="just">
              <a:buNone/>
              <a:tabLst>
                <a:tab pos="266700" algn="l"/>
                <a:tab pos="533400" algn="l"/>
                <a:tab pos="800100" algn="l"/>
                <a:tab pos="1066800" algn="l"/>
                <a:tab pos="1333500" algn="l"/>
                <a:tab pos="1600200" algn="l"/>
                <a:tab pos="1866900" algn="l"/>
                <a:tab pos="2133600" algn="l"/>
                <a:tab pos="2400300" algn="l"/>
                <a:tab pos="2667000" algn="l"/>
                <a:tab pos="2933700" algn="l"/>
                <a:tab pos="3200400" algn="l"/>
                <a:tab pos="3467100" algn="l"/>
                <a:tab pos="3733800" algn="l"/>
                <a:tab pos="4000500" algn="l"/>
                <a:tab pos="4267200" algn="l"/>
                <a:tab pos="4533900" algn="l"/>
                <a:tab pos="4800600" algn="l"/>
                <a:tab pos="5067300" algn="l"/>
                <a:tab pos="5334000" algn="l"/>
                <a:tab pos="5600700" algn="l"/>
                <a:tab pos="5798820" algn="l"/>
              </a:tabLst>
            </a:pPr>
            <a:r>
              <a:rPr lang="en-US" altLang="zh-TW" sz="2400" b="1" dirty="0">
                <a:solidFill>
                  <a:srgbClr val="002060"/>
                </a:solidFill>
                <a:latin typeface="Times New Roman" panose="02020603050405020304" pitchFamily="18" charset="0"/>
                <a:ea typeface="宋体" pitchFamily="2" charset="-122"/>
                <a:cs typeface="Times New Roman" panose="02020603050405020304" pitchFamily="18" charset="0"/>
              </a:rPr>
              <a:t>2</a:t>
            </a:r>
            <a:r>
              <a:rPr lang="zh-TW" altLang="zh-CN" sz="2400" b="1" dirty="0">
                <a:solidFill>
                  <a:srgbClr val="002060"/>
                </a:solidFill>
                <a:latin typeface="Times New Roman" panose="02020603050405020304" pitchFamily="18" charset="0"/>
                <a:ea typeface="宋体" pitchFamily="2" charset="-122"/>
                <a:cs typeface="Times New Roman" panose="02020603050405020304" pitchFamily="18" charset="0"/>
              </a:rPr>
              <a:t>．</a:t>
            </a:r>
            <a:r>
              <a:rPr lang="zh-TW" altLang="zh-CN" sz="2400" b="1"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黄志强案</a:t>
            </a:r>
            <a:r>
              <a:rPr lang="zh-TW" altLang="zh-CN" sz="2400" b="1" dirty="0">
                <a:solidFill>
                  <a:srgbClr val="002060"/>
                </a:solidFill>
                <a:latin typeface="微软雅黑" panose="020B0503020204020204" pitchFamily="34" charset="-122"/>
                <a:ea typeface="微软雅黑" panose="020B0503020204020204" pitchFamily="34" charset="-122"/>
              </a:rPr>
              <a:t>——</a:t>
            </a:r>
            <a:r>
              <a:rPr lang="zh-TW" altLang="zh-CN" sz="2400" b="1"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杀人真凶承认；</a:t>
            </a:r>
            <a:endParaRPr lang="en-US" altLang="zh-TW" sz="2400" b="1"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endParaRPr>
          </a:p>
          <a:p>
            <a:pPr indent="0" algn="just">
              <a:buNone/>
              <a:tabLst>
                <a:tab pos="266700" algn="l"/>
                <a:tab pos="533400" algn="l"/>
                <a:tab pos="800100" algn="l"/>
                <a:tab pos="1066800" algn="l"/>
                <a:tab pos="1333500" algn="l"/>
                <a:tab pos="1600200" algn="l"/>
                <a:tab pos="1866900" algn="l"/>
                <a:tab pos="2133600" algn="l"/>
                <a:tab pos="2400300" algn="l"/>
                <a:tab pos="2667000" algn="l"/>
                <a:tab pos="2933700" algn="l"/>
                <a:tab pos="3200400" algn="l"/>
                <a:tab pos="3467100" algn="l"/>
                <a:tab pos="3733800" algn="l"/>
                <a:tab pos="4000500" algn="l"/>
                <a:tab pos="4267200" algn="l"/>
                <a:tab pos="4533900" algn="l"/>
                <a:tab pos="4800600" algn="l"/>
                <a:tab pos="5067300" algn="l"/>
                <a:tab pos="5334000" algn="l"/>
                <a:tab pos="5600700" algn="l"/>
                <a:tab pos="5798820" algn="l"/>
              </a:tabLst>
            </a:pPr>
            <a:r>
              <a:rPr lang="en-US" altLang="zh-CN" sz="2400" b="1" dirty="0">
                <a:solidFill>
                  <a:srgbClr val="002060"/>
                </a:solidFill>
                <a:latin typeface="Times New Roman" panose="02020603050405020304" pitchFamily="18" charset="0"/>
                <a:ea typeface="宋体" pitchFamily="2" charset="-122"/>
                <a:cs typeface="Times New Roman" panose="02020603050405020304" pitchFamily="18" charset="0"/>
              </a:rPr>
              <a:t>3</a:t>
            </a:r>
            <a:r>
              <a:rPr lang="zh-CN" altLang="en-US" sz="2400" b="1" dirty="0">
                <a:solidFill>
                  <a:srgbClr val="002060"/>
                </a:solidFill>
                <a:latin typeface="Times New Roman" panose="02020603050405020304" pitchFamily="18" charset="0"/>
                <a:ea typeface="宋体" pitchFamily="2" charset="-122"/>
                <a:cs typeface="Times New Roman" panose="02020603050405020304" pitchFamily="18" charset="0"/>
              </a:rPr>
              <a:t>、</a:t>
            </a:r>
            <a:r>
              <a:rPr lang="en-US" altLang="zh-CN" sz="2400" b="1" kern="100" dirty="0">
                <a:solidFill>
                  <a:srgbClr val="002060"/>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 </a:t>
            </a:r>
            <a:r>
              <a:rPr lang="zh-TW" altLang="zh-CN" sz="2400" b="1" kern="100" dirty="0">
                <a:solidFill>
                  <a:srgbClr val="002060"/>
                </a:solidFill>
                <a:uFill>
                  <a:solidFill>
                    <a:srgbClr val="000000"/>
                  </a:solidFill>
                </a:uFill>
                <a:latin typeface="Arial Unicode MS" panose="020B0604020202020204" charset="-122"/>
                <a:ea typeface="Arial Unicode MS" panose="020B0604020202020204" charset="-122"/>
                <a:cs typeface="Arial Unicode MS" panose="020B0604020202020204" charset="-122"/>
              </a:rPr>
              <a:t>许金龙案（疑罪从无）</a:t>
            </a:r>
            <a:r>
              <a:rPr lang="en-US" altLang="zh-CN" sz="2400" b="1" kern="100" dirty="0">
                <a:solidFill>
                  <a:srgbClr val="002060"/>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 </a:t>
            </a:r>
            <a:r>
              <a:rPr lang="zh-TW" altLang="zh-CN" sz="2400" b="1" kern="100" dirty="0">
                <a:solidFill>
                  <a:srgbClr val="002060"/>
                </a:solidFill>
                <a:uFill>
                  <a:solidFill>
                    <a:srgbClr val="000000"/>
                  </a:solidFill>
                </a:uFill>
                <a:latin typeface="Arial Unicode MS" panose="020B0604020202020204" charset="-122"/>
                <a:ea typeface="Arial Unicode MS" panose="020B0604020202020204" charset="-122"/>
                <a:cs typeface="Arial Unicode MS" panose="020B0604020202020204" charset="-122"/>
              </a:rPr>
              <a:t>：</a:t>
            </a:r>
            <a:r>
              <a:rPr lang="zh-TW" altLang="zh-CN" sz="2400" b="1" kern="100" dirty="0">
                <a:solidFill>
                  <a:srgbClr val="002060"/>
                </a:solidFill>
                <a:uFill>
                  <a:solidFill>
                    <a:srgbClr val="000000"/>
                  </a:solidFill>
                </a:uFill>
                <a:latin typeface="Arial Unicode MS" panose="020B0604020202020204" charset="-122"/>
                <a:ea typeface="Times New Roman" panose="02020603050405020304" pitchFamily="18" charset="0"/>
                <a:cs typeface="Arial Unicode MS" panose="020B0604020202020204" charset="-122"/>
              </a:rPr>
              <a:t>2016</a:t>
            </a:r>
            <a:r>
              <a:rPr lang="zh-CN" altLang="zh-CN" sz="2400" b="1" kern="100" dirty="0">
                <a:solidFill>
                  <a:srgbClr val="002060"/>
                </a:solidFill>
                <a:uFill>
                  <a:solidFill>
                    <a:srgbClr val="000000"/>
                  </a:solidFill>
                </a:uFill>
                <a:latin typeface="Arial Unicode MS" panose="020B0604020202020204" charset="-122"/>
                <a:ea typeface="Arial Unicode MS" panose="020B0604020202020204" charset="-122"/>
                <a:cs typeface="Arial Unicode MS" panose="020B0604020202020204" charset="-122"/>
              </a:rPr>
              <a:t>年</a:t>
            </a:r>
            <a:r>
              <a:rPr lang="en-US" altLang="zh-CN" sz="2400" b="1" kern="100" dirty="0">
                <a:solidFill>
                  <a:srgbClr val="002060"/>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2</a:t>
            </a:r>
            <a:r>
              <a:rPr lang="zh-CN" altLang="zh-CN" sz="2400" b="1" kern="100" dirty="0">
                <a:solidFill>
                  <a:srgbClr val="002060"/>
                </a:solidFill>
                <a:uFill>
                  <a:solidFill>
                    <a:srgbClr val="000000"/>
                  </a:solidFill>
                </a:uFill>
                <a:latin typeface="Arial Unicode MS" panose="020B0604020202020204" charset="-122"/>
                <a:ea typeface="Arial Unicode MS" panose="020B0604020202020204" charset="-122"/>
                <a:cs typeface="Arial Unicode MS" panose="020B0604020202020204" charset="-122"/>
              </a:rPr>
              <a:t>月</a:t>
            </a:r>
            <a:r>
              <a:rPr lang="en-US" altLang="zh-CN" sz="2400" b="1" kern="100" dirty="0">
                <a:solidFill>
                  <a:srgbClr val="002060"/>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4</a:t>
            </a:r>
            <a:r>
              <a:rPr lang="zh-TW" altLang="zh-CN" sz="2400" b="1" kern="100" dirty="0">
                <a:solidFill>
                  <a:srgbClr val="002060"/>
                </a:solidFill>
                <a:uFill>
                  <a:solidFill>
                    <a:srgbClr val="000000"/>
                  </a:solidFill>
                </a:uFill>
                <a:latin typeface="Arial Unicode MS" panose="020B0604020202020204" charset="-122"/>
                <a:ea typeface="Arial Unicode MS" panose="020B0604020202020204" charset="-122"/>
                <a:cs typeface="Arial Unicode MS" panose="020B0604020202020204" charset="-122"/>
              </a:rPr>
              <a:t>日，福建省高级人民法院在莆田中院开庭再审许玉森、许金龙、张美来、蔡金森抢劫一案，当庭以事实不清、证据不足为由撤销原审判决</a:t>
            </a:r>
            <a:r>
              <a:rPr lang="en-US" altLang="zh-CN" sz="2400" b="1" kern="100" dirty="0">
                <a:solidFill>
                  <a:srgbClr val="002060"/>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a:t>
            </a:r>
            <a:r>
              <a:rPr lang="zh-TW" altLang="zh-CN" sz="2400" b="1" kern="100" dirty="0">
                <a:solidFill>
                  <a:srgbClr val="002060"/>
                </a:solidFill>
                <a:uFill>
                  <a:solidFill>
                    <a:srgbClr val="000000"/>
                  </a:solidFill>
                </a:uFill>
                <a:latin typeface="Arial Unicode MS" panose="020B0604020202020204" charset="-122"/>
                <a:ea typeface="Arial Unicode MS" panose="020B0604020202020204" charset="-122"/>
                <a:cs typeface="Arial Unicode MS" panose="020B0604020202020204" charset="-122"/>
              </a:rPr>
              <a:t>死刑，缓期</a:t>
            </a:r>
            <a:r>
              <a:rPr lang="en-US" altLang="zh-CN" sz="2400" b="1" kern="100" dirty="0">
                <a:solidFill>
                  <a:srgbClr val="002060"/>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2</a:t>
            </a:r>
            <a:r>
              <a:rPr lang="zh-TW" altLang="zh-CN" sz="2400" b="1" kern="100" dirty="0">
                <a:solidFill>
                  <a:srgbClr val="002060"/>
                </a:solidFill>
                <a:uFill>
                  <a:solidFill>
                    <a:srgbClr val="000000"/>
                  </a:solidFill>
                </a:uFill>
                <a:latin typeface="Arial Unicode MS" panose="020B0604020202020204" charset="-122"/>
                <a:ea typeface="Arial Unicode MS" panose="020B0604020202020204" charset="-122"/>
                <a:cs typeface="Arial Unicode MS" panose="020B0604020202020204" charset="-122"/>
              </a:rPr>
              <a:t>年执行</a:t>
            </a:r>
            <a:r>
              <a:rPr lang="en-US" altLang="zh-CN" sz="2400" b="1" kern="100" dirty="0">
                <a:solidFill>
                  <a:srgbClr val="002060"/>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a:t>
            </a:r>
            <a:r>
              <a:rPr lang="ja-JP" altLang="zh-CN" sz="2400" b="1" kern="100" dirty="0">
                <a:solidFill>
                  <a:srgbClr val="002060"/>
                </a:solidFill>
                <a:uFill>
                  <a:solidFill>
                    <a:srgbClr val="000000"/>
                  </a:solidFill>
                </a:uFill>
                <a:latin typeface="Arial Unicode MS" panose="020B0604020202020204" charset="-122"/>
                <a:ea typeface="Arial Unicode MS" panose="020B0604020202020204" charset="-122"/>
                <a:cs typeface="Arial Unicode MS" panose="020B0604020202020204" charset="-122"/>
              </a:rPr>
              <a:t>，宣告</a:t>
            </a:r>
            <a:r>
              <a:rPr lang="en-US" altLang="zh-CN" sz="2400" b="1" kern="100" dirty="0">
                <a:solidFill>
                  <a:srgbClr val="002060"/>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4</a:t>
            </a:r>
            <a:r>
              <a:rPr lang="zh-TW" altLang="zh-CN" sz="2400" b="1" kern="100" dirty="0">
                <a:solidFill>
                  <a:srgbClr val="002060"/>
                </a:solidFill>
                <a:uFill>
                  <a:solidFill>
                    <a:srgbClr val="000000"/>
                  </a:solidFill>
                </a:uFill>
                <a:latin typeface="Arial Unicode MS" panose="020B0604020202020204" charset="-122"/>
                <a:ea typeface="Arial Unicode MS" panose="020B0604020202020204" charset="-122"/>
                <a:cs typeface="Arial Unicode MS" panose="020B0604020202020204" charset="-122"/>
              </a:rPr>
              <a:t>人无罪。蒙冤</a:t>
            </a:r>
            <a:r>
              <a:rPr lang="en-US" altLang="zh-CN" sz="2400" b="1" kern="100" dirty="0">
                <a:solidFill>
                  <a:srgbClr val="002060"/>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22</a:t>
            </a:r>
            <a:r>
              <a:rPr lang="zh-TW" altLang="zh-CN" sz="2400" b="1" kern="100" dirty="0">
                <a:solidFill>
                  <a:srgbClr val="002060"/>
                </a:solidFill>
                <a:uFill>
                  <a:solidFill>
                    <a:srgbClr val="000000"/>
                  </a:solidFill>
                </a:uFill>
                <a:latin typeface="Arial Unicode MS" panose="020B0604020202020204" charset="-122"/>
                <a:ea typeface="Arial Unicode MS" panose="020B0604020202020204" charset="-122"/>
                <a:cs typeface="Arial Unicode MS" panose="020B0604020202020204" charset="-122"/>
              </a:rPr>
              <a:t>载，许金龙</a:t>
            </a:r>
            <a:r>
              <a:rPr lang="en-US" altLang="zh-CN" sz="2400" b="1" kern="100" dirty="0">
                <a:solidFill>
                  <a:srgbClr val="002060"/>
                </a:solidFill>
                <a:uFill>
                  <a:solidFill>
                    <a:srgbClr val="000000"/>
                  </a:solidFill>
                </a:uFill>
                <a:latin typeface="Times New Roman" panose="02020603050405020304" pitchFamily="18" charset="0"/>
                <a:ea typeface="Arial Unicode MS" panose="020B0604020202020204" charset="-122"/>
                <a:cs typeface="Arial Unicode MS" panose="020B0604020202020204" charset="-122"/>
              </a:rPr>
              <a:t>4</a:t>
            </a:r>
            <a:r>
              <a:rPr lang="zh-TW" altLang="zh-CN" sz="2400" b="1" kern="100" dirty="0">
                <a:solidFill>
                  <a:srgbClr val="002060"/>
                </a:solidFill>
                <a:uFill>
                  <a:solidFill>
                    <a:srgbClr val="000000"/>
                  </a:solidFill>
                </a:uFill>
                <a:latin typeface="Arial Unicode MS" panose="020B0604020202020204" charset="-122"/>
                <a:ea typeface="Arial Unicode MS" panose="020B0604020202020204" charset="-122"/>
                <a:cs typeface="Arial Unicode MS" panose="020B0604020202020204" charset="-122"/>
              </a:rPr>
              <a:t>人终得平反。</a:t>
            </a:r>
            <a:endParaRPr lang="en-US" altLang="zh-TW" sz="2400" b="1" kern="100" dirty="0">
              <a:solidFill>
                <a:srgbClr val="002060"/>
              </a:solidFill>
              <a:uFill>
                <a:solidFill>
                  <a:srgbClr val="000000"/>
                </a:solidFill>
              </a:uFill>
              <a:latin typeface="Arial Unicode MS" panose="020B0604020202020204" charset="-122"/>
              <a:ea typeface="Arial Unicode MS" panose="020B0604020202020204" charset="-122"/>
              <a:cs typeface="Arial Unicode MS" panose="020B0604020202020204" charset="-122"/>
            </a:endParaRPr>
          </a:p>
          <a:p>
            <a:pPr indent="0" algn="just">
              <a:buNone/>
              <a:tabLst>
                <a:tab pos="266700" algn="l"/>
                <a:tab pos="533400" algn="l"/>
                <a:tab pos="800100" algn="l"/>
                <a:tab pos="1066800" algn="l"/>
                <a:tab pos="1333500" algn="l"/>
                <a:tab pos="1600200" algn="l"/>
                <a:tab pos="1866900" algn="l"/>
                <a:tab pos="2133600" algn="l"/>
                <a:tab pos="2400300" algn="l"/>
                <a:tab pos="2667000" algn="l"/>
                <a:tab pos="2933700" algn="l"/>
                <a:tab pos="3200400" algn="l"/>
                <a:tab pos="3467100" algn="l"/>
                <a:tab pos="3733800" algn="l"/>
                <a:tab pos="4000500" algn="l"/>
                <a:tab pos="4267200" algn="l"/>
                <a:tab pos="4533900" algn="l"/>
                <a:tab pos="4800600" algn="l"/>
                <a:tab pos="5067300" algn="l"/>
                <a:tab pos="5334000" algn="l"/>
                <a:tab pos="5600700" algn="l"/>
                <a:tab pos="5798820" algn="l"/>
              </a:tabLst>
            </a:pPr>
            <a:r>
              <a:rPr lang="en-US" altLang="zh-CN" sz="2400" b="1" kern="100" dirty="0">
                <a:solidFill>
                  <a:srgbClr val="002060"/>
                </a:solidFill>
                <a:uFill>
                  <a:solidFill>
                    <a:srgbClr val="000000"/>
                  </a:solidFill>
                </a:uFill>
                <a:latin typeface="Arial Unicode MS" panose="020B0604020202020204" charset="-122"/>
                <a:ea typeface="Arial Unicode MS" panose="020B0604020202020204" charset="-122"/>
                <a:cs typeface="Arial Unicode MS" panose="020B0604020202020204" charset="-122"/>
              </a:rPr>
              <a:t>4</a:t>
            </a:r>
            <a:r>
              <a:rPr lang="zh-CN" altLang="en-US" sz="2400" b="1" kern="100" dirty="0">
                <a:solidFill>
                  <a:srgbClr val="002060"/>
                </a:solidFill>
                <a:uFill>
                  <a:solidFill>
                    <a:srgbClr val="000000"/>
                  </a:solidFill>
                </a:uFill>
                <a:latin typeface="Arial Unicode MS" panose="020B0604020202020204" charset="-122"/>
                <a:ea typeface="Arial Unicode MS" panose="020B0604020202020204" charset="-122"/>
                <a:cs typeface="Arial Unicode MS" panose="020B0604020202020204" charset="-122"/>
              </a:rPr>
              <a:t>、新疆谭新善案</a:t>
            </a:r>
            <a:endParaRPr lang="en-US" altLang="zh-CN" sz="2400" b="1" kern="100" dirty="0">
              <a:solidFill>
                <a:srgbClr val="002060"/>
              </a:solidFill>
              <a:uFill>
                <a:solidFill>
                  <a:srgbClr val="000000"/>
                </a:solidFill>
              </a:uFill>
              <a:latin typeface="Arial Unicode MS" panose="020B0604020202020204" charset="-122"/>
              <a:ea typeface="Arial Unicode MS" panose="020B0604020202020204" charset="-122"/>
              <a:cs typeface="Arial Unicode MS" panose="020B0604020202020204" charset="-122"/>
            </a:endParaRPr>
          </a:p>
          <a:p>
            <a:pPr indent="0" algn="just">
              <a:buNone/>
              <a:tabLst>
                <a:tab pos="266700" algn="l"/>
                <a:tab pos="533400" algn="l"/>
                <a:tab pos="800100" algn="l"/>
                <a:tab pos="1066800" algn="l"/>
                <a:tab pos="1333500" algn="l"/>
                <a:tab pos="1600200" algn="l"/>
                <a:tab pos="1866900" algn="l"/>
                <a:tab pos="2133600" algn="l"/>
                <a:tab pos="2400300" algn="l"/>
                <a:tab pos="2667000" algn="l"/>
                <a:tab pos="2933700" algn="l"/>
                <a:tab pos="3200400" algn="l"/>
                <a:tab pos="3467100" algn="l"/>
                <a:tab pos="3733800" algn="l"/>
                <a:tab pos="4000500" algn="l"/>
                <a:tab pos="4267200" algn="l"/>
                <a:tab pos="4533900" algn="l"/>
                <a:tab pos="4800600" algn="l"/>
                <a:tab pos="5067300" algn="l"/>
                <a:tab pos="5334000" algn="l"/>
                <a:tab pos="5600700" algn="l"/>
                <a:tab pos="5798820" algn="l"/>
              </a:tabLst>
            </a:pPr>
            <a:r>
              <a:rPr lang="en-US" altLang="zh-CN" sz="2400" b="1" kern="100" dirty="0">
                <a:solidFill>
                  <a:srgbClr val="002060"/>
                </a:solidFill>
                <a:uFill>
                  <a:solidFill>
                    <a:srgbClr val="000000"/>
                  </a:solidFill>
                </a:uFill>
                <a:latin typeface="Arial Unicode MS" panose="020B0604020202020204" charset="-122"/>
                <a:ea typeface="Arial Unicode MS" panose="020B0604020202020204" charset="-122"/>
                <a:cs typeface="Arial Unicode MS" panose="020B0604020202020204" charset="-122"/>
              </a:rPr>
              <a:t>5</a:t>
            </a:r>
            <a:r>
              <a:rPr lang="zh-CN" altLang="en-US" sz="2400" b="1" kern="100" dirty="0">
                <a:solidFill>
                  <a:srgbClr val="002060"/>
                </a:solidFill>
                <a:uFill>
                  <a:solidFill>
                    <a:srgbClr val="000000"/>
                  </a:solidFill>
                </a:uFill>
                <a:latin typeface="Arial Unicode MS" panose="020B0604020202020204" charset="-122"/>
                <a:ea typeface="Arial Unicode MS" panose="020B0604020202020204" charset="-122"/>
                <a:cs typeface="Arial Unicode MS" panose="020B0604020202020204" charset="-122"/>
              </a:rPr>
              <a:t>、甘肃‘沈六斤’案</a:t>
            </a:r>
            <a:endParaRPr lang="en-US" altLang="zh-CN" sz="2400" b="1" kern="100" dirty="0">
              <a:solidFill>
                <a:srgbClr val="002060"/>
              </a:solidFill>
              <a:uFill>
                <a:solidFill>
                  <a:srgbClr val="000000"/>
                </a:solidFill>
              </a:uFill>
              <a:latin typeface="Arial Unicode MS" panose="020B0604020202020204" charset="-122"/>
              <a:ea typeface="Arial Unicode MS" panose="020B0604020202020204" charset="-122"/>
              <a:cs typeface="Arial Unicode MS" panose="020B0604020202020204" charset="-122"/>
            </a:endParaRPr>
          </a:p>
          <a:p>
            <a:pPr indent="0" algn="just">
              <a:buNone/>
              <a:tabLst>
                <a:tab pos="266700" algn="l"/>
                <a:tab pos="533400" algn="l"/>
                <a:tab pos="800100" algn="l"/>
                <a:tab pos="1066800" algn="l"/>
                <a:tab pos="1333500" algn="l"/>
                <a:tab pos="1600200" algn="l"/>
                <a:tab pos="1866900" algn="l"/>
                <a:tab pos="2133600" algn="l"/>
                <a:tab pos="2400300" algn="l"/>
                <a:tab pos="2667000" algn="l"/>
                <a:tab pos="2933700" algn="l"/>
                <a:tab pos="3200400" algn="l"/>
                <a:tab pos="3467100" algn="l"/>
                <a:tab pos="3733800" algn="l"/>
                <a:tab pos="4000500" algn="l"/>
                <a:tab pos="4267200" algn="l"/>
                <a:tab pos="4533900" algn="l"/>
                <a:tab pos="4800600" algn="l"/>
                <a:tab pos="5067300" algn="l"/>
                <a:tab pos="5334000" algn="l"/>
                <a:tab pos="5600700" algn="l"/>
                <a:tab pos="5798820" algn="l"/>
              </a:tabLst>
            </a:pPr>
            <a:r>
              <a:rPr lang="en-US" altLang="zh-CN" sz="2400" b="1" kern="100" dirty="0">
                <a:solidFill>
                  <a:srgbClr val="002060"/>
                </a:solidFill>
                <a:uFill>
                  <a:solidFill>
                    <a:srgbClr val="000000"/>
                  </a:solidFill>
                </a:uFill>
                <a:latin typeface="Arial Unicode MS" panose="020B0604020202020204" charset="-122"/>
                <a:ea typeface="Arial Unicode MS" panose="020B0604020202020204" charset="-122"/>
                <a:cs typeface="Arial Unicode MS" panose="020B0604020202020204" charset="-122"/>
              </a:rPr>
              <a:t>6</a:t>
            </a:r>
            <a:r>
              <a:rPr lang="zh-CN" altLang="en-US" sz="2400" b="1" kern="100" dirty="0">
                <a:solidFill>
                  <a:srgbClr val="002060"/>
                </a:solidFill>
                <a:uFill>
                  <a:solidFill>
                    <a:srgbClr val="000000"/>
                  </a:solidFill>
                </a:uFill>
                <a:latin typeface="Arial Unicode MS" panose="020B0604020202020204" charset="-122"/>
                <a:ea typeface="Arial Unicode MS" panose="020B0604020202020204" charset="-122"/>
                <a:cs typeface="Arial Unicode MS" panose="020B0604020202020204" charset="-122"/>
              </a:rPr>
              <a:t>、天津李松案</a:t>
            </a:r>
            <a:endParaRPr lang="en-US" altLang="zh-CN" sz="2400" b="1" kern="100" dirty="0">
              <a:solidFill>
                <a:srgbClr val="002060"/>
              </a:solidFill>
              <a:uFill>
                <a:solidFill>
                  <a:srgbClr val="000000"/>
                </a:solidFill>
              </a:uFill>
              <a:latin typeface="Arial Unicode MS" panose="020B0604020202020204" charset="-122"/>
              <a:ea typeface="Arial Unicode MS" panose="020B0604020202020204" charset="-122"/>
              <a:cs typeface="Arial Unicode MS" panose="020B0604020202020204" charset="-122"/>
            </a:endParaRPr>
          </a:p>
          <a:p>
            <a:pPr indent="0" algn="just">
              <a:buNone/>
              <a:tabLst>
                <a:tab pos="266700" algn="l"/>
                <a:tab pos="533400" algn="l"/>
                <a:tab pos="800100" algn="l"/>
                <a:tab pos="1066800" algn="l"/>
                <a:tab pos="1333500" algn="l"/>
                <a:tab pos="1600200" algn="l"/>
                <a:tab pos="1866900" algn="l"/>
                <a:tab pos="2133600" algn="l"/>
                <a:tab pos="2400300" algn="l"/>
                <a:tab pos="2667000" algn="l"/>
                <a:tab pos="2933700" algn="l"/>
                <a:tab pos="3200400" algn="l"/>
                <a:tab pos="3467100" algn="l"/>
                <a:tab pos="3733800" algn="l"/>
                <a:tab pos="4000500" algn="l"/>
                <a:tab pos="4267200" algn="l"/>
                <a:tab pos="4533900" algn="l"/>
                <a:tab pos="4800600" algn="l"/>
                <a:tab pos="5067300" algn="l"/>
                <a:tab pos="5334000" algn="l"/>
                <a:tab pos="5600700" algn="l"/>
                <a:tab pos="5798820" algn="l"/>
              </a:tabLst>
            </a:pPr>
            <a:r>
              <a:rPr lang="en-US" altLang="zh-CN" sz="2400" b="1" kern="100" dirty="0">
                <a:solidFill>
                  <a:srgbClr val="002060"/>
                </a:solidFill>
                <a:uFill>
                  <a:solidFill>
                    <a:srgbClr val="000000"/>
                  </a:solidFill>
                </a:uFill>
                <a:latin typeface="Arial Unicode MS" panose="020B0604020202020204" charset="-122"/>
                <a:ea typeface="Arial Unicode MS" panose="020B0604020202020204" charset="-122"/>
                <a:cs typeface="Arial Unicode MS" panose="020B0604020202020204" charset="-122"/>
              </a:rPr>
              <a:t>7</a:t>
            </a:r>
            <a:r>
              <a:rPr lang="zh-CN" altLang="en-US" sz="2400" b="1" kern="100" dirty="0">
                <a:solidFill>
                  <a:srgbClr val="002060"/>
                </a:solidFill>
                <a:uFill>
                  <a:solidFill>
                    <a:srgbClr val="000000"/>
                  </a:solidFill>
                </a:uFill>
                <a:latin typeface="Arial Unicode MS" panose="020B0604020202020204" charset="-122"/>
                <a:ea typeface="Arial Unicode MS" panose="020B0604020202020204" charset="-122"/>
                <a:cs typeface="Arial Unicode MS" panose="020B0604020202020204" charset="-122"/>
              </a:rPr>
              <a:t>、吉林刘吉强案</a:t>
            </a:r>
            <a:endParaRPr lang="en-US" altLang="zh-CN" sz="2400" b="1" kern="100" dirty="0">
              <a:solidFill>
                <a:srgbClr val="002060"/>
              </a:solidFill>
              <a:uFill>
                <a:solidFill>
                  <a:srgbClr val="000000"/>
                </a:solidFill>
              </a:uFill>
              <a:latin typeface="Arial Unicode MS" panose="020B0604020202020204" charset="-122"/>
              <a:ea typeface="Arial Unicode MS" panose="020B0604020202020204" charset="-122"/>
              <a:cs typeface="Arial Unicode MS" panose="020B0604020202020204" charset="-122"/>
            </a:endParaRPr>
          </a:p>
          <a:p>
            <a:pPr indent="0" algn="just">
              <a:buNone/>
              <a:tabLst>
                <a:tab pos="266700" algn="l"/>
                <a:tab pos="533400" algn="l"/>
                <a:tab pos="800100" algn="l"/>
                <a:tab pos="1066800" algn="l"/>
                <a:tab pos="1333500" algn="l"/>
                <a:tab pos="1600200" algn="l"/>
                <a:tab pos="1866900" algn="l"/>
                <a:tab pos="2133600" algn="l"/>
                <a:tab pos="2400300" algn="l"/>
                <a:tab pos="2667000" algn="l"/>
                <a:tab pos="2933700" algn="l"/>
                <a:tab pos="3200400" algn="l"/>
                <a:tab pos="3467100" algn="l"/>
                <a:tab pos="3733800" algn="l"/>
                <a:tab pos="4000500" algn="l"/>
                <a:tab pos="4267200" algn="l"/>
                <a:tab pos="4533900" algn="l"/>
                <a:tab pos="4800600" algn="l"/>
                <a:tab pos="5067300" algn="l"/>
                <a:tab pos="5334000" algn="l"/>
                <a:tab pos="5600700" algn="l"/>
                <a:tab pos="5798820" algn="l"/>
              </a:tabLst>
            </a:pPr>
            <a:r>
              <a:rPr lang="en-US" altLang="zh-CN" sz="2400" b="1" kern="100" dirty="0">
                <a:solidFill>
                  <a:srgbClr val="002060"/>
                </a:solidFill>
                <a:uFill>
                  <a:solidFill>
                    <a:srgbClr val="000000"/>
                  </a:solidFill>
                </a:uFill>
                <a:latin typeface="Arial Unicode MS" panose="020B0604020202020204" charset="-122"/>
                <a:ea typeface="Arial Unicode MS" panose="020B0604020202020204" charset="-122"/>
                <a:cs typeface="Arial Unicode MS" panose="020B0604020202020204" charset="-122"/>
              </a:rPr>
              <a:t>8</a:t>
            </a:r>
            <a:r>
              <a:rPr lang="zh-CN" altLang="en-US" sz="2400" b="1" kern="100" dirty="0">
                <a:solidFill>
                  <a:srgbClr val="002060"/>
                </a:solidFill>
                <a:uFill>
                  <a:solidFill>
                    <a:srgbClr val="000000"/>
                  </a:solidFill>
                </a:uFill>
                <a:latin typeface="Arial Unicode MS" panose="020B0604020202020204" charset="-122"/>
                <a:ea typeface="Arial Unicode MS" panose="020B0604020202020204" charset="-122"/>
                <a:cs typeface="Arial Unicode MS" panose="020B0604020202020204" charset="-122"/>
              </a:rPr>
              <a:t>、安徽杨德武案</a:t>
            </a:r>
            <a:endParaRPr lang="zh-CN" altLang="zh-CN" sz="2400" b="1" kern="100" dirty="0">
              <a:solidFill>
                <a:srgbClr val="002060"/>
              </a:solidFill>
              <a:uFill>
                <a:solidFill>
                  <a:srgbClr val="000000"/>
                </a:solidFill>
              </a:uFill>
              <a:latin typeface="Arial Unicode MS" panose="020B0604020202020204" charset="-122"/>
              <a:ea typeface="Arial Unicode MS" panose="020B0604020202020204" charset="-122"/>
              <a:cs typeface="Arial Unicode MS" panose="020B0604020202020204" charset="-122"/>
            </a:endParaRPr>
          </a:p>
          <a:p>
            <a:endParaRPr lang="en-US" altLang="zh-TW" dirty="0">
              <a:latin typeface="Times New Roman" panose="02020603050405020304" pitchFamily="18" charset="0"/>
              <a:ea typeface="宋体" pitchFamily="2" charset="-122"/>
              <a:cs typeface="Times New Roman" panose="02020603050405020304" pitchFamily="18" charset="0"/>
            </a:endParaRPr>
          </a:p>
          <a:p>
            <a:endParaRPr lang="zh-CN" altLang="en-US" dirty="0"/>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2017</a:t>
            </a:r>
            <a:r>
              <a:rPr lang="zh-CN" altLang="en-US" dirty="0"/>
              <a:t>年</a:t>
            </a:r>
            <a:endParaRPr lang="zh-CN" altLang="en-US" dirty="0"/>
          </a:p>
        </p:txBody>
      </p:sp>
      <p:sp>
        <p:nvSpPr>
          <p:cNvPr id="3" name="文本占位符 2"/>
          <p:cNvSpPr>
            <a:spLocks noGrp="1"/>
          </p:cNvSpPr>
          <p:nvPr>
            <p:ph type="body" idx="1"/>
          </p:nvPr>
        </p:nvSpPr>
        <p:spPr>
          <a:xfrm>
            <a:off x="301625" y="1904999"/>
            <a:ext cx="8540750" cy="4415287"/>
          </a:xfrm>
        </p:spPr>
        <p:txBody>
          <a:bodyPr>
            <a:normAutofit fontScale="70000" lnSpcReduction="20000"/>
          </a:bodyPr>
          <a:lstStyle/>
          <a:p>
            <a:r>
              <a:rPr lang="en-US" altLang="zh-CN" b="1" dirty="0"/>
              <a:t>1</a:t>
            </a:r>
            <a:r>
              <a:rPr lang="zh-CN" altLang="en-US" b="1" dirty="0"/>
              <a:t>、 聂树斌案</a:t>
            </a:r>
            <a:endParaRPr lang="zh-CN" altLang="en-US" b="1" dirty="0"/>
          </a:p>
          <a:p>
            <a:r>
              <a:rPr lang="zh-CN" altLang="en-US" b="1" dirty="0"/>
              <a:t>案件回顾：</a:t>
            </a:r>
            <a:endParaRPr lang="zh-CN" altLang="en-US" b="1" dirty="0"/>
          </a:p>
          <a:p>
            <a:r>
              <a:rPr lang="en-US" altLang="zh-CN" b="1" dirty="0"/>
              <a:t>1995</a:t>
            </a:r>
            <a:r>
              <a:rPr lang="zh-CN" altLang="en-US" b="1" dirty="0"/>
              <a:t>年，河北省鹿泉县人聂树斌因故意杀人、强奸妇女被判处死刑，剥夺政治权利终身，同年</a:t>
            </a:r>
            <a:r>
              <a:rPr lang="en-US" altLang="zh-CN" b="1" dirty="0"/>
              <a:t>4</a:t>
            </a:r>
            <a:r>
              <a:rPr lang="zh-CN" altLang="en-US" b="1" dirty="0"/>
              <a:t>月</a:t>
            </a:r>
            <a:r>
              <a:rPr lang="en-US" altLang="zh-CN" b="1" dirty="0"/>
              <a:t>27</a:t>
            </a:r>
            <a:r>
              <a:rPr lang="zh-CN" altLang="en-US" b="1" dirty="0"/>
              <a:t>日被执行死刑。</a:t>
            </a:r>
            <a:r>
              <a:rPr lang="en-US" altLang="zh-CN" b="1" dirty="0"/>
              <a:t>2014</a:t>
            </a:r>
            <a:r>
              <a:rPr lang="zh-CN" altLang="en-US" b="1" dirty="0"/>
              <a:t>年，最高人民法院指令山东省高级人民法院复查河北省高级人民法院终审的聂树斌故意杀人、强奸妇女一案。</a:t>
            </a:r>
            <a:endParaRPr lang="en-US" altLang="zh-CN" b="1" dirty="0"/>
          </a:p>
          <a:p>
            <a:r>
              <a:rPr lang="en-US" altLang="zh-CN" b="1" dirty="0"/>
              <a:t>2015</a:t>
            </a:r>
            <a:r>
              <a:rPr lang="zh-CN" altLang="en-US" b="1" dirty="0"/>
              <a:t>年，聂树斌案复查期限先后延期四次，至</a:t>
            </a:r>
            <a:r>
              <a:rPr lang="en-US" altLang="zh-CN" b="1" dirty="0"/>
              <a:t>2016</a:t>
            </a:r>
            <a:r>
              <a:rPr lang="zh-CN" altLang="en-US" b="1" dirty="0"/>
              <a:t>年</a:t>
            </a:r>
            <a:r>
              <a:rPr lang="en-US" altLang="zh-CN" b="1" dirty="0"/>
              <a:t>6</a:t>
            </a:r>
            <a:r>
              <a:rPr lang="zh-CN" altLang="en-US" b="1" dirty="0"/>
              <a:t>月。复查后因不能认定聂树斌杀人强奸，</a:t>
            </a:r>
            <a:r>
              <a:rPr lang="en-US" altLang="zh-CN" b="1" dirty="0"/>
              <a:t>2016</a:t>
            </a:r>
            <a:r>
              <a:rPr lang="zh-CN" altLang="en-US" b="1" dirty="0"/>
              <a:t>年</a:t>
            </a:r>
            <a:r>
              <a:rPr lang="en-US" altLang="zh-CN" b="1" dirty="0"/>
              <a:t>12</a:t>
            </a:r>
            <a:r>
              <a:rPr lang="zh-CN" altLang="en-US" b="1" dirty="0"/>
              <a:t>月，最高人民法院第二巡回法庭对原审被告人聂树斌故意杀人、强奸妇女再审案公开宣判，宣告撤销原审判决，改判聂树斌无罪。</a:t>
            </a:r>
            <a:endParaRPr lang="en-US" altLang="zh-CN" b="1" dirty="0"/>
          </a:p>
          <a:p>
            <a:r>
              <a:rPr lang="en-US" altLang="zh-CN" b="1" dirty="0"/>
              <a:t>2017</a:t>
            </a:r>
            <a:r>
              <a:rPr lang="zh-CN" altLang="en-US" b="1" dirty="0"/>
              <a:t>年</a:t>
            </a:r>
            <a:r>
              <a:rPr lang="en-US" altLang="zh-CN" b="1" dirty="0"/>
              <a:t>3</a:t>
            </a:r>
            <a:r>
              <a:rPr lang="zh-CN" altLang="en-US" b="1" dirty="0"/>
              <a:t>月</a:t>
            </a:r>
            <a:r>
              <a:rPr lang="en-US" altLang="zh-CN" b="1" dirty="0"/>
              <a:t>30</a:t>
            </a:r>
            <a:r>
              <a:rPr lang="zh-CN" altLang="en-US" b="1" dirty="0"/>
              <a:t>日，河北省高级人民法院通告，该院已对聂树斌家属聂学生、张焕枝申请国家赔偿案作出赔偿决定，赔偿金额共计</a:t>
            </a:r>
            <a:r>
              <a:rPr lang="en-US" altLang="zh-CN" b="1" dirty="0"/>
              <a:t>268</a:t>
            </a:r>
            <a:r>
              <a:rPr lang="zh-CN" altLang="en-US" b="1" dirty="0"/>
              <a:t>万余元。</a:t>
            </a:r>
            <a:endParaRPr lang="zh-CN" altLang="en-US" b="1" dirty="0"/>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p:txBody>
          <a:bodyPr>
            <a:normAutofit fontScale="85000" lnSpcReduction="20000"/>
          </a:bodyPr>
          <a:lstStyle/>
          <a:p>
            <a:r>
              <a:rPr lang="en-US" altLang="zh-CN" b="1" dirty="0"/>
              <a:t>2</a:t>
            </a:r>
            <a:r>
              <a:rPr lang="zh-CN" altLang="en-US" b="1" dirty="0"/>
              <a:t>、 孙氏三兄弟案</a:t>
            </a:r>
            <a:endParaRPr lang="en-US" altLang="zh-CN" b="1" dirty="0"/>
          </a:p>
          <a:p>
            <a:r>
              <a:rPr lang="en-US" altLang="zh-CN" b="1" dirty="0"/>
              <a:t>2013</a:t>
            </a:r>
            <a:r>
              <a:rPr lang="zh-CN" altLang="en-US" b="1" dirty="0"/>
              <a:t>年，孙氏三兄弟孙宝东、孙宝国、孙宝民以故意杀人罪和组织、领导黑社会性质组织罪等多项罪名终审获刑，其他同案犯也被判处有期徒刑或拘役。</a:t>
            </a:r>
            <a:r>
              <a:rPr lang="en-US" altLang="zh-CN" b="1" dirty="0"/>
              <a:t>2017</a:t>
            </a:r>
            <a:r>
              <a:rPr lang="zh-CN" altLang="en-US" b="1" dirty="0"/>
              <a:t>年</a:t>
            </a:r>
            <a:r>
              <a:rPr lang="en-US" altLang="zh-CN" b="1" dirty="0"/>
              <a:t>1</a:t>
            </a:r>
            <a:r>
              <a:rPr lang="zh-CN" altLang="en-US" b="1" dirty="0"/>
              <a:t>月</a:t>
            </a:r>
            <a:r>
              <a:rPr lang="en-US" altLang="zh-CN" b="1" dirty="0"/>
              <a:t>22</a:t>
            </a:r>
            <a:r>
              <a:rPr lang="zh-CN" altLang="en-US" b="1" dirty="0"/>
              <a:t>日，最高人民法院第二巡回法庭再审后当庭宣判，被告人孙宝国、孙宝东的“故意杀人罪”“组织领导和参与黑社会性质组织罪”等多项原审判决当庭撤销。</a:t>
            </a:r>
            <a:r>
              <a:rPr lang="en-US" altLang="zh-CN" b="1" dirty="0"/>
              <a:t>16</a:t>
            </a:r>
            <a:r>
              <a:rPr lang="zh-CN" altLang="en-US" b="1" dirty="0"/>
              <a:t>名被告人中有</a:t>
            </a:r>
            <a:r>
              <a:rPr lang="en-US" altLang="zh-CN" b="1" dirty="0"/>
              <a:t>9</a:t>
            </a:r>
            <a:r>
              <a:rPr lang="zh-CN" altLang="en-US" b="1" dirty="0"/>
              <a:t>人被改判无罪，而其他</a:t>
            </a:r>
            <a:r>
              <a:rPr lang="en-US" altLang="zh-CN" b="1" dirty="0"/>
              <a:t>7</a:t>
            </a:r>
            <a:r>
              <a:rPr lang="zh-CN" altLang="en-US" b="1" dirty="0"/>
              <a:t>名被告人的实际服刑期限也均已超过了此次改判的刑期。正在服刑的孙宝国、孙宝东等</a:t>
            </a:r>
            <a:r>
              <a:rPr lang="en-US" altLang="zh-CN" b="1" dirty="0"/>
              <a:t>4</a:t>
            </a:r>
            <a:r>
              <a:rPr lang="zh-CN" altLang="en-US" b="1" dirty="0"/>
              <a:t>名被告人被依法当庭释放。</a:t>
            </a:r>
            <a:endParaRPr lang="zh-CN" altLang="en-US" b="1" dirty="0"/>
          </a:p>
          <a:p>
            <a:r>
              <a:rPr lang="zh-CN" altLang="en-US" dirty="0"/>
              <a:t>。</a:t>
            </a:r>
            <a:endParaRPr lang="zh-CN" altLang="en-US" dirty="0"/>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p:txBody>
          <a:bodyPr>
            <a:normAutofit fontScale="70000" lnSpcReduction="20000"/>
          </a:bodyPr>
          <a:lstStyle/>
          <a:p>
            <a:r>
              <a:rPr lang="en-US" altLang="zh-CN" b="1" dirty="0"/>
              <a:t>3</a:t>
            </a:r>
            <a:r>
              <a:rPr lang="zh-CN" altLang="en-US" b="1" dirty="0"/>
              <a:t>、无证收购玉米案</a:t>
            </a:r>
            <a:endParaRPr lang="en-US" altLang="zh-CN" b="1" dirty="0"/>
          </a:p>
          <a:p>
            <a:r>
              <a:rPr lang="en-US" altLang="zh-CN" dirty="0"/>
              <a:t>2016</a:t>
            </a:r>
            <a:r>
              <a:rPr lang="zh-CN" altLang="en-US" dirty="0"/>
              <a:t>年</a:t>
            </a:r>
            <a:r>
              <a:rPr lang="en-US" altLang="zh-CN" dirty="0"/>
              <a:t>4</a:t>
            </a:r>
            <a:r>
              <a:rPr lang="zh-CN" altLang="en-US" dirty="0"/>
              <a:t>月</a:t>
            </a:r>
            <a:r>
              <a:rPr lang="en-US" altLang="zh-CN" dirty="0"/>
              <a:t>15</a:t>
            </a:r>
            <a:r>
              <a:rPr lang="zh-CN" altLang="en-US" dirty="0"/>
              <a:t>日，内蒙古巴彦淖尔市临河区法院以王力军没有办理粮食经营许可证和工商营业执照而进行粮食收购活动，违反</a:t>
            </a:r>
            <a:r>
              <a:rPr lang="en-US" altLang="zh-CN" dirty="0"/>
              <a:t>《</a:t>
            </a:r>
            <a:r>
              <a:rPr lang="zh-CN" altLang="en-US" dirty="0"/>
              <a:t>粮食流通管理条例</a:t>
            </a:r>
            <a:r>
              <a:rPr lang="en-US" altLang="zh-CN" dirty="0"/>
              <a:t>》</a:t>
            </a:r>
            <a:r>
              <a:rPr lang="zh-CN" altLang="en-US" dirty="0"/>
              <a:t>相关规定为由，以非法经营罪判处王力军有期徒刑一年，缓刑二年，并处罚金人民币</a:t>
            </a:r>
            <a:r>
              <a:rPr lang="en-US" altLang="zh-CN" dirty="0"/>
              <a:t>2</a:t>
            </a:r>
            <a:r>
              <a:rPr lang="zh-CN" altLang="en-US" dirty="0"/>
              <a:t>万元。</a:t>
            </a:r>
            <a:endParaRPr lang="zh-CN" altLang="en-US" dirty="0"/>
          </a:p>
          <a:p>
            <a:r>
              <a:rPr lang="en-US" altLang="zh-CN" dirty="0"/>
              <a:t>2016</a:t>
            </a:r>
            <a:r>
              <a:rPr lang="zh-CN" altLang="en-US" dirty="0"/>
              <a:t>年</a:t>
            </a:r>
            <a:r>
              <a:rPr lang="en-US" altLang="zh-CN" dirty="0"/>
              <a:t>12</a:t>
            </a:r>
            <a:r>
              <a:rPr lang="zh-CN" altLang="en-US" dirty="0"/>
              <a:t>月</a:t>
            </a:r>
            <a:r>
              <a:rPr lang="en-US" altLang="zh-CN" dirty="0"/>
              <a:t>16</a:t>
            </a:r>
            <a:r>
              <a:rPr lang="zh-CN" altLang="en-US" dirty="0"/>
              <a:t>日，最高法就此案作出再审决定书，指令由巴彦淖尔中院对此案进行再审。</a:t>
            </a:r>
            <a:r>
              <a:rPr lang="zh-CN" altLang="en-US" b="1" dirty="0"/>
              <a:t>最高法认为，就本案而言，王力军从粮农处收购玉米卖予粮库，在粮农与粮库之间起了桥梁纽带作用，没有破坏粮食流通的主渠道，没有严重扰乱市场秩序，且不具有与刑法第二百二十五条规定的非法经营罪前三项行为相当的社会危害性，不具有刑事处罚的必要性。</a:t>
            </a:r>
            <a:endParaRPr lang="zh-CN" altLang="en-US" b="1" dirty="0"/>
          </a:p>
          <a:p>
            <a:r>
              <a:rPr lang="en-US" altLang="zh-CN" dirty="0"/>
              <a:t>2017</a:t>
            </a:r>
            <a:r>
              <a:rPr lang="zh-CN" altLang="en-US" dirty="0"/>
              <a:t>年</a:t>
            </a:r>
            <a:r>
              <a:rPr lang="en-US" altLang="zh-CN" dirty="0"/>
              <a:t>2</a:t>
            </a:r>
            <a:r>
              <a:rPr lang="zh-CN" altLang="en-US" dirty="0"/>
              <a:t>月</a:t>
            </a:r>
            <a:r>
              <a:rPr lang="en-US" altLang="zh-CN" dirty="0"/>
              <a:t>17</a:t>
            </a:r>
            <a:r>
              <a:rPr lang="zh-CN" altLang="en-US" dirty="0"/>
              <a:t>日，巴彦淖尔市中院再审改判王力军无罪。这起案件被写入当年的最高法工作报告中，</a:t>
            </a:r>
            <a:r>
              <a:rPr lang="zh-CN" altLang="en-US" b="1" dirty="0"/>
              <a:t>并被列入最高法发布的第</a:t>
            </a:r>
            <a:r>
              <a:rPr lang="en-US" altLang="zh-CN" b="1" dirty="0"/>
              <a:t>19</a:t>
            </a:r>
            <a:r>
              <a:rPr lang="zh-CN" altLang="en-US" b="1" dirty="0"/>
              <a:t>批指导性案例之一。</a:t>
            </a:r>
            <a:endParaRPr lang="zh-CN" altLang="en-US" b="1" dirty="0"/>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2018</a:t>
            </a:r>
            <a:r>
              <a:rPr lang="zh-CN" altLang="en-US" dirty="0"/>
              <a:t>年</a:t>
            </a:r>
            <a:endParaRPr lang="zh-CN" altLang="en-US" dirty="0"/>
          </a:p>
        </p:txBody>
      </p:sp>
      <p:sp>
        <p:nvSpPr>
          <p:cNvPr id="3" name="文本占位符 2"/>
          <p:cNvSpPr>
            <a:spLocks noGrp="1"/>
          </p:cNvSpPr>
          <p:nvPr>
            <p:ph type="body" idx="1"/>
          </p:nvPr>
        </p:nvSpPr>
        <p:spPr/>
        <p:txBody>
          <a:bodyPr>
            <a:normAutofit fontScale="77500" lnSpcReduction="20000"/>
          </a:bodyPr>
          <a:lstStyle/>
          <a:p>
            <a:r>
              <a:rPr lang="en-US" altLang="zh-CN" b="1" dirty="0"/>
              <a:t>2018</a:t>
            </a:r>
            <a:r>
              <a:rPr lang="zh-CN" altLang="en-US" b="1" dirty="0"/>
              <a:t>年，备受关注的吉林刘忠林案、吉林金哲宏案、安徽五周案等冤错案件先后获得纠正。</a:t>
            </a:r>
            <a:endParaRPr lang="en-US" altLang="zh-CN" b="1" dirty="0"/>
          </a:p>
          <a:p>
            <a:r>
              <a:rPr lang="zh-CN" altLang="en-US" b="1" dirty="0"/>
              <a:t>物美集团张文中案、江苏耿万喜案等涉经济、产权类冤错案件也纷纷获得纠正。</a:t>
            </a:r>
            <a:endParaRPr lang="zh-CN" altLang="en-US" b="1" dirty="0"/>
          </a:p>
          <a:p>
            <a:r>
              <a:rPr lang="en-US" altLang="zh-CN" b="1" dirty="0"/>
              <a:t>2018</a:t>
            </a:r>
            <a:r>
              <a:rPr lang="zh-CN" altLang="en-US" b="1" dirty="0"/>
              <a:t>年</a:t>
            </a:r>
            <a:r>
              <a:rPr lang="en-US" altLang="zh-CN" b="1" dirty="0"/>
              <a:t>5</a:t>
            </a:r>
            <a:r>
              <a:rPr lang="zh-CN" altLang="en-US" b="1" dirty="0"/>
              <a:t>月</a:t>
            </a:r>
            <a:r>
              <a:rPr lang="en-US" altLang="zh-CN" b="1" dirty="0"/>
              <a:t>31</a:t>
            </a:r>
            <a:r>
              <a:rPr lang="zh-CN" altLang="en-US" b="1" dirty="0"/>
              <a:t>日，最高人民法院认为原判认定事实和适用法律错误，宣告张文中无罪。该案被选入</a:t>
            </a:r>
            <a:r>
              <a:rPr lang="en-US" altLang="zh-CN" b="1" dirty="0"/>
              <a:t>2018</a:t>
            </a:r>
            <a:r>
              <a:rPr lang="zh-CN" altLang="en-US" b="1" dirty="0"/>
              <a:t>年推动法治进程十大案件。最高人民法院在判决之后释明，“张文中案件的改判，充分体现了党中央依法平等保护各类所有制经济产权、保护民营企业产权的政策精神”。</a:t>
            </a:r>
            <a:endParaRPr lang="zh-CN" altLang="en-US" b="1" dirty="0"/>
          </a:p>
          <a:p>
            <a:r>
              <a:rPr lang="en-US" altLang="zh-CN" b="1" dirty="0"/>
              <a:t>2018</a:t>
            </a:r>
            <a:r>
              <a:rPr lang="zh-CN" altLang="en-US" b="1" dirty="0"/>
              <a:t>年</a:t>
            </a:r>
            <a:r>
              <a:rPr lang="en-US" altLang="zh-CN" b="1" dirty="0"/>
              <a:t>6</a:t>
            </a:r>
            <a:r>
              <a:rPr lang="zh-CN" altLang="en-US" b="1" dirty="0"/>
              <a:t>月，最高人民法院第三巡回法庭纠正江苏会计耿万喜诈骗案；</a:t>
            </a:r>
            <a:endParaRPr lang="zh-CN" altLang="en-US" b="1" dirty="0"/>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1625" y="609600"/>
            <a:ext cx="8540750" cy="615351"/>
          </a:xfrm>
        </p:spPr>
        <p:txBody>
          <a:bodyPr>
            <a:normAutofit fontScale="90000"/>
          </a:bodyPr>
          <a:lstStyle/>
          <a:p>
            <a:r>
              <a:rPr lang="zh-CN" altLang="en-US" b="1" dirty="0"/>
              <a:t>河北唐山廖海军故意杀人案</a:t>
            </a:r>
            <a:endParaRPr lang="zh-CN" altLang="en-US" b="1" dirty="0"/>
          </a:p>
        </p:txBody>
      </p:sp>
      <p:sp>
        <p:nvSpPr>
          <p:cNvPr id="3" name="文本占位符 2"/>
          <p:cNvSpPr>
            <a:spLocks noGrp="1"/>
          </p:cNvSpPr>
          <p:nvPr>
            <p:ph type="body" idx="1"/>
          </p:nvPr>
        </p:nvSpPr>
        <p:spPr>
          <a:xfrm>
            <a:off x="301625" y="1380226"/>
            <a:ext cx="8540750" cy="4868174"/>
          </a:xfrm>
        </p:spPr>
        <p:txBody>
          <a:bodyPr>
            <a:normAutofit fontScale="55000" lnSpcReduction="20000"/>
          </a:bodyPr>
          <a:lstStyle/>
          <a:p>
            <a:r>
              <a:rPr lang="zh-CN" altLang="en-US" dirty="0"/>
              <a:t>历时</a:t>
            </a:r>
            <a:r>
              <a:rPr lang="en-US" altLang="zh-CN" dirty="0"/>
              <a:t>18</a:t>
            </a:r>
            <a:r>
              <a:rPr lang="zh-CN" altLang="en-US" dirty="0"/>
              <a:t>年，故意杀人被判无期徒刑终审改判无罪</a:t>
            </a:r>
            <a:endParaRPr lang="zh-CN" altLang="en-US" dirty="0"/>
          </a:p>
          <a:p>
            <a:r>
              <a:rPr lang="en-US" altLang="zh-CN" dirty="0"/>
              <a:t>1999</a:t>
            </a:r>
            <a:r>
              <a:rPr lang="zh-CN" altLang="en-US" dirty="0"/>
              <a:t>年</a:t>
            </a:r>
            <a:r>
              <a:rPr lang="en-US" altLang="zh-CN" dirty="0"/>
              <a:t>1</a:t>
            </a:r>
            <a:r>
              <a:rPr lang="zh-CN" altLang="en-US" dirty="0"/>
              <a:t>月</a:t>
            </a:r>
            <a:r>
              <a:rPr lang="en-US" altLang="zh-CN" dirty="0"/>
              <a:t>17</a:t>
            </a:r>
            <a:r>
              <a:rPr lang="zh-CN" altLang="en-US" dirty="0"/>
              <a:t>日，唐山市迁西县新集镇新集村两名女童被人杀害，两天后遗体在村中井里被人发现。</a:t>
            </a:r>
            <a:r>
              <a:rPr lang="en-US" altLang="zh-CN" dirty="0"/>
              <a:t>1</a:t>
            </a:r>
            <a:r>
              <a:rPr lang="zh-CN" altLang="en-US" dirty="0"/>
              <a:t>月</a:t>
            </a:r>
            <a:r>
              <a:rPr lang="en-US" altLang="zh-CN" dirty="0"/>
              <a:t>25</a:t>
            </a:r>
            <a:r>
              <a:rPr lang="zh-CN" altLang="en-US" dirty="0"/>
              <a:t>日，唐山市迁西县公安部门宣告破案，称新集村</a:t>
            </a:r>
            <a:r>
              <a:rPr lang="en-US" altLang="zh-CN" dirty="0"/>
              <a:t>17</a:t>
            </a:r>
            <a:r>
              <a:rPr lang="zh-CN" altLang="en-US" dirty="0"/>
              <a:t>岁的廖海军有重大嫌疑。</a:t>
            </a:r>
            <a:r>
              <a:rPr lang="en-US" altLang="zh-CN" dirty="0"/>
              <a:t>3</a:t>
            </a:r>
            <a:r>
              <a:rPr lang="zh-CN" altLang="en-US" dirty="0"/>
              <a:t>月</a:t>
            </a:r>
            <a:r>
              <a:rPr lang="en-US" altLang="zh-CN" dirty="0"/>
              <a:t>8</a:t>
            </a:r>
            <a:r>
              <a:rPr lang="zh-CN" altLang="en-US" dirty="0"/>
              <a:t>日，廖海军因涉嫌故意杀人被逮捕。</a:t>
            </a:r>
            <a:endParaRPr lang="zh-CN" altLang="en-US" dirty="0"/>
          </a:p>
          <a:p>
            <a:r>
              <a:rPr lang="en-US" altLang="zh-CN" b="1" dirty="0"/>
              <a:t>2003</a:t>
            </a:r>
            <a:r>
              <a:rPr lang="zh-CN" altLang="en-US" b="1" dirty="0"/>
              <a:t>年</a:t>
            </a:r>
            <a:r>
              <a:rPr lang="en-US" altLang="zh-CN" b="1" dirty="0"/>
              <a:t>7</a:t>
            </a:r>
            <a:r>
              <a:rPr lang="zh-CN" altLang="en-US" b="1" dirty="0"/>
              <a:t>月</a:t>
            </a:r>
            <a:r>
              <a:rPr lang="en-US" altLang="zh-CN" b="1" dirty="0"/>
              <a:t>9</a:t>
            </a:r>
            <a:r>
              <a:rPr lang="zh-CN" altLang="en-US" b="1" dirty="0"/>
              <a:t>日，唐山市中级人民法院一审以涉嫌故意杀人罪判处廖海军无期徒刑。其父母均被定包庇罪</a:t>
            </a:r>
            <a:r>
              <a:rPr lang="en-US" altLang="zh-CN" b="1" dirty="0"/>
              <a:t>(</a:t>
            </a:r>
            <a:r>
              <a:rPr lang="zh-CN" altLang="en-US" b="1" dirty="0"/>
              <a:t>被认定共同抛尸</a:t>
            </a:r>
            <a:r>
              <a:rPr lang="en-US" altLang="zh-CN" b="1" dirty="0"/>
              <a:t>)</a:t>
            </a:r>
            <a:r>
              <a:rPr lang="zh-CN" altLang="en-US" b="1" dirty="0"/>
              <a:t>，判处有期徒刑</a:t>
            </a:r>
            <a:r>
              <a:rPr lang="en-US" altLang="zh-CN" b="1" dirty="0"/>
              <a:t>5</a:t>
            </a:r>
            <a:r>
              <a:rPr lang="zh-CN" altLang="en-US" b="1" dirty="0"/>
              <a:t>年。</a:t>
            </a:r>
            <a:endParaRPr lang="zh-CN" altLang="en-US" b="1" dirty="0"/>
          </a:p>
          <a:p>
            <a:r>
              <a:rPr lang="zh-CN" altLang="en-US" b="1" dirty="0">
                <a:solidFill>
                  <a:srgbClr val="0070C0"/>
                </a:solidFill>
              </a:rPr>
              <a:t>母亲黄玉秀期满出狱后，走上申诉道路。黄玉秀和律师通过查询原审卷宗发现，警方在廖海军家发现的血迹，公安部的</a:t>
            </a:r>
            <a:r>
              <a:rPr lang="en-US" altLang="zh-CN" b="1" dirty="0">
                <a:solidFill>
                  <a:srgbClr val="0070C0"/>
                </a:solidFill>
              </a:rPr>
              <a:t>DNA</a:t>
            </a:r>
            <a:r>
              <a:rPr lang="zh-CN" altLang="en-US" b="1" dirty="0">
                <a:solidFill>
                  <a:srgbClr val="0070C0"/>
                </a:solidFill>
              </a:rPr>
              <a:t>比对认定，该血迹并非被害人的，而是黄玉秀本人血迹。</a:t>
            </a:r>
            <a:endParaRPr lang="zh-CN" altLang="en-US" b="1" dirty="0">
              <a:solidFill>
                <a:srgbClr val="0070C0"/>
              </a:solidFill>
            </a:endParaRPr>
          </a:p>
          <a:p>
            <a:r>
              <a:rPr lang="en-US" altLang="zh-CN" dirty="0">
                <a:solidFill>
                  <a:srgbClr val="C00000"/>
                </a:solidFill>
              </a:rPr>
              <a:t>2018</a:t>
            </a:r>
            <a:r>
              <a:rPr lang="zh-CN" altLang="en-US" dirty="0">
                <a:solidFill>
                  <a:srgbClr val="C00000"/>
                </a:solidFill>
              </a:rPr>
              <a:t>年</a:t>
            </a:r>
            <a:r>
              <a:rPr lang="en-US" altLang="zh-CN" dirty="0">
                <a:solidFill>
                  <a:srgbClr val="C00000"/>
                </a:solidFill>
              </a:rPr>
              <a:t>8</a:t>
            </a:r>
            <a:r>
              <a:rPr lang="zh-CN" altLang="en-US" dirty="0">
                <a:solidFill>
                  <a:srgbClr val="C00000"/>
                </a:solidFill>
              </a:rPr>
              <a:t>月</a:t>
            </a:r>
            <a:r>
              <a:rPr lang="en-US" altLang="zh-CN" dirty="0">
                <a:solidFill>
                  <a:srgbClr val="C00000"/>
                </a:solidFill>
              </a:rPr>
              <a:t>9</a:t>
            </a:r>
            <a:r>
              <a:rPr lang="zh-CN" altLang="en-US" dirty="0">
                <a:solidFill>
                  <a:srgbClr val="C00000"/>
                </a:solidFill>
              </a:rPr>
              <a:t>日，唐山市中级人民法院对廖海军故意杀人，廖友、黄玉秀包庇案再审案当庭宣判，认为廖海军犯故意杀人罪，原审被告人廖友、黄玉秀犯包庇罪事实不清、证据不足，公诉机关指控的罪名不能成立，宣告认为廖海军无罪，廖友、黄玉秀无罪。</a:t>
            </a:r>
            <a:endParaRPr lang="zh-CN" altLang="en-US" dirty="0">
              <a:solidFill>
                <a:srgbClr val="C00000"/>
              </a:solidFill>
            </a:endParaRPr>
          </a:p>
          <a:p>
            <a:r>
              <a:rPr lang="zh-CN" altLang="en-US" b="1" dirty="0">
                <a:solidFill>
                  <a:srgbClr val="C00000"/>
                </a:solidFill>
              </a:rPr>
              <a:t>判决书中明确指出，该案件中不排除有刑讯逼供存在。</a:t>
            </a:r>
            <a:endParaRPr lang="zh-CN" altLang="en-US" b="1" dirty="0">
              <a:solidFill>
                <a:srgbClr val="C00000"/>
              </a:solidFill>
            </a:endParaRPr>
          </a:p>
          <a:p>
            <a:r>
              <a:rPr lang="zh-CN" altLang="en-US" b="1" dirty="0"/>
              <a:t>但是，廖海军的父母并没有等到冤案平反之日。</a:t>
            </a:r>
            <a:endParaRPr lang="en-US" altLang="zh-CN" b="1" dirty="0"/>
          </a:p>
          <a:p>
            <a:r>
              <a:rPr lang="en-US" altLang="zh-CN" b="1" dirty="0"/>
              <a:t>2010</a:t>
            </a:r>
            <a:r>
              <a:rPr lang="zh-CN" altLang="en-US" b="1" dirty="0"/>
              <a:t>年</a:t>
            </a:r>
            <a:r>
              <a:rPr lang="en-US" altLang="zh-CN" b="1" dirty="0"/>
              <a:t>12</a:t>
            </a:r>
            <a:r>
              <a:rPr lang="zh-CN" altLang="en-US" b="1" dirty="0"/>
              <a:t>月</a:t>
            </a:r>
            <a:r>
              <a:rPr lang="en-US" altLang="zh-CN" b="1" dirty="0"/>
              <a:t>2</a:t>
            </a:r>
            <a:r>
              <a:rPr lang="zh-CN" altLang="en-US" b="1" dirty="0"/>
              <a:t>日，廖海军父亲廖友已因病抢救无效去世。</a:t>
            </a:r>
            <a:endParaRPr lang="en-US" altLang="zh-CN" b="1" dirty="0"/>
          </a:p>
          <a:p>
            <a:r>
              <a:rPr lang="zh-CN" altLang="en-US" b="1" dirty="0"/>
              <a:t>无罪判决前</a:t>
            </a:r>
            <a:r>
              <a:rPr lang="en-US" altLang="zh-CN" b="1" dirty="0"/>
              <a:t>25</a:t>
            </a:r>
            <a:r>
              <a:rPr lang="zh-CN" altLang="en-US" b="1" dirty="0"/>
              <a:t>天的</a:t>
            </a:r>
            <a:r>
              <a:rPr lang="en-US" altLang="zh-CN" b="1" dirty="0"/>
              <a:t>2018</a:t>
            </a:r>
            <a:r>
              <a:rPr lang="zh-CN" altLang="en-US" b="1" dirty="0"/>
              <a:t>年</a:t>
            </a:r>
            <a:r>
              <a:rPr lang="en-US" altLang="zh-CN" b="1" dirty="0"/>
              <a:t>7</a:t>
            </a:r>
            <a:r>
              <a:rPr lang="zh-CN" altLang="en-US" b="1" dirty="0"/>
              <a:t>月</a:t>
            </a:r>
            <a:r>
              <a:rPr lang="en-US" altLang="zh-CN" b="1" dirty="0"/>
              <a:t>16</a:t>
            </a:r>
            <a:r>
              <a:rPr lang="zh-CN" altLang="en-US" b="1" dirty="0"/>
              <a:t>日，母亲黄玉秀因病抢救无效去世。</a:t>
            </a:r>
            <a:endParaRPr lang="zh-CN" altLang="en-US" b="1" dirty="0"/>
          </a:p>
          <a:p>
            <a:endParaRPr lang="zh-CN" altLang="en-US" dirty="0"/>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p:txBody>
          <a:bodyPr/>
          <a:lstStyle/>
          <a:p>
            <a:r>
              <a:rPr lang="en-US" altLang="zh-CN" b="1" dirty="0"/>
              <a:t>2019</a:t>
            </a:r>
            <a:r>
              <a:rPr lang="zh-CN" altLang="en-US" b="1" dirty="0"/>
              <a:t>年</a:t>
            </a:r>
            <a:r>
              <a:rPr lang="en-US" altLang="zh-CN" b="1" dirty="0"/>
              <a:t>1</a:t>
            </a:r>
            <a:r>
              <a:rPr lang="zh-CN" altLang="en-US" b="1" dirty="0"/>
              <a:t>月</a:t>
            </a:r>
            <a:r>
              <a:rPr lang="en-US" altLang="zh-CN" b="1" dirty="0"/>
              <a:t>9</a:t>
            </a:r>
            <a:r>
              <a:rPr lang="zh-CN" altLang="en-US" b="1" dirty="0"/>
              <a:t>日，最高法巡二庭纠正东北首起涉产权冤错案，再审宣判企业家赵明利不存在诈骗行为，改判无罪，当时赵明利已去世三年半。</a:t>
            </a:r>
            <a:endParaRPr lang="en-US" altLang="zh-CN" b="1" dirty="0"/>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1625" y="609600"/>
            <a:ext cx="8540750" cy="632604"/>
          </a:xfrm>
        </p:spPr>
        <p:txBody>
          <a:bodyPr>
            <a:normAutofit fontScale="90000"/>
          </a:bodyPr>
          <a:lstStyle/>
          <a:p>
            <a:r>
              <a:rPr lang="en-US" altLang="zh-CN" b="1" dirty="0"/>
              <a:t>2023</a:t>
            </a:r>
            <a:endParaRPr lang="zh-CN" altLang="en-US" b="1" dirty="0"/>
          </a:p>
        </p:txBody>
      </p:sp>
      <p:sp>
        <p:nvSpPr>
          <p:cNvPr id="3" name="文本占位符 2"/>
          <p:cNvSpPr>
            <a:spLocks noGrp="1"/>
          </p:cNvSpPr>
          <p:nvPr>
            <p:ph type="body" idx="1"/>
          </p:nvPr>
        </p:nvSpPr>
        <p:spPr>
          <a:xfrm>
            <a:off x="301625" y="1242204"/>
            <a:ext cx="8540750" cy="4856971"/>
          </a:xfrm>
        </p:spPr>
        <p:txBody>
          <a:bodyPr>
            <a:normAutofit fontScale="62500" lnSpcReduction="20000"/>
          </a:bodyPr>
          <a:lstStyle/>
          <a:p>
            <a:r>
              <a:rPr lang="zh-CN" altLang="en-US" b="1" dirty="0"/>
              <a:t>周永刚，一位</a:t>
            </a:r>
            <a:r>
              <a:rPr lang="en-US" altLang="zh-CN" b="1" dirty="0"/>
              <a:t>1970</a:t>
            </a:r>
            <a:r>
              <a:rPr lang="zh-CN" altLang="en-US" b="1" dirty="0"/>
              <a:t>年</a:t>
            </a:r>
            <a:r>
              <a:rPr lang="en-US" altLang="zh-CN" b="1" dirty="0"/>
              <a:t>3</a:t>
            </a:r>
            <a:r>
              <a:rPr lang="zh-CN" altLang="en-US" b="1" dirty="0"/>
              <a:t>月出生的含冤人，在出狱</a:t>
            </a:r>
            <a:r>
              <a:rPr lang="en-US" altLang="zh-CN" b="1" dirty="0"/>
              <a:t>15</a:t>
            </a:r>
            <a:r>
              <a:rPr lang="zh-CN" altLang="en-US" b="1" dirty="0"/>
              <a:t>年后，终获无罪判决。此前，他已于</a:t>
            </a:r>
            <a:r>
              <a:rPr lang="en-US" altLang="zh-CN" b="1" dirty="0"/>
              <a:t>2009</a:t>
            </a:r>
            <a:r>
              <a:rPr lang="zh-CN" altLang="en-US" b="1" dirty="0"/>
              <a:t>年</a:t>
            </a:r>
            <a:r>
              <a:rPr lang="en-US" altLang="zh-CN" b="1" dirty="0"/>
              <a:t>12</a:t>
            </a:r>
            <a:r>
              <a:rPr lang="zh-CN" altLang="en-US" b="1" dirty="0"/>
              <a:t>月</a:t>
            </a:r>
            <a:r>
              <a:rPr lang="en-US" altLang="zh-CN" b="1" dirty="0"/>
              <a:t>5</a:t>
            </a:r>
            <a:r>
              <a:rPr lang="zh-CN" altLang="en-US" b="1" dirty="0"/>
              <a:t>日走出赤峰监狱。从含冤入狱，到通过减刑出狱，他在监狱服刑</a:t>
            </a:r>
            <a:r>
              <a:rPr lang="en-US" altLang="zh-CN" b="1" dirty="0"/>
              <a:t>21</a:t>
            </a:r>
            <a:r>
              <a:rPr lang="zh-CN" altLang="en-US" b="1" dirty="0"/>
              <a:t>年</a:t>
            </a:r>
            <a:r>
              <a:rPr lang="en-US" altLang="zh-CN" b="1" dirty="0"/>
              <a:t>4</a:t>
            </a:r>
            <a:r>
              <a:rPr lang="zh-CN" altLang="en-US" b="1" dirty="0"/>
              <a:t>个月零</a:t>
            </a:r>
            <a:r>
              <a:rPr lang="en-US" altLang="zh-CN" b="1" dirty="0"/>
              <a:t>4</a:t>
            </a:r>
            <a:r>
              <a:rPr lang="zh-CN" altLang="en-US" b="1" dirty="0"/>
              <a:t>天。</a:t>
            </a:r>
            <a:r>
              <a:rPr lang="en-US" altLang="zh-CN" b="1" dirty="0"/>
              <a:t>12</a:t>
            </a:r>
            <a:r>
              <a:rPr lang="zh-CN" altLang="en-US" b="1" dirty="0"/>
              <a:t>月</a:t>
            </a:r>
            <a:r>
              <a:rPr lang="en-US" altLang="zh-CN" b="1" dirty="0"/>
              <a:t>20</a:t>
            </a:r>
            <a:r>
              <a:rPr lang="zh-CN" altLang="en-US" b="1" dirty="0"/>
              <a:t>日媒体报道，上周周永刚拿到了法院主动上门调解解决的、总额</a:t>
            </a:r>
            <a:r>
              <a:rPr lang="en-US" altLang="zh-CN" b="1" dirty="0"/>
              <a:t>580</a:t>
            </a:r>
            <a:r>
              <a:rPr lang="zh-CN" altLang="en-US" b="1" dirty="0"/>
              <a:t>万元的国家赔偿金。</a:t>
            </a:r>
            <a:endParaRPr lang="zh-CN" altLang="en-US" b="1" dirty="0"/>
          </a:p>
          <a:p>
            <a:r>
              <a:rPr lang="zh-CN" altLang="en-US" b="1" dirty="0"/>
              <a:t>周永刚</a:t>
            </a:r>
            <a:r>
              <a:rPr lang="en-US" altLang="zh-CN" b="1" dirty="0"/>
              <a:t>18</a:t>
            </a:r>
            <a:r>
              <a:rPr lang="zh-CN" altLang="en-US" b="1" dirty="0"/>
              <a:t>岁入狱，出狱时已</a:t>
            </a:r>
            <a:r>
              <a:rPr lang="en-US" altLang="zh-CN" b="1" dirty="0"/>
              <a:t>39</a:t>
            </a:r>
            <a:r>
              <a:rPr lang="zh-CN" altLang="en-US" b="1" dirty="0"/>
              <a:t>岁，整个青春在监狱度过。而导致这一冤案悲剧的，仅仅是因他首先发现尸体。这和内蒙古的另一起奸杀平反冤案呼格吉勒图案，有着相似之处。呼格案平反后，家属获国赔</a:t>
            </a:r>
            <a:r>
              <a:rPr lang="en-US" altLang="zh-CN" b="1" dirty="0"/>
              <a:t>200</a:t>
            </a:r>
            <a:r>
              <a:rPr lang="zh-CN" altLang="en-US" b="1" dirty="0"/>
              <a:t>多万元。</a:t>
            </a:r>
            <a:endParaRPr lang="zh-CN" altLang="en-US" b="1" dirty="0"/>
          </a:p>
          <a:p>
            <a:r>
              <a:rPr lang="zh-CN" altLang="en-US" b="1" dirty="0"/>
              <a:t>先看冤案本身。</a:t>
            </a:r>
            <a:r>
              <a:rPr lang="en-US" altLang="zh-CN" b="1" dirty="0"/>
              <a:t>1988</a:t>
            </a:r>
            <a:r>
              <a:rPr lang="zh-CN" altLang="en-US" b="1" dirty="0"/>
              <a:t>年</a:t>
            </a:r>
            <a:r>
              <a:rPr lang="en-US" altLang="zh-CN" b="1" dirty="0"/>
              <a:t>7</a:t>
            </a:r>
            <a:r>
              <a:rPr lang="zh-CN" altLang="en-US" b="1" dirty="0"/>
              <a:t>月</a:t>
            </a:r>
            <a:r>
              <a:rPr lang="en-US" altLang="zh-CN" b="1" dirty="0"/>
              <a:t>1</a:t>
            </a:r>
            <a:r>
              <a:rPr lang="zh-CN" altLang="en-US" b="1" dirty="0"/>
              <a:t>日，赤峰两女子惨遭奸杀。因首先发现尸体，周永刚被列为嫌疑人。同年</a:t>
            </a:r>
            <a:r>
              <a:rPr lang="en-US" altLang="zh-CN" b="1" dirty="0"/>
              <a:t>8</a:t>
            </a:r>
            <a:r>
              <a:rPr lang="zh-CN" altLang="en-US" b="1" dirty="0"/>
              <a:t>月，因涉嫌强奸、故意杀人，周永刚被公安机关收容审查，随后被执行逮捕，判处死缓。涉嫌犯罪的行为类型，又和河北的另一起奸杀平反冤案聂树斌案相似。聂树斌案平反后，家属获国赔</a:t>
            </a:r>
            <a:r>
              <a:rPr lang="en-US" altLang="zh-CN" b="1" dirty="0"/>
              <a:t>268</a:t>
            </a:r>
            <a:r>
              <a:rPr lang="zh-CN" altLang="en-US" b="1" dirty="0"/>
              <a:t>万多元。</a:t>
            </a:r>
            <a:endParaRPr lang="en-US" altLang="zh-CN" b="1" dirty="0"/>
          </a:p>
          <a:p>
            <a:r>
              <a:rPr lang="en-US" altLang="zh-CN" b="1" dirty="0"/>
              <a:t>2021</a:t>
            </a:r>
            <a:r>
              <a:rPr lang="zh-CN" altLang="en-US" b="1" dirty="0"/>
              <a:t>年</a:t>
            </a:r>
            <a:r>
              <a:rPr lang="en-US" altLang="zh-CN" b="1" dirty="0"/>
              <a:t>4</a:t>
            </a:r>
            <a:r>
              <a:rPr lang="zh-CN" altLang="en-US" b="1" dirty="0"/>
              <a:t>月，内蒙古高院作出再审决定书，决定再审。</a:t>
            </a:r>
            <a:endParaRPr lang="en-US" altLang="zh-CN" b="1" dirty="0"/>
          </a:p>
          <a:p>
            <a:r>
              <a:rPr lang="en-US" altLang="zh-CN" b="1" dirty="0"/>
              <a:t>2023</a:t>
            </a:r>
            <a:r>
              <a:rPr lang="zh-CN" altLang="en-US" b="1" dirty="0"/>
              <a:t>年</a:t>
            </a:r>
            <a:r>
              <a:rPr lang="en-US" altLang="zh-CN" b="1" dirty="0"/>
              <a:t>12</a:t>
            </a:r>
            <a:r>
              <a:rPr lang="zh-CN" altLang="en-US" b="1" dirty="0"/>
              <a:t>月</a:t>
            </a:r>
            <a:r>
              <a:rPr lang="en-US" altLang="zh-CN" b="1" dirty="0"/>
              <a:t>20</a:t>
            </a:r>
            <a:r>
              <a:rPr lang="zh-CN" altLang="en-US" b="1" dirty="0"/>
              <a:t>日，内蒙古高院公开宣判，认定定案证据不足，改判申请人周永刚无罪。</a:t>
            </a:r>
            <a:endParaRPr lang="zh-CN" altLang="en-US" b="1" dirty="0"/>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1625" y="609600"/>
            <a:ext cx="8540750" cy="1023668"/>
          </a:xfrm>
        </p:spPr>
        <p:txBody>
          <a:bodyPr>
            <a:noAutofit/>
          </a:bodyPr>
          <a:lstStyle/>
          <a:p>
            <a:r>
              <a:rPr lang="en-US" altLang="zh-CN" sz="2400" b="1" dirty="0"/>
              <a:t>2023</a:t>
            </a:r>
            <a:r>
              <a:rPr lang="zh-CN" altLang="en-US" sz="2400" b="1" dirty="0"/>
              <a:t>年</a:t>
            </a:r>
            <a:r>
              <a:rPr lang="en-US" altLang="zh-CN" sz="2400" b="1" dirty="0"/>
              <a:t>3</a:t>
            </a:r>
            <a:r>
              <a:rPr lang="zh-CN" altLang="en-US" sz="2400" b="1" dirty="0"/>
              <a:t>月</a:t>
            </a:r>
            <a:r>
              <a:rPr lang="en-US" altLang="zh-CN" sz="2400" b="1" dirty="0"/>
              <a:t>7</a:t>
            </a:r>
            <a:r>
              <a:rPr lang="zh-CN" altLang="en-US" sz="2400" b="1" dirty="0"/>
              <a:t>日下午，十四届全国人大一次会议在人民大会堂举行第二次全体会议，最高人民法院院长周强向大会作最高人民法院工作报告</a:t>
            </a:r>
            <a:endParaRPr lang="zh-CN" altLang="en-US" sz="2400" b="1" dirty="0"/>
          </a:p>
        </p:txBody>
      </p:sp>
      <p:sp>
        <p:nvSpPr>
          <p:cNvPr id="3" name="文本占位符 2"/>
          <p:cNvSpPr>
            <a:spLocks noGrp="1"/>
          </p:cNvSpPr>
          <p:nvPr>
            <p:ph type="body" idx="1"/>
          </p:nvPr>
        </p:nvSpPr>
        <p:spPr/>
        <p:txBody>
          <a:bodyPr/>
          <a:lstStyle/>
          <a:p>
            <a:r>
              <a:rPr lang="zh-CN" altLang="en-US" b="1" dirty="0"/>
              <a:t>最高法报告指出，人民法院加强人权司法保障。坚持实事求是、有错必纠，对冤错案件发现一起、查实一起、纠正一起，</a:t>
            </a:r>
            <a:r>
              <a:rPr lang="zh-CN" altLang="en-US" b="1" dirty="0">
                <a:solidFill>
                  <a:srgbClr val="C00000"/>
                </a:solidFill>
              </a:rPr>
              <a:t>五年来依法纠正五周案、张玉环案等重大刑事冤错案件</a:t>
            </a:r>
            <a:r>
              <a:rPr lang="en-US" altLang="zh-CN" b="1" dirty="0">
                <a:solidFill>
                  <a:srgbClr val="C00000"/>
                </a:solidFill>
              </a:rPr>
              <a:t>26</a:t>
            </a:r>
            <a:r>
              <a:rPr lang="zh-CN" altLang="en-US" b="1" dirty="0">
                <a:solidFill>
                  <a:srgbClr val="C00000"/>
                </a:solidFill>
              </a:rPr>
              <a:t>件</a:t>
            </a:r>
            <a:r>
              <a:rPr lang="en-US" altLang="zh-CN" b="1" dirty="0">
                <a:solidFill>
                  <a:srgbClr val="C00000"/>
                </a:solidFill>
              </a:rPr>
              <a:t>53</a:t>
            </a:r>
            <a:r>
              <a:rPr lang="zh-CN" altLang="en-US" b="1" dirty="0">
                <a:solidFill>
                  <a:srgbClr val="C00000"/>
                </a:solidFill>
              </a:rPr>
              <a:t>人。</a:t>
            </a:r>
            <a:endParaRPr lang="en-US" altLang="zh-CN" b="1" dirty="0">
              <a:solidFill>
                <a:srgbClr val="C00000"/>
              </a:solidFill>
            </a:endParaRPr>
          </a:p>
          <a:p>
            <a:r>
              <a:rPr lang="zh-CN" altLang="en-US" b="1" dirty="0"/>
              <a:t>“依法纠正冤错案件”写入党的第三个历史决议。</a:t>
            </a:r>
            <a:endParaRPr lang="zh-CN" altLang="en-US" b="1" dirty="0"/>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2442" y="540588"/>
            <a:ext cx="8540750" cy="575094"/>
          </a:xfrm>
        </p:spPr>
        <p:txBody>
          <a:bodyPr>
            <a:normAutofit/>
          </a:bodyPr>
          <a:lstStyle/>
          <a:p>
            <a:r>
              <a:rPr lang="zh-CN" altLang="en-US" sz="2800" b="1" dirty="0"/>
              <a:t>刑事申诉案</a:t>
            </a:r>
            <a:endParaRPr lang="zh-CN" altLang="en-US" sz="2800" b="1" dirty="0"/>
          </a:p>
        </p:txBody>
      </p:sp>
      <p:sp>
        <p:nvSpPr>
          <p:cNvPr id="3" name="文本占位符 2"/>
          <p:cNvSpPr>
            <a:spLocks noGrp="1"/>
          </p:cNvSpPr>
          <p:nvPr>
            <p:ph type="body" idx="1"/>
          </p:nvPr>
        </p:nvSpPr>
        <p:spPr/>
        <p:txBody>
          <a:bodyPr/>
          <a:lstStyle/>
          <a:p>
            <a:endParaRPr lang="zh-CN" altLang="en-US"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52442" y="1178943"/>
            <a:ext cx="8491567" cy="4920232"/>
          </a:xfrm>
          <a:prstGeom prst="rect">
            <a:avLst/>
          </a:prstGeom>
        </p:spPr>
      </p:pic>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Shape 97"/>
          <p:cNvSpPr>
            <a:spLocks noGrp="1"/>
          </p:cNvSpPr>
          <p:nvPr>
            <p:ph type="title"/>
          </p:nvPr>
        </p:nvSpPr>
        <p:spPr>
          <a:xfrm>
            <a:off x="301625" y="609599"/>
            <a:ext cx="8540750" cy="632606"/>
          </a:xfrm>
          <a:prstGeom prst="rect">
            <a:avLst/>
          </a:prstGeom>
        </p:spPr>
        <p:txBody>
          <a:bodyPr>
            <a:normAutofit/>
          </a:bodyPr>
          <a:lstStyle/>
          <a:p>
            <a:r>
              <a:rPr lang="zh-CN" altLang="en-US" sz="3200" b="1" dirty="0"/>
              <a:t>实质正当程序</a:t>
            </a:r>
            <a:endParaRPr sz="3200" b="1" dirty="0"/>
          </a:p>
        </p:txBody>
      </p:sp>
      <p:sp>
        <p:nvSpPr>
          <p:cNvPr id="98" name="Shape 98"/>
          <p:cNvSpPr>
            <a:spLocks noGrp="1"/>
          </p:cNvSpPr>
          <p:nvPr>
            <p:ph type="body" idx="1"/>
          </p:nvPr>
        </p:nvSpPr>
        <p:spPr>
          <a:xfrm>
            <a:off x="301625" y="1305464"/>
            <a:ext cx="8540750" cy="4793711"/>
          </a:xfrm>
          <a:prstGeom prst="rect">
            <a:avLst/>
          </a:prstGeom>
        </p:spPr>
        <p:txBody>
          <a:bodyPr/>
          <a:lstStyle/>
          <a:p>
            <a:pPr marL="328930" indent="-328930" defTabSz="877570">
              <a:lnSpc>
                <a:spcPct val="90000"/>
              </a:lnSpc>
              <a:spcBef>
                <a:spcPts val="600"/>
              </a:spcBef>
              <a:defRPr sz="2600">
                <a:latin typeface="宋体"/>
                <a:ea typeface="宋体"/>
                <a:cs typeface="宋体"/>
                <a:sym typeface="宋体"/>
              </a:defRPr>
            </a:pPr>
            <a:r>
              <a:rPr b="1" dirty="0" err="1"/>
              <a:t>实质正当程序：是对法律本身是否合理的审查，一项法律即使立法程序合法，如果</a:t>
            </a:r>
            <a:r>
              <a:rPr b="1" dirty="0" err="1">
                <a:latin typeface="Arial" panose="020B0704020202020204"/>
                <a:ea typeface="Arial" panose="020B0704020202020204"/>
                <a:cs typeface="Arial" panose="020B0704020202020204"/>
                <a:sym typeface="Arial" panose="020B0704020202020204"/>
              </a:rPr>
              <a:t>自身</a:t>
            </a:r>
            <a:r>
              <a:rPr b="1" dirty="0" err="1"/>
              <a:t>不合理，就</a:t>
            </a:r>
            <a:r>
              <a:rPr b="1" dirty="0" err="1">
                <a:latin typeface="Arial" panose="020B0704020202020204"/>
                <a:ea typeface="Arial" panose="020B0704020202020204"/>
                <a:cs typeface="Arial" panose="020B0704020202020204"/>
                <a:sym typeface="Arial" panose="020B0704020202020204"/>
              </a:rPr>
              <a:t>是不正当的</a:t>
            </a:r>
            <a:r>
              <a:rPr b="1" dirty="0" err="1"/>
              <a:t>。</a:t>
            </a:r>
            <a:r>
              <a:rPr b="1" dirty="0" err="1">
                <a:latin typeface="Arial" panose="020B0704020202020204"/>
                <a:ea typeface="Arial" panose="020B0704020202020204"/>
                <a:cs typeface="Arial" panose="020B0704020202020204"/>
                <a:sym typeface="Arial" panose="020B0704020202020204"/>
              </a:rPr>
              <a:t>它是</a:t>
            </a:r>
            <a:r>
              <a:rPr b="1" dirty="0" err="1"/>
              <a:t>对权利的实质</a:t>
            </a:r>
            <a:r>
              <a:rPr b="1" dirty="0" err="1">
                <a:latin typeface="Arial" panose="020B0704020202020204"/>
                <a:ea typeface="Arial" panose="020B0704020202020204"/>
                <a:cs typeface="Arial" panose="020B0704020202020204"/>
                <a:sym typeface="Arial" panose="020B0704020202020204"/>
              </a:rPr>
              <a:t>性</a:t>
            </a:r>
            <a:r>
              <a:rPr b="1" dirty="0" err="1"/>
              <a:t>保障</a:t>
            </a:r>
            <a:r>
              <a:rPr b="1" dirty="0"/>
              <a:t>。</a:t>
            </a:r>
            <a:endParaRPr b="1" dirty="0"/>
          </a:p>
          <a:p>
            <a:pPr marL="328930" indent="-328930" defTabSz="877570">
              <a:lnSpc>
                <a:spcPct val="90000"/>
              </a:lnSpc>
              <a:spcBef>
                <a:spcPts val="600"/>
              </a:spcBef>
              <a:defRPr sz="2600">
                <a:latin typeface="宋体"/>
                <a:ea typeface="宋体"/>
                <a:cs typeface="宋体"/>
                <a:sym typeface="宋体"/>
              </a:defRPr>
            </a:pPr>
            <a:r>
              <a:rPr b="1" dirty="0"/>
              <a:t>实质性正当法律程序最早是由纽约州法院在</a:t>
            </a:r>
            <a:r>
              <a:rPr b="1" dirty="0">
                <a:latin typeface="Arial" panose="020B0704020202020204"/>
                <a:ea typeface="Arial" panose="020B0704020202020204"/>
                <a:cs typeface="Arial" panose="020B0704020202020204"/>
                <a:sym typeface="Arial" panose="020B0704020202020204"/>
              </a:rPr>
              <a:t>1856</a:t>
            </a:r>
            <a:r>
              <a:rPr b="1" dirty="0"/>
              <a:t>年</a:t>
            </a:r>
            <a:r>
              <a:rPr b="1" dirty="0">
                <a:latin typeface="Arial" panose="020B0704020202020204"/>
                <a:ea typeface="Arial" panose="020B0704020202020204"/>
                <a:cs typeface="Arial" panose="020B0704020202020204"/>
                <a:sym typeface="Arial" panose="020B0704020202020204"/>
              </a:rPr>
              <a:t>“</a:t>
            </a:r>
            <a:r>
              <a:rPr b="1" dirty="0"/>
              <a:t>怀尼哈默诉人民</a:t>
            </a:r>
            <a:r>
              <a:rPr b="1" dirty="0">
                <a:latin typeface="Arial" panose="020B0704020202020204"/>
                <a:ea typeface="Arial" panose="020B0704020202020204"/>
                <a:cs typeface="Arial" panose="020B0704020202020204"/>
                <a:sym typeface="Arial" panose="020B0704020202020204"/>
              </a:rPr>
              <a:t>”</a:t>
            </a:r>
            <a:r>
              <a:rPr b="1" dirty="0"/>
              <a:t>案的判决中确立的。该案起因于一项纽约州禁止出售非医用烈性酒并禁止在住所之外的任何地方储放非用于销售的酒类的法律</a:t>
            </a:r>
            <a:r>
              <a:rPr lang="zh-CN" altLang="en-US" b="1" dirty="0"/>
              <a:t>。</a:t>
            </a:r>
            <a:endParaRPr lang="en-US" altLang="zh-CN" b="1" dirty="0"/>
          </a:p>
          <a:p>
            <a:pPr marL="328930" indent="-328930" defTabSz="877570">
              <a:lnSpc>
                <a:spcPct val="90000"/>
              </a:lnSpc>
              <a:spcBef>
                <a:spcPts val="600"/>
              </a:spcBef>
              <a:defRPr sz="2600">
                <a:latin typeface="宋体"/>
                <a:ea typeface="宋体"/>
                <a:cs typeface="宋体"/>
                <a:sym typeface="宋体"/>
              </a:defRPr>
            </a:pPr>
            <a:r>
              <a:rPr b="1" dirty="0" err="1"/>
              <a:t>纽约州法院认为，由于该法的禁止，影响了这个州的公民拥有烈性酒的财产权，这种影响不符合正当法律程序条款的精神</a:t>
            </a:r>
            <a:r>
              <a:rPr b="1" dirty="0"/>
              <a:t>。 </a:t>
            </a:r>
            <a:endParaRPr b="1" dirty="0"/>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hape 100"/>
          <p:cNvSpPr>
            <a:spLocks noGrp="1"/>
          </p:cNvSpPr>
          <p:nvPr>
            <p:ph type="title"/>
          </p:nvPr>
        </p:nvSpPr>
        <p:spPr>
          <a:xfrm>
            <a:off x="301625" y="609598"/>
            <a:ext cx="8540750" cy="1143003"/>
          </a:xfrm>
          <a:prstGeom prst="rect">
            <a:avLst/>
          </a:prstGeom>
        </p:spPr>
        <p:txBody>
          <a:bodyPr/>
          <a:lstStyle/>
          <a:p/>
        </p:txBody>
      </p:sp>
      <p:sp>
        <p:nvSpPr>
          <p:cNvPr id="101" name="Shape 101"/>
          <p:cNvSpPr>
            <a:spLocks noGrp="1"/>
          </p:cNvSpPr>
          <p:nvPr>
            <p:ph type="body" idx="1"/>
          </p:nvPr>
        </p:nvSpPr>
        <p:spPr>
          <a:prstGeom prst="rect">
            <a:avLst/>
          </a:prstGeom>
        </p:spPr>
        <p:txBody>
          <a:bodyPr/>
          <a:lstStyle/>
          <a:p>
            <a:pPr marL="328930" indent="-328930" defTabSz="877570">
              <a:lnSpc>
                <a:spcPct val="90000"/>
              </a:lnSpc>
              <a:spcBef>
                <a:spcPts val="600"/>
              </a:spcBef>
              <a:defRPr sz="2600">
                <a:latin typeface="宋体"/>
                <a:ea typeface="宋体"/>
                <a:cs typeface="宋体"/>
                <a:sym typeface="宋体"/>
              </a:defRPr>
            </a:pPr>
            <a:r>
              <a:rPr b="1" dirty="0">
                <a:latin typeface="微软雅黑" panose="020B0503020204020204" pitchFamily="34" charset="-122"/>
                <a:ea typeface="微软雅黑" panose="020B0503020204020204" pitchFamily="34" charset="-122"/>
              </a:rPr>
              <a:t>实质性正当法律程序是对联邦和州政府部门立法权的一项宪法限制，即</a:t>
            </a:r>
            <a:r>
              <a:rPr b="1" dirty="0">
                <a:latin typeface="微软雅黑" panose="020B0503020204020204" pitchFamily="34" charset="-122"/>
                <a:ea typeface="微软雅黑" panose="020B0503020204020204" pitchFamily="34" charset="-122"/>
                <a:sym typeface="Arial" panose="020B0704020202020204"/>
              </a:rPr>
              <a:t>“</a:t>
            </a:r>
            <a:r>
              <a:rPr b="1" dirty="0">
                <a:latin typeface="微软雅黑" panose="020B0503020204020204" pitchFamily="34" charset="-122"/>
                <a:ea typeface="微软雅黑" panose="020B0503020204020204" pitchFamily="34" charset="-122"/>
              </a:rPr>
              <a:t>对行使政府权力做什么加以限制</a:t>
            </a:r>
            <a:r>
              <a:rPr b="1" dirty="0">
                <a:latin typeface="微软雅黑" panose="020B0503020204020204" pitchFamily="34" charset="-122"/>
                <a:ea typeface="微软雅黑" panose="020B0503020204020204" pitchFamily="34" charset="-122"/>
                <a:sym typeface="Arial" panose="020B0704020202020204"/>
              </a:rPr>
              <a:t>”</a:t>
            </a:r>
            <a:r>
              <a:rPr b="1" dirty="0">
                <a:latin typeface="微软雅黑" panose="020B0503020204020204" pitchFamily="34" charset="-122"/>
                <a:ea typeface="微软雅黑" panose="020B0503020204020204" pitchFamily="34" charset="-122"/>
              </a:rPr>
              <a:t>，它</a:t>
            </a:r>
            <a:r>
              <a:rPr b="1" dirty="0">
                <a:latin typeface="微软雅黑" panose="020B0503020204020204" pitchFamily="34" charset="-122"/>
                <a:ea typeface="微软雅黑" panose="020B0503020204020204" pitchFamily="34" charset="-122"/>
                <a:sym typeface="Arial" panose="020B0704020202020204"/>
              </a:rPr>
              <a:t>“</a:t>
            </a:r>
            <a:r>
              <a:rPr b="1" dirty="0">
                <a:latin typeface="微软雅黑" panose="020B0503020204020204" pitchFamily="34" charset="-122"/>
                <a:ea typeface="微软雅黑" panose="020B0503020204020204" pitchFamily="34" charset="-122"/>
              </a:rPr>
              <a:t>同法律的内容有关</a:t>
            </a:r>
            <a:r>
              <a:rPr b="1" dirty="0">
                <a:latin typeface="微软雅黑" panose="020B0503020204020204" pitchFamily="34" charset="-122"/>
                <a:ea typeface="微软雅黑" panose="020B0503020204020204" pitchFamily="34" charset="-122"/>
                <a:sym typeface="Arial" panose="020B0704020202020204"/>
              </a:rPr>
              <a:t>”</a:t>
            </a:r>
            <a:r>
              <a:rPr b="1" dirty="0">
                <a:latin typeface="微软雅黑" panose="020B0503020204020204" pitchFamily="34" charset="-122"/>
                <a:ea typeface="微软雅黑" panose="020B0503020204020204" pitchFamily="34" charset="-122"/>
              </a:rPr>
              <a:t>，主要限制立法部门。</a:t>
            </a:r>
            <a:endParaRPr b="1" dirty="0">
              <a:latin typeface="微软雅黑" panose="020B0503020204020204" pitchFamily="34" charset="-122"/>
              <a:ea typeface="微软雅黑" panose="020B0503020204020204" pitchFamily="34" charset="-122"/>
            </a:endParaRPr>
          </a:p>
          <a:p>
            <a:pPr marL="328930" indent="-328930" defTabSz="877570">
              <a:lnSpc>
                <a:spcPct val="90000"/>
              </a:lnSpc>
              <a:spcBef>
                <a:spcPts val="600"/>
              </a:spcBef>
              <a:defRPr sz="2600">
                <a:latin typeface="宋体"/>
                <a:ea typeface="宋体"/>
                <a:cs typeface="宋体"/>
                <a:sym typeface="宋体"/>
              </a:defRPr>
            </a:pPr>
            <a:r>
              <a:rPr b="1" dirty="0" err="1">
                <a:solidFill>
                  <a:srgbClr val="002060"/>
                </a:solidFill>
                <a:latin typeface="微软雅黑" panose="020B0503020204020204" pitchFamily="34" charset="-122"/>
                <a:ea typeface="微软雅黑" panose="020B0503020204020204" pitchFamily="34" charset="-122"/>
              </a:rPr>
              <a:t>根据实质性正当法律程序，一项本身不合理的法律，即使是严格按照法定程序获得通过，并严格按照法定程序进行实施，这项法律仍是违宪的</a:t>
            </a:r>
            <a:r>
              <a:rPr b="1" dirty="0">
                <a:solidFill>
                  <a:srgbClr val="002060"/>
                </a:solidFill>
                <a:latin typeface="微软雅黑" panose="020B0503020204020204" pitchFamily="34" charset="-122"/>
                <a:ea typeface="微软雅黑" panose="020B0503020204020204" pitchFamily="34" charset="-122"/>
              </a:rPr>
              <a:t>。</a:t>
            </a:r>
            <a:endParaRPr b="1" dirty="0">
              <a:solidFill>
                <a:srgbClr val="002060"/>
              </a:solidFill>
              <a:latin typeface="微软雅黑" panose="020B0503020204020204" pitchFamily="34" charset="-122"/>
              <a:ea typeface="微软雅黑" panose="020B0503020204020204" pitchFamily="34" charset="-122"/>
            </a:endParaRPr>
          </a:p>
          <a:p>
            <a:pPr marL="328930" indent="-328930" defTabSz="877570">
              <a:lnSpc>
                <a:spcPct val="90000"/>
              </a:lnSpc>
              <a:spcBef>
                <a:spcPts val="600"/>
              </a:spcBef>
              <a:defRPr sz="2600">
                <a:latin typeface="宋体"/>
                <a:ea typeface="宋体"/>
                <a:cs typeface="宋体"/>
                <a:sym typeface="宋体"/>
              </a:defRPr>
            </a:pPr>
            <a:r>
              <a:rPr b="1" dirty="0">
                <a:latin typeface="微软雅黑" panose="020B0503020204020204" pitchFamily="34" charset="-122"/>
                <a:ea typeface="微软雅黑" panose="020B0503020204020204" pitchFamily="34" charset="-122"/>
              </a:rPr>
              <a:t>实质性正当法律程序要求任何一项涉及剥夺公民生命、自由或财产的法律不能是不合理的、任意的或反复无常的，而应符合公平、正义、理性等基本理念。</a:t>
            </a:r>
            <a:endParaRPr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Shape 103"/>
          <p:cNvSpPr>
            <a:spLocks noGrp="1"/>
          </p:cNvSpPr>
          <p:nvPr>
            <p:ph type="title"/>
          </p:nvPr>
        </p:nvSpPr>
        <p:spPr>
          <a:xfrm>
            <a:off x="301625" y="609598"/>
            <a:ext cx="8540750" cy="1143003"/>
          </a:xfrm>
          <a:prstGeom prst="rect">
            <a:avLst/>
          </a:prstGeom>
        </p:spPr>
        <p:txBody>
          <a:bodyPr/>
          <a:lstStyle/>
          <a:p/>
        </p:txBody>
      </p:sp>
      <p:sp>
        <p:nvSpPr>
          <p:cNvPr id="104" name="Shape 104"/>
          <p:cNvSpPr>
            <a:spLocks noGrp="1"/>
          </p:cNvSpPr>
          <p:nvPr>
            <p:ph type="body" idx="1"/>
          </p:nvPr>
        </p:nvSpPr>
        <p:spPr>
          <a:prstGeom prst="rect">
            <a:avLst/>
          </a:prstGeom>
        </p:spPr>
        <p:txBody>
          <a:bodyPr/>
          <a:lstStyle/>
          <a:p>
            <a:pPr marL="315595" indent="-315595" defTabSz="841375">
              <a:defRPr sz="2900">
                <a:latin typeface="宋体"/>
                <a:ea typeface="宋体"/>
                <a:cs typeface="宋体"/>
                <a:sym typeface="宋体"/>
              </a:defRPr>
            </a:pPr>
            <a:r>
              <a:rPr b="1" dirty="0" err="1"/>
              <a:t>著名的</a:t>
            </a:r>
            <a:r>
              <a:rPr b="1" dirty="0"/>
              <a:t> </a:t>
            </a:r>
            <a:r>
              <a:rPr b="1" dirty="0">
                <a:latin typeface="Arial" panose="020B0704020202020204"/>
                <a:ea typeface="Arial" panose="020B0704020202020204"/>
                <a:cs typeface="Arial" panose="020B0704020202020204"/>
                <a:sym typeface="Arial" panose="020B0704020202020204"/>
              </a:rPr>
              <a:t>“</a:t>
            </a:r>
            <a:r>
              <a:rPr b="1" dirty="0"/>
              <a:t>洛克纳诉纽约州案</a:t>
            </a:r>
            <a:r>
              <a:rPr b="1" dirty="0">
                <a:latin typeface="Arial" panose="020B0704020202020204"/>
                <a:ea typeface="Arial" panose="020B0704020202020204"/>
                <a:cs typeface="Arial" panose="020B0704020202020204"/>
                <a:sym typeface="Arial" panose="020B0704020202020204"/>
              </a:rPr>
              <a:t>”</a:t>
            </a:r>
            <a:r>
              <a:rPr b="1" dirty="0"/>
              <a:t>（</a:t>
            </a:r>
            <a:r>
              <a:rPr b="1" dirty="0">
                <a:latin typeface="Arial" panose="020B0704020202020204"/>
                <a:ea typeface="Arial" panose="020B0704020202020204"/>
                <a:cs typeface="Arial" panose="020B0704020202020204"/>
                <a:sym typeface="Arial" panose="020B0704020202020204"/>
              </a:rPr>
              <a:t>1905</a:t>
            </a:r>
            <a:r>
              <a:rPr b="1" dirty="0"/>
              <a:t>年）说明了这一点，该案以</a:t>
            </a:r>
            <a:r>
              <a:rPr b="1" dirty="0">
                <a:latin typeface="Arial" panose="020B0704020202020204"/>
                <a:ea typeface="Arial" panose="020B0704020202020204"/>
                <a:cs typeface="Arial" panose="020B0704020202020204"/>
                <a:sym typeface="Arial" panose="020B0704020202020204"/>
              </a:rPr>
              <a:t>5</a:t>
            </a:r>
            <a:r>
              <a:rPr b="1" dirty="0"/>
              <a:t>比</a:t>
            </a:r>
            <a:r>
              <a:rPr b="1" dirty="0">
                <a:latin typeface="Arial" panose="020B0704020202020204"/>
                <a:ea typeface="Arial" panose="020B0704020202020204"/>
                <a:cs typeface="Arial" panose="020B0704020202020204"/>
                <a:sym typeface="Arial" panose="020B0704020202020204"/>
              </a:rPr>
              <a:t>4</a:t>
            </a:r>
            <a:r>
              <a:rPr b="1" dirty="0"/>
              <a:t>票废除了禁止雇主雇用面包房工人每天劳作超过</a:t>
            </a:r>
            <a:r>
              <a:rPr b="1" dirty="0">
                <a:latin typeface="Arial" panose="020B0704020202020204"/>
                <a:ea typeface="Arial" panose="020B0704020202020204"/>
                <a:cs typeface="Arial" panose="020B0704020202020204"/>
                <a:sym typeface="Arial" panose="020B0704020202020204"/>
              </a:rPr>
              <a:t>10</a:t>
            </a:r>
            <a:r>
              <a:rPr b="1" dirty="0"/>
              <a:t>小时和每周超过</a:t>
            </a:r>
            <a:r>
              <a:rPr b="1" dirty="0">
                <a:latin typeface="Arial" panose="020B0704020202020204"/>
                <a:ea typeface="Arial" panose="020B0704020202020204"/>
                <a:cs typeface="Arial" panose="020B0704020202020204"/>
                <a:sym typeface="Arial" panose="020B0704020202020204"/>
              </a:rPr>
              <a:t>60</a:t>
            </a:r>
            <a:r>
              <a:rPr b="1" dirty="0"/>
              <a:t>小时的纽约州法。 </a:t>
            </a:r>
            <a:br>
              <a:rPr b="1" dirty="0"/>
            </a:br>
            <a:r>
              <a:rPr b="1" dirty="0" err="1"/>
              <a:t>佩卡姆大法官代表最高法院裁定，该州法严重地干预了正当程序条款所维护的</a:t>
            </a:r>
            <a:r>
              <a:rPr b="1" dirty="0"/>
              <a:t> </a:t>
            </a:r>
            <a:r>
              <a:rPr b="1" dirty="0" err="1"/>
              <a:t>契约自由。因为</a:t>
            </a:r>
            <a:r>
              <a:rPr b="1" dirty="0" err="1">
                <a:latin typeface="Arial" panose="020B0704020202020204"/>
                <a:ea typeface="Arial" panose="020B0704020202020204"/>
                <a:cs typeface="Arial" panose="020B0704020202020204"/>
                <a:sym typeface="Arial" panose="020B0704020202020204"/>
              </a:rPr>
              <a:t>“</a:t>
            </a:r>
            <a:r>
              <a:rPr b="1" dirty="0" err="1"/>
              <a:t>购买或出售劳动力是该修正案所维护的自由之一</a:t>
            </a:r>
            <a:r>
              <a:rPr b="1" dirty="0">
                <a:latin typeface="Arial" panose="020B0704020202020204"/>
                <a:ea typeface="Arial" panose="020B0704020202020204"/>
                <a:cs typeface="Arial" panose="020B0704020202020204"/>
                <a:sym typeface="Arial" panose="020B0704020202020204"/>
              </a:rPr>
              <a:t>”</a:t>
            </a:r>
            <a:r>
              <a:rPr b="1" dirty="0"/>
              <a:t>。 </a:t>
            </a:r>
            <a:endParaRPr b="1" dirty="0"/>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Shape 106"/>
          <p:cNvSpPr>
            <a:spLocks noGrp="1"/>
          </p:cNvSpPr>
          <p:nvPr>
            <p:ph type="title"/>
          </p:nvPr>
        </p:nvSpPr>
        <p:spPr>
          <a:xfrm>
            <a:off x="301625" y="609598"/>
            <a:ext cx="8540750" cy="592349"/>
          </a:xfrm>
          <a:prstGeom prst="rect">
            <a:avLst/>
          </a:prstGeom>
        </p:spPr>
        <p:txBody>
          <a:bodyPr>
            <a:normAutofit fontScale="90000"/>
          </a:bodyPr>
          <a:lstStyle/>
          <a:p>
            <a:endParaRPr dirty="0"/>
          </a:p>
        </p:txBody>
      </p:sp>
      <p:sp>
        <p:nvSpPr>
          <p:cNvPr id="107" name="Shape 107"/>
          <p:cNvSpPr>
            <a:spLocks noGrp="1"/>
          </p:cNvSpPr>
          <p:nvPr>
            <p:ph type="body" idx="1"/>
          </p:nvPr>
        </p:nvSpPr>
        <p:spPr>
          <a:xfrm>
            <a:off x="301625" y="1385978"/>
            <a:ext cx="8540750" cy="4713198"/>
          </a:xfrm>
          <a:prstGeom prst="rect">
            <a:avLst/>
          </a:prstGeom>
        </p:spPr>
        <p:txBody>
          <a:bodyPr>
            <a:normAutofit/>
          </a:bodyPr>
          <a:lstStyle/>
          <a:p>
            <a:pPr marL="332740" indent="-332740" defTabSz="887095">
              <a:lnSpc>
                <a:spcPct val="90000"/>
              </a:lnSpc>
              <a:spcBef>
                <a:spcPts val="500"/>
              </a:spcBef>
              <a:defRPr sz="2300"/>
            </a:pPr>
            <a:r>
              <a:rPr sz="2400" b="1" dirty="0">
                <a:latin typeface="微软雅黑" panose="020B0503020204020204" pitchFamily="34" charset="-122"/>
                <a:ea typeface="微软雅黑" panose="020B0503020204020204" pitchFamily="34" charset="-122"/>
              </a:rPr>
              <a:t>“</a:t>
            </a:r>
            <a:r>
              <a:rPr sz="2400" b="1" dirty="0" err="1">
                <a:latin typeface="微软雅黑" panose="020B0503020204020204" pitchFamily="34" charset="-122"/>
                <a:ea typeface="微软雅黑" panose="020B0503020204020204" pitchFamily="34" charset="-122"/>
                <a:cs typeface="宋体"/>
                <a:sym typeface="宋体"/>
              </a:rPr>
              <a:t>劳伦斯诉得克萨斯</a:t>
            </a:r>
            <a:r>
              <a:rPr sz="2400" b="1" dirty="0" err="1">
                <a:latin typeface="微软雅黑" panose="020B0503020204020204" pitchFamily="34" charset="-122"/>
                <a:ea typeface="微软雅黑" panose="020B0503020204020204" pitchFamily="34" charset="-122"/>
              </a:rPr>
              <a:t>”</a:t>
            </a:r>
            <a:r>
              <a:rPr sz="2400" b="1" dirty="0" err="1">
                <a:latin typeface="微软雅黑" panose="020B0503020204020204" pitchFamily="34" charset="-122"/>
                <a:ea typeface="微软雅黑" panose="020B0503020204020204" pitchFamily="34" charset="-122"/>
                <a:cs typeface="宋体"/>
                <a:sym typeface="宋体"/>
              </a:rPr>
              <a:t>案</a:t>
            </a:r>
            <a:endParaRPr sz="2400" b="1" dirty="0">
              <a:latin typeface="微软雅黑" panose="020B0503020204020204" pitchFamily="34" charset="-122"/>
              <a:ea typeface="微软雅黑" panose="020B0503020204020204" pitchFamily="34" charset="-122"/>
              <a:cs typeface="宋体"/>
              <a:sym typeface="宋体"/>
            </a:endParaRPr>
          </a:p>
          <a:p>
            <a:pPr marL="332740" indent="-332740" defTabSz="887095">
              <a:lnSpc>
                <a:spcPct val="90000"/>
              </a:lnSpc>
              <a:spcBef>
                <a:spcPts val="500"/>
              </a:spcBef>
              <a:defRPr sz="2300"/>
            </a:pPr>
            <a:r>
              <a:rPr sz="2400" b="1" dirty="0">
                <a:latin typeface="微软雅黑" panose="020B0503020204020204" pitchFamily="34" charset="-122"/>
                <a:ea typeface="微软雅黑" panose="020B0503020204020204" pitchFamily="34" charset="-122"/>
              </a:rPr>
              <a:t>1998</a:t>
            </a:r>
            <a:r>
              <a:rPr sz="2400" b="1" dirty="0">
                <a:latin typeface="微软雅黑" panose="020B0503020204020204" pitchFamily="34" charset="-122"/>
                <a:ea typeface="微软雅黑" panose="020B0503020204020204" pitchFamily="34" charset="-122"/>
                <a:cs typeface="宋体"/>
                <a:sym typeface="宋体"/>
              </a:rPr>
              <a:t>年</a:t>
            </a:r>
            <a:r>
              <a:rPr sz="2400" b="1" dirty="0">
                <a:latin typeface="微软雅黑" panose="020B0503020204020204" pitchFamily="34" charset="-122"/>
                <a:ea typeface="微软雅黑" panose="020B0503020204020204" pitchFamily="34" charset="-122"/>
              </a:rPr>
              <a:t>9</a:t>
            </a:r>
            <a:r>
              <a:rPr sz="2400" b="1" dirty="0">
                <a:latin typeface="微软雅黑" panose="020B0503020204020204" pitchFamily="34" charset="-122"/>
                <a:ea typeface="微软雅黑" panose="020B0503020204020204" pitchFamily="34" charset="-122"/>
                <a:cs typeface="宋体"/>
                <a:sym typeface="宋体"/>
              </a:rPr>
              <a:t>月</a:t>
            </a:r>
            <a:r>
              <a:rPr sz="2400" b="1" dirty="0">
                <a:latin typeface="微软雅黑" panose="020B0503020204020204" pitchFamily="34" charset="-122"/>
                <a:ea typeface="微软雅黑" panose="020B0503020204020204" pitchFamily="34" charset="-122"/>
              </a:rPr>
              <a:t>17</a:t>
            </a:r>
            <a:r>
              <a:rPr sz="2400" b="1" dirty="0">
                <a:latin typeface="微软雅黑" panose="020B0503020204020204" pitchFamily="34" charset="-122"/>
                <a:ea typeface="微软雅黑" panose="020B0503020204020204" pitchFamily="34" charset="-122"/>
                <a:cs typeface="宋体"/>
                <a:sym typeface="宋体"/>
              </a:rPr>
              <a:t>日深夜，美国得克萨斯州休斯顿警察局接到报警电话，称在一处私人住宅内发生枪械争斗，于是警察进入美国公民劳伦斯（</a:t>
            </a:r>
            <a:r>
              <a:rPr sz="2400" b="1" dirty="0">
                <a:latin typeface="微软雅黑" panose="020B0503020204020204" pitchFamily="34" charset="-122"/>
                <a:ea typeface="微软雅黑" panose="020B0503020204020204" pitchFamily="34" charset="-122"/>
              </a:rPr>
              <a:t>lawrence</a:t>
            </a:r>
            <a:r>
              <a:rPr sz="2400" b="1" dirty="0">
                <a:latin typeface="微软雅黑" panose="020B0503020204020204" pitchFamily="34" charset="-122"/>
                <a:ea typeface="微软雅黑" panose="020B0503020204020204" pitchFamily="34" charset="-122"/>
                <a:cs typeface="宋体"/>
                <a:sym typeface="宋体"/>
              </a:rPr>
              <a:t>）的住宅，看见他正在和另一成年男子加纳发生性关系，两人被捕。</a:t>
            </a:r>
            <a:endParaRPr sz="2400" b="1" dirty="0">
              <a:latin typeface="微软雅黑" panose="020B0503020204020204" pitchFamily="34" charset="-122"/>
              <a:ea typeface="微软雅黑" panose="020B0503020204020204" pitchFamily="34" charset="-122"/>
              <a:cs typeface="宋体"/>
              <a:sym typeface="宋体"/>
            </a:endParaRPr>
          </a:p>
          <a:p>
            <a:pPr marL="332740" indent="-332740" defTabSz="887095">
              <a:lnSpc>
                <a:spcPct val="90000"/>
              </a:lnSpc>
              <a:spcBef>
                <a:spcPts val="500"/>
              </a:spcBef>
              <a:defRPr sz="2300"/>
            </a:pPr>
            <a:r>
              <a:rPr sz="2400" b="1" dirty="0">
                <a:latin typeface="微软雅黑" panose="020B0503020204020204" pitchFamily="34" charset="-122"/>
                <a:ea typeface="微软雅黑" panose="020B0503020204020204" pitchFamily="34" charset="-122"/>
              </a:rPr>
              <a:t>2003</a:t>
            </a:r>
            <a:r>
              <a:rPr sz="2400" b="1" dirty="0">
                <a:latin typeface="微软雅黑" panose="020B0503020204020204" pitchFamily="34" charset="-122"/>
                <a:ea typeface="微软雅黑" panose="020B0503020204020204" pitchFamily="34" charset="-122"/>
                <a:cs typeface="宋体"/>
                <a:sym typeface="宋体"/>
              </a:rPr>
              <a:t>年</a:t>
            </a:r>
            <a:r>
              <a:rPr sz="2400" b="1" dirty="0">
                <a:latin typeface="微软雅黑" panose="020B0503020204020204" pitchFamily="34" charset="-122"/>
                <a:ea typeface="微软雅黑" panose="020B0503020204020204" pitchFamily="34" charset="-122"/>
              </a:rPr>
              <a:t>6</a:t>
            </a:r>
            <a:r>
              <a:rPr sz="2400" b="1" dirty="0">
                <a:latin typeface="微软雅黑" panose="020B0503020204020204" pitchFamily="34" charset="-122"/>
                <a:ea typeface="微软雅黑" panose="020B0503020204020204" pitchFamily="34" charset="-122"/>
                <a:cs typeface="宋体"/>
                <a:sym typeface="宋体"/>
              </a:rPr>
              <a:t>月</a:t>
            </a:r>
            <a:r>
              <a:rPr sz="2400" b="1" dirty="0">
                <a:latin typeface="微软雅黑" panose="020B0503020204020204" pitchFamily="34" charset="-122"/>
                <a:ea typeface="微软雅黑" panose="020B0503020204020204" pitchFamily="34" charset="-122"/>
              </a:rPr>
              <a:t>26</a:t>
            </a:r>
            <a:r>
              <a:rPr sz="2400" b="1" dirty="0">
                <a:latin typeface="微软雅黑" panose="020B0503020204020204" pitchFamily="34" charset="-122"/>
                <a:ea typeface="微软雅黑" panose="020B0503020204020204" pitchFamily="34" charset="-122"/>
                <a:cs typeface="宋体"/>
                <a:sym typeface="宋体"/>
              </a:rPr>
              <a:t>日，美国联邦最高法院九名法官中，六名法官赞成，三名法官反对，对</a:t>
            </a:r>
            <a:r>
              <a:rPr sz="2400" b="1" dirty="0">
                <a:latin typeface="微软雅黑" panose="020B0503020204020204" pitchFamily="34" charset="-122"/>
                <a:ea typeface="微软雅黑" panose="020B0503020204020204" pitchFamily="34" charset="-122"/>
              </a:rPr>
              <a:t>“</a:t>
            </a:r>
            <a:r>
              <a:rPr sz="2400" b="1" dirty="0">
                <a:latin typeface="微软雅黑" panose="020B0503020204020204" pitchFamily="34" charset="-122"/>
                <a:ea typeface="微软雅黑" panose="020B0503020204020204" pitchFamily="34" charset="-122"/>
                <a:cs typeface="宋体"/>
                <a:sym typeface="宋体"/>
              </a:rPr>
              <a:t>劳伦斯诉得克萨斯</a:t>
            </a:r>
            <a:r>
              <a:rPr sz="2400" b="1" dirty="0">
                <a:latin typeface="微软雅黑" panose="020B0503020204020204" pitchFamily="34" charset="-122"/>
                <a:ea typeface="微软雅黑" panose="020B0503020204020204" pitchFamily="34" charset="-122"/>
              </a:rPr>
              <a:t>”</a:t>
            </a:r>
            <a:r>
              <a:rPr sz="2400" b="1" dirty="0">
                <a:latin typeface="微软雅黑" panose="020B0503020204020204" pitchFamily="34" charset="-122"/>
                <a:ea typeface="微软雅黑" panose="020B0503020204020204" pitchFamily="34" charset="-122"/>
                <a:cs typeface="宋体"/>
                <a:sym typeface="宋体"/>
              </a:rPr>
              <a:t>案做出判决，宣布得克萨斯州刑法典中</a:t>
            </a:r>
            <a:r>
              <a:rPr sz="2400" b="1" dirty="0">
                <a:latin typeface="微软雅黑" panose="020B0503020204020204" pitchFamily="34" charset="-122"/>
                <a:ea typeface="微软雅黑" panose="020B0503020204020204" pitchFamily="34" charset="-122"/>
              </a:rPr>
              <a:t>“</a:t>
            </a:r>
            <a:r>
              <a:rPr sz="2400" b="1" dirty="0">
                <a:latin typeface="微软雅黑" panose="020B0503020204020204" pitchFamily="34" charset="-122"/>
                <a:ea typeface="微软雅黑" panose="020B0503020204020204" pitchFamily="34" charset="-122"/>
                <a:cs typeface="宋体"/>
                <a:sym typeface="宋体"/>
              </a:rPr>
              <a:t>将同性恋的鸡奸行为定为刑事犯罪的条款违反了美国宪法中的实质性正当法律程序条款，违宪无效</a:t>
            </a:r>
            <a:r>
              <a:rPr sz="2400" b="1" dirty="0">
                <a:latin typeface="微软雅黑" panose="020B0503020204020204" pitchFamily="34" charset="-122"/>
                <a:ea typeface="微软雅黑" panose="020B0503020204020204" pitchFamily="34" charset="-122"/>
              </a:rPr>
              <a:t>”</a:t>
            </a:r>
            <a:r>
              <a:rPr sz="2400" b="1" dirty="0">
                <a:latin typeface="微软雅黑" panose="020B0503020204020204" pitchFamily="34" charset="-122"/>
                <a:ea typeface="微软雅黑" panose="020B0503020204020204" pitchFamily="34" charset="-122"/>
                <a:cs typeface="宋体"/>
                <a:sym typeface="宋体"/>
              </a:rPr>
              <a:t>。 </a:t>
            </a:r>
            <a:br>
              <a:rPr sz="2400" b="1" dirty="0">
                <a:latin typeface="微软雅黑" panose="020B0503020204020204" pitchFamily="34" charset="-122"/>
                <a:ea typeface="微软雅黑" panose="020B0503020204020204" pitchFamily="34" charset="-122"/>
                <a:cs typeface="宋体"/>
                <a:sym typeface="宋体"/>
              </a:rPr>
            </a:br>
            <a:endParaRPr sz="2400" b="1" dirty="0">
              <a:latin typeface="微软雅黑" panose="020B0503020204020204" pitchFamily="34" charset="-122"/>
              <a:ea typeface="微软雅黑" panose="020B0503020204020204" pitchFamily="34" charset="-122"/>
              <a:cs typeface="宋体"/>
              <a:sym typeface="宋体"/>
            </a:endParaRPr>
          </a:p>
        </p:txBody>
      </p:sp>
    </p:spTree>
  </p:cSld>
  <p:clrMapOvr>
    <a:masterClrMapping/>
  </p:clrMapOvr>
  <p:transition spd="slow"/>
</p:sld>
</file>

<file path=ppt/theme/theme1.xml><?xml version="1.0" encoding="utf-8"?>
<a:theme xmlns:a="http://schemas.openxmlformats.org/drawingml/2006/main" name="诗情画意">
  <a:themeElements>
    <a:clrScheme name="诗情画意">
      <a:dk1>
        <a:srgbClr val="007A77"/>
      </a:dk1>
      <a:lt1>
        <a:srgbClr val="7A7A7A"/>
      </a:lt1>
      <a:dk2>
        <a:srgbClr val="A7A7A7"/>
      </a:dk2>
      <a:lt2>
        <a:srgbClr val="535353"/>
      </a:lt2>
      <a:accent1>
        <a:srgbClr val="EBF7FF"/>
      </a:accent1>
      <a:accent2>
        <a:srgbClr val="3366FF"/>
      </a:accent2>
      <a:accent3>
        <a:srgbClr val="9BBB59"/>
      </a:accent3>
      <a:accent4>
        <a:srgbClr val="8064A2"/>
      </a:accent4>
      <a:accent5>
        <a:srgbClr val="4BACC6"/>
      </a:accent5>
      <a:accent6>
        <a:srgbClr val="F79646"/>
      </a:accent6>
      <a:hlink>
        <a:srgbClr val="0000FF"/>
      </a:hlink>
      <a:folHlink>
        <a:srgbClr val="FF00FF"/>
      </a:folHlink>
    </a:clrScheme>
    <a:fontScheme name="诗情画意">
      <a:majorFont>
        <a:latin typeface="Helvetica Neue"/>
        <a:ea typeface="Helvetica Neue"/>
        <a:cs typeface="Helvetica Neue"/>
      </a:majorFont>
      <a:minorFont>
        <a:latin typeface="Helvetica"/>
        <a:ea typeface="Helvetica"/>
        <a:cs typeface="Helvetica"/>
      </a:minorFont>
    </a:fontScheme>
    <a:fmtScheme name="诗情画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7A7A7A"/>
        </a:solidFill>
        <a:ln w="25400" cap="flat">
          <a:solidFill>
            <a:schemeClr val="accent1"/>
          </a:solidFill>
          <a:prstDash val="solid"/>
          <a:round/>
        </a:ln>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7A77"/>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7A77"/>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诗情画意">
  <a:themeElements>
    <a:clrScheme name="诗情画意">
      <a:dk1>
        <a:srgbClr val="000000"/>
      </a:dk1>
      <a:lt1>
        <a:srgbClr val="FFFFFF"/>
      </a:lt1>
      <a:dk2>
        <a:srgbClr val="A7A7A7"/>
      </a:dk2>
      <a:lt2>
        <a:srgbClr val="535353"/>
      </a:lt2>
      <a:accent1>
        <a:srgbClr val="EBF7FF"/>
      </a:accent1>
      <a:accent2>
        <a:srgbClr val="3366FF"/>
      </a:accent2>
      <a:accent3>
        <a:srgbClr val="9BBB59"/>
      </a:accent3>
      <a:accent4>
        <a:srgbClr val="8064A2"/>
      </a:accent4>
      <a:accent5>
        <a:srgbClr val="4BACC6"/>
      </a:accent5>
      <a:accent6>
        <a:srgbClr val="F79646"/>
      </a:accent6>
      <a:hlink>
        <a:srgbClr val="0000FF"/>
      </a:hlink>
      <a:folHlink>
        <a:srgbClr val="FF00FF"/>
      </a:folHlink>
    </a:clrScheme>
    <a:fontScheme name="诗情画意">
      <a:majorFont>
        <a:latin typeface="Helvetica Neue"/>
        <a:ea typeface="Helvetica Neue"/>
        <a:cs typeface="Helvetica Neue"/>
      </a:majorFont>
      <a:minorFont>
        <a:latin typeface="Helvetica"/>
        <a:ea typeface="Helvetica"/>
        <a:cs typeface="Helvetica"/>
      </a:minorFont>
    </a:fontScheme>
    <a:fmtScheme name="诗情画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7A7A7A"/>
        </a:solidFill>
        <a:ln w="25400" cap="flat">
          <a:solidFill>
            <a:schemeClr val="accent1"/>
          </a:solidFill>
          <a:prstDash val="solid"/>
          <a:round/>
        </a:ln>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7A77"/>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7A77"/>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13684</Words>
  <Application>WPS Presentation</Application>
  <PresentationFormat>全屏显示(4:3)</PresentationFormat>
  <Paragraphs>353</Paragraphs>
  <Slides>48</Slides>
  <Notes>1</Notes>
  <HiddenSlides>0</HiddenSlides>
  <MMClips>0</MMClips>
  <ScaleCrop>false</ScaleCrop>
  <HeadingPairs>
    <vt:vector size="6" baseType="variant">
      <vt:variant>
        <vt:lpstr>已用的字体</vt:lpstr>
      </vt:variant>
      <vt:variant>
        <vt:i4>30</vt:i4>
      </vt:variant>
      <vt:variant>
        <vt:lpstr>主题</vt:lpstr>
      </vt:variant>
      <vt:variant>
        <vt:i4>1</vt:i4>
      </vt:variant>
      <vt:variant>
        <vt:lpstr>幻灯片标题</vt:lpstr>
      </vt:variant>
      <vt:variant>
        <vt:i4>48</vt:i4>
      </vt:variant>
    </vt:vector>
  </HeadingPairs>
  <TitlesOfParts>
    <vt:vector size="79" baseType="lpstr">
      <vt:lpstr>Arial</vt:lpstr>
      <vt:lpstr>宋体</vt:lpstr>
      <vt:lpstr>Wingdings</vt:lpstr>
      <vt:lpstr>Helvetica</vt:lpstr>
      <vt:lpstr>Arial</vt:lpstr>
      <vt:lpstr>Wingdings</vt:lpstr>
      <vt:lpstr>Helvetica Neue</vt:lpstr>
      <vt:lpstr>微软雅黑</vt:lpstr>
      <vt:lpstr>汉仪旗黑</vt:lpstr>
      <vt:lpstr>宋体</vt:lpstr>
      <vt:lpstr>汉仪书宋二KW</vt:lpstr>
      <vt:lpstr>宋体</vt:lpstr>
      <vt:lpstr>Arial Unicode MS</vt:lpstr>
      <vt:lpstr>QuoteFallback</vt:lpstr>
      <vt:lpstr>黑体</vt:lpstr>
      <vt:lpstr>汉仪中黑KW</vt:lpstr>
      <vt:lpstr>Verdana</vt:lpstr>
      <vt:lpstr>Times New Roman</vt:lpstr>
      <vt:lpstr>Helvetica</vt:lpstr>
      <vt:lpstr>楷体</vt:lpstr>
      <vt:lpstr>汉仪楷体KW</vt:lpstr>
      <vt:lpstr>Calibri</vt:lpstr>
      <vt:lpstr>Helvetica Neue</vt:lpstr>
      <vt:lpstr>Thonburi</vt:lpstr>
      <vt:lpstr>QuoteFallback</vt:lpstr>
      <vt:lpstr>Verdana</vt:lpstr>
      <vt:lpstr>微软雅黑</vt:lpstr>
      <vt:lpstr>楷体</vt:lpstr>
      <vt:lpstr>黑体</vt:lpstr>
      <vt:lpstr>苹方-简</vt:lpstr>
      <vt:lpstr>诗情画意</vt:lpstr>
      <vt:lpstr> 一、法律程序的概念 </vt:lpstr>
      <vt:lpstr>PowerPoint 演示文稿</vt:lpstr>
      <vt:lpstr>PowerPoint 演示文稿</vt:lpstr>
      <vt:lpstr>PowerPoint 演示文稿</vt:lpstr>
      <vt:lpstr>PowerPoint 演示文稿</vt:lpstr>
      <vt:lpstr>程序正义之源起</vt:lpstr>
      <vt:lpstr>PowerPoint 演示文稿</vt:lpstr>
      <vt:lpstr>英国：国王诉剑桥大学案</vt:lpstr>
      <vt:lpstr>PowerPoint 演示文稿</vt:lpstr>
      <vt:lpstr>PowerPoint 演示文稿</vt:lpstr>
      <vt:lpstr>纯粹的程序正义：程序独立价值</vt:lpstr>
      <vt:lpstr>不完美的程序正义</vt:lpstr>
      <vt:lpstr>纯粹程序正义</vt:lpstr>
      <vt:lpstr>PowerPoint 演示文稿</vt:lpstr>
      <vt:lpstr>PowerPoint 演示文稿</vt:lpstr>
      <vt:lpstr>古代法程序：实体与程序不分或重实体轻程序</vt:lpstr>
      <vt:lpstr>二、法律程序的功能</vt:lpstr>
      <vt:lpstr>三、正当程序</vt:lpstr>
      <vt:lpstr>PowerPoint 演示文稿</vt:lpstr>
      <vt:lpstr>程序正当具备的条件</vt:lpstr>
      <vt:lpstr>形式正当程序</vt:lpstr>
      <vt:lpstr>米兰达程序规则的设立</vt:lpstr>
      <vt:lpstr>PowerPoint 演示文稿</vt:lpstr>
      <vt:lpstr>Miranda Warnings(米兰达警告)</vt:lpstr>
      <vt:lpstr>PowerPoint 演示文稿</vt:lpstr>
      <vt:lpstr>证据裁判原则与非法证据的排除原则</vt:lpstr>
      <vt:lpstr>疑罪从无原则</vt:lpstr>
      <vt:lpstr>杨乃武与小白菜案</vt:lpstr>
      <vt:lpstr>PowerPoint 演示文稿</vt:lpstr>
      <vt:lpstr>PowerPoint 演示文稿</vt:lpstr>
      <vt:lpstr>2013年平反五大案</vt:lpstr>
      <vt:lpstr>2014年七个冤案平反</vt:lpstr>
      <vt:lpstr>江平为呼格写的墓志铭</vt:lpstr>
      <vt:lpstr>2015年五个冤案予以平反</vt:lpstr>
      <vt:lpstr>2016年八个冤案</vt:lpstr>
      <vt:lpstr>2017年</vt:lpstr>
      <vt:lpstr>PowerPoint 演示文稿</vt:lpstr>
      <vt:lpstr>PowerPoint 演示文稿</vt:lpstr>
      <vt:lpstr>2018年</vt:lpstr>
      <vt:lpstr>河北唐山廖海军故意杀人案</vt:lpstr>
      <vt:lpstr>PowerPoint 演示文稿</vt:lpstr>
      <vt:lpstr>2023</vt:lpstr>
      <vt:lpstr>2023年3月7日下午，十四届全国人大一次会议在人民大会堂举行第二次全体会议，最高人民法院院长周强向大会作最高人民法院工作报告</vt:lpstr>
      <vt:lpstr>刑事申诉案</vt:lpstr>
      <vt:lpstr>实质正当程序</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第七章 法律程序</dc:title>
  <dc:creator>fanjx</dc:creator>
  <cp:lastModifiedBy>吴瀚</cp:lastModifiedBy>
  <cp:revision>44</cp:revision>
  <dcterms:created xsi:type="dcterms:W3CDTF">2025-04-30T01:00:29Z</dcterms:created>
  <dcterms:modified xsi:type="dcterms:W3CDTF">2025-04-30T01:00:29Z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32594983A44380932D7611682EAC2F63_42</vt:lpwstr>
  </property>
  <property fmtid="{D5CDD505-2E9C-101B-9397-08002B2CF9AE}" pid="3" name="KSOProductBuildVer">
    <vt:lpwstr>1033-7.2.2.8955</vt:lpwstr>
  </property>
</Properties>
</file>